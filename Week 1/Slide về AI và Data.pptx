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notesMasterIdLst>
    <p:notesMasterId r:id="rId17"/>
  </p:notesMasterIdLst>
  <p:sldIdLst>
    <p:sldId id="256" r:id="rId2"/>
    <p:sldId id="257" r:id="rId3"/>
    <p:sldId id="258" r:id="rId4"/>
    <p:sldId id="260" r:id="rId5"/>
    <p:sldId id="259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9" r:id="rId14"/>
    <p:sldId id="270" r:id="rId15"/>
    <p:sldId id="271" r:id="rId16"/>
  </p:sldIdLst>
  <p:sldSz cx="12192000" cy="6858000"/>
  <p:notesSz cx="6858000" cy="9144000"/>
  <p:defaultTextStyle>
    <a:defPPr>
      <a:defRPr lang="vi-V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984FDC6-C830-F493-2967-5D76FAA0DBCA}" v="69" dt="2025-11-28T02:42:40.804"/>
    <p1510:client id="{B476901D-FB66-6B5E-820D-100FCE4AA0B5}" v="16" dt="2025-11-27T07:07:59.620"/>
    <p1510:client id="{D148332A-1510-C136-9360-81D5D8DEB720}" v="483" dt="2025-11-28T02:36:25.749"/>
    <p1510:client id="{D65D76B3-4CA5-2ECD-D100-F9F9B8FEA691}" v="1450" dt="2025-11-27T14:56:45.49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2" d="100"/>
          <a:sy n="82" d="100"/>
        </p:scale>
        <p:origin x="691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B471FBC-7B32-4C0A-BC3A-6B3E675D643A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45F3DEC-6DCF-41E4-A78E-325B86BE7C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52280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5F3DEC-6DCF-41E4-A78E-325B86BE7CBF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22217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49D6F5-A9D4-C22B-732C-A31A172FB93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209393"/>
          </a:xfrm>
        </p:spPr>
        <p:txBody>
          <a:bodyPr anchor="b">
            <a:normAutofit/>
          </a:bodyPr>
          <a:lstStyle>
            <a:lvl1pPr algn="ctr"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11AFD6E-3459-290F-1147-F0C47ACEEA5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346774"/>
            <a:ext cx="9144000" cy="106689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 cap="all" spc="300" baseline="0"/>
            </a:lvl1pPr>
            <a:lvl2pPr marL="457200" indent="0" algn="ctr">
              <a:buNone/>
              <a:defRPr sz="1600"/>
            </a:lvl2pPr>
            <a:lvl3pPr marL="914400" indent="0" algn="ctr">
              <a:buNone/>
              <a:defRPr sz="16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4674D3-6FB9-5549-B0F2-FD61E82D1F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7E39B8-A7CB-4B82-AC0C-44B99F546761}" type="datetimeFigureOut">
              <a:rPr lang="en-US" dirty="0"/>
              <a:t>11/28/2025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239BBC-C979-2C77-493E-CF5498AEB5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813B7E-A51C-D9CD-2189-650A9D63BF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DE196-8A13-4FF7-A07E-102851959EAB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065652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E155F0-A6D4-C39B-394F-0B16E9C9CE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D1860F-B260-57CE-E12B-2C94860319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745C9F-D94D-E5D3-B73A-20621FA536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7E3940-CA92-4FEE-A698-62CF7BC5AC36}" type="datetimeFigureOut">
              <a:rPr lang="en-US" dirty="0"/>
              <a:t>11/28/2025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FAB243-BB42-966A-4708-15C9B11D68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C3A3BD-2CC5-03D3-4CD6-E31A55BA2D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DE196-8A13-4FF7-A07E-102851959EAB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5960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2D8633-AC3B-E617-1C54-84932DDD72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74236" y="1514688"/>
            <a:ext cx="8584164" cy="3138875"/>
          </a:xfrm>
        </p:spPr>
        <p:txBody>
          <a:bodyPr anchor="b">
            <a:normAutofit/>
          </a:bodyPr>
          <a:lstStyle>
            <a:lvl1pPr>
              <a:defRPr sz="3600" cap="all" spc="300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68C242-ECAB-AEC3-7E9B-F9854AF31C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74236" y="4963885"/>
            <a:ext cx="8584165" cy="1125765"/>
          </a:xfrm>
        </p:spPr>
        <p:txBody>
          <a:bodyPr>
            <a:normAutofit/>
          </a:bodyPr>
          <a:lstStyle>
            <a:lvl1pPr marL="0" indent="0">
              <a:buNone/>
              <a:defRPr sz="1600" cap="all" spc="300" baseline="0">
                <a:solidFill>
                  <a:schemeClr val="tx2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0D9B82-EEF4-2CD7-61FE-BAFB2B96D6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3CD641-6C35-45D1-9313-2719E9EA8AD8}" type="datetimeFigureOut">
              <a:rPr lang="en-US" dirty="0"/>
              <a:t>11/28/2025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A222B6-F7A8-70A5-B023-FCAD5D7C4B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85D758-2E38-8A8D-75BC-667F6A23B9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DE196-8A13-4FF7-A07E-102851959EAB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80379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F60DFF-11BD-F5F4-35D4-1986ABBD36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5D1279-E9A9-702E-144D-61114B788E8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77824" y="2159175"/>
            <a:ext cx="4977453" cy="40177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584E624-7A76-56EC-FA0D-E2AA8EF9B95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28391" y="2159175"/>
            <a:ext cx="4985785" cy="40177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99D7DF5-30AD-AE47-D516-5CEE827707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301268-3A74-4110-8F08-063DFB8BB885}" type="datetimeFigureOut">
              <a:rPr lang="en-US" dirty="0"/>
              <a:t>11/28/2025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05C503-B649-B083-6341-F6E376AF8C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53EA35-CF5A-DB36-8B14-5C184B6F14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DE196-8A13-4FF7-A07E-102851959EAB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42826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ABA3D8-FDD9-329B-BCC6-BBF47F01BE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1348" y="602671"/>
            <a:ext cx="10429303" cy="76892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EEF7DC-0699-CB3C-A7CB-39035D89A4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81349" y="1696325"/>
            <a:ext cx="4963538" cy="647700"/>
          </a:xfrm>
        </p:spPr>
        <p:txBody>
          <a:bodyPr anchor="b">
            <a:noAutofit/>
          </a:bodyPr>
          <a:lstStyle>
            <a:lvl1pPr marL="0" indent="0">
              <a:buNone/>
              <a:defRPr sz="1400" b="1" cap="all" spc="300" baseline="0"/>
            </a:lvl1pPr>
            <a:lvl2pPr marL="457200" indent="0">
              <a:buNone/>
              <a:defRPr sz="1400" b="1"/>
            </a:lvl2pPr>
            <a:lvl3pPr marL="914400" indent="0">
              <a:buNone/>
              <a:defRPr sz="1400" b="1"/>
            </a:lvl3pPr>
            <a:lvl4pPr marL="1371600" indent="0">
              <a:buNone/>
              <a:defRPr sz="1400" b="1"/>
            </a:lvl4pPr>
            <a:lvl5pPr marL="1828800" indent="0">
              <a:buNone/>
              <a:defRPr sz="1400" b="1"/>
            </a:lvl5pPr>
            <a:lvl6pPr marL="2286000" indent="0">
              <a:buNone/>
              <a:defRPr sz="1400" b="1"/>
            </a:lvl6pPr>
            <a:lvl7pPr marL="2743200" indent="0">
              <a:buNone/>
              <a:defRPr sz="1400" b="1"/>
            </a:lvl7pPr>
            <a:lvl8pPr marL="3200400" indent="0">
              <a:buNone/>
              <a:defRPr sz="1400" b="1"/>
            </a:lvl8pPr>
            <a:lvl9pPr marL="3657600" indent="0">
              <a:buNone/>
              <a:defRPr sz="14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252EB40-99E1-CCA4-BAFA-F51AA56CF2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81349" y="2344025"/>
            <a:ext cx="4963538" cy="383337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38979BC-6B50-751D-D569-F360938B05C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22669" y="1696325"/>
            <a:ext cx="4987982" cy="647700"/>
          </a:xfrm>
        </p:spPr>
        <p:txBody>
          <a:bodyPr anchor="b">
            <a:noAutofit/>
          </a:bodyPr>
          <a:lstStyle>
            <a:lvl1pPr marL="0" indent="0">
              <a:buNone/>
              <a:defRPr sz="1400" b="1" cap="all" spc="300" baseline="0"/>
            </a:lvl1pPr>
            <a:lvl2pPr marL="457200" indent="0">
              <a:buNone/>
              <a:defRPr sz="1400" b="1"/>
            </a:lvl2pPr>
            <a:lvl3pPr marL="914400" indent="0">
              <a:buNone/>
              <a:defRPr sz="1400" b="1"/>
            </a:lvl3pPr>
            <a:lvl4pPr marL="1371600" indent="0">
              <a:buNone/>
              <a:defRPr sz="1400" b="1"/>
            </a:lvl4pPr>
            <a:lvl5pPr marL="1828800" indent="0">
              <a:buNone/>
              <a:defRPr sz="1400" b="1"/>
            </a:lvl5pPr>
            <a:lvl6pPr marL="2286000" indent="0">
              <a:buNone/>
              <a:defRPr sz="1400" b="1"/>
            </a:lvl6pPr>
            <a:lvl7pPr marL="2743200" indent="0">
              <a:buNone/>
              <a:defRPr sz="1400" b="1"/>
            </a:lvl7pPr>
            <a:lvl8pPr marL="3200400" indent="0">
              <a:buNone/>
              <a:defRPr sz="1400" b="1"/>
            </a:lvl8pPr>
            <a:lvl9pPr marL="3657600" indent="0">
              <a:buNone/>
              <a:defRPr sz="14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4A3A26F-230E-2D25-6BDC-6ECA00FAEFD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22669" y="2344025"/>
            <a:ext cx="4987982" cy="383337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8182A01-DE7C-3BA4-96FF-CDEF2F608F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91C1AF-C1FB-48A7-98B4-E595E63F6614}" type="datetimeFigureOut">
              <a:rPr lang="en-US" dirty="0"/>
              <a:t>11/28/2025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FCAA828-0166-8ECD-BCE8-654BEFDD71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690C0D2-459A-04AA-FD90-7687D2FE8A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DE196-8A13-4FF7-A07E-102851959EAB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895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0D549F-FA71-857F-E02E-3CB63CE683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F569611-F911-D3D4-B613-ACCDA56C45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144C44-5F8C-4BEA-BBCE-8694F126DC43}" type="datetimeFigureOut">
              <a:rPr lang="en-US" dirty="0"/>
              <a:t>11/28/2025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6EA1961-0B6B-8FEB-F2CB-C42E90EF2D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42AA80E-3139-9F1B-9C3E-2A76628CF4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DE196-8A13-4FF7-A07E-102851959EAB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84209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AF54789-9F96-511A-0FB6-24F6A8418C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9E56F9-C8F2-4EF7-8042-704C94FF2795}" type="datetimeFigureOut">
              <a:rPr lang="en-US" dirty="0"/>
              <a:t>11/28/2025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B780399-ADEF-8F74-9F59-6AD804C939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B6A34F-ABAB-9C4E-38A1-C6EEB944B9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DE196-8A13-4FF7-A07E-102851959EAB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997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FE3917-2BF6-1CE2-F34B-49F0D09A1B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807868"/>
            <a:ext cx="3640713" cy="2062594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815B8F-A9F3-8583-FFF1-175021F17A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32898" y="807867"/>
            <a:ext cx="5922489" cy="5053183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5D90AFF-A949-CE9E-6B94-C1B61961291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3000652"/>
            <a:ext cx="3640713" cy="2868336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A95267E-088F-FB9A-9469-551890F29F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6932DF-953D-44BD-83F8-5D8DA76EA12A}" type="datetimeFigureOut">
              <a:rPr lang="en-US" dirty="0"/>
              <a:t>11/28/2025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EA3FFC-B3A6-C0B6-5DAE-70BE0D6FBD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08D35F-BC2E-8D14-060F-449CBAF7C0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DE196-8A13-4FF7-A07E-102851959EAB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67060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8909ED-ED97-A3CE-5569-77B45F4145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820881"/>
            <a:ext cx="3639312" cy="2062595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683BB3A-9E24-DE4C-9619-1502F1B6F389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247408" y="919595"/>
            <a:ext cx="6107979" cy="5013614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4B4CE1F-29E0-88BB-8489-E58236B8B17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3000652"/>
            <a:ext cx="3643889" cy="2868336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24B7212-6816-FFD1-50B2-58844AD38E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2F326D-65F4-4B2F-9A62-9E4BD9402C47}" type="datetimeFigureOut">
              <a:rPr lang="en-US" dirty="0"/>
              <a:t>11/28/2025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2417744-5A24-B7B7-5FD6-E98E60832F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CDA4D1-A71D-A7A6-3D0C-294E5D280B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DE196-8A13-4FF7-A07E-102851959EAB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67343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C990AE-F72C-4C2E-E2D0-7A8D7EEF08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F41B46D-142E-8C8E-C4F4-B6B1586A6FD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4D92E3-36AD-2615-0166-6B73C34F10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742F6F-0846-489A-A4BC-61B476BE2887}" type="datetimeFigureOut">
              <a:rPr lang="en-US" dirty="0"/>
              <a:t>11/28/2025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0BFB69-319D-2284-2734-217160D396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6883B0-C775-5BD2-8EC6-A41D19BCA1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DE196-8A13-4FF7-A07E-102851959EAB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98097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9040463-6D41-8D45-088A-540B0D18838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592281"/>
            <a:ext cx="2628900" cy="5584681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B5F2276-7F04-F3F7-E3CE-F81C8DC637D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592281"/>
            <a:ext cx="7734300" cy="558468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1802BF-9E0C-3251-8FAE-81F07DB053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29DF21-A340-467A-94AB-9502647BB771}" type="datetimeFigureOut">
              <a:rPr lang="en-US" dirty="0"/>
              <a:t>11/28/2025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9F1754-5B8F-A9FA-E8B1-06E04CE283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01E6A8-5139-ECD4-CC0C-32FFC67410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DE196-8A13-4FF7-A07E-102851959EAB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67963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95858A62-FE72-978B-BE71-05908D82E1A4}"/>
              </a:ext>
            </a:extLst>
          </p:cNvPr>
          <p:cNvSpPr/>
          <p:nvPr/>
        </p:nvSpPr>
        <p:spPr>
          <a:xfrm>
            <a:off x="0" y="0"/>
            <a:ext cx="12192000" cy="6860161"/>
          </a:xfrm>
          <a:prstGeom prst="rect">
            <a:avLst/>
          </a:prstGeom>
          <a:solidFill>
            <a:schemeClr val="bg2">
              <a:lumMod val="75000"/>
              <a:alpha val="15000"/>
            </a:scheme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BFA14B7-4740-5D9F-6489-BAD00C3E0D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1108" y="588245"/>
            <a:ext cx="10449784" cy="126592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90487F-803F-C5AF-BD93-39C0FC7389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77824" y="2157984"/>
            <a:ext cx="10442448" cy="39038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86FCEF-4EDF-C2EF-7D81-FEFF7042F35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77824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cap="all" spc="300" baseline="0">
                <a:solidFill>
                  <a:schemeClr val="tx2"/>
                </a:solidFill>
              </a:defRPr>
            </a:lvl1pPr>
          </a:lstStyle>
          <a:p>
            <a:fld id="{F9B0CB28-85DB-480B-8C99-FD493ACC7120}" type="datetimeFigureOut">
              <a:rPr lang="en-US" dirty="0"/>
              <a:t>11/28/2025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4663BC-4D46-C74D-DDF2-9D25B4D96F9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132320" y="6356350"/>
            <a:ext cx="42976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 cap="all" spc="30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1B4EAE-CB5C-D14B-77EF-7B155FA6835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29999" y="6356350"/>
            <a:ext cx="52120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>
                <a:solidFill>
                  <a:schemeClr val="tx2"/>
                </a:solidFill>
                <a:latin typeface="+mj-lt"/>
              </a:defRPr>
            </a:lvl1pPr>
          </a:lstStyle>
          <a:p>
            <a:fld id="{5E4DE196-8A13-4FF7-A07E-102851959EAB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33036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hf hdr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2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600" kern="1200">
          <a:solidFill>
            <a:schemeClr val="tx2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2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100" kern="1200">
          <a:solidFill>
            <a:schemeClr val="tx2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1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2160" userDrawn="1">
          <p15:clr>
            <a:srgbClr val="F26B43"/>
          </p15:clr>
        </p15:guide>
        <p15:guide id="4" pos="3840" userDrawn="1">
          <p15:clr>
            <a:srgbClr val="F26B43"/>
          </p15:clr>
        </p15:guide>
        <p15:guide id="5" orient="horz" pos="3816" userDrawn="1">
          <p15:clr>
            <a:srgbClr val="F26B43"/>
          </p15:clr>
        </p15:guide>
        <p15:guide id="6" orient="horz" pos="1176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sz="4400" b="1" dirty="0">
                <a:latin typeface="Aptos"/>
                <a:cs typeface="Times New Roman"/>
              </a:rPr>
              <a:t>Kiến thức về AI, </a:t>
            </a:r>
            <a:r>
              <a:rPr lang="vi-VN" sz="4400" b="1" err="1">
                <a:latin typeface="Aptos"/>
                <a:cs typeface="Times New Roman"/>
              </a:rPr>
              <a:t>Data</a:t>
            </a:r>
            <a:endParaRPr lang="vi-VN" sz="4400" b="1" err="1">
              <a:latin typeface="Aptos"/>
            </a:endParaRPr>
          </a:p>
        </p:txBody>
      </p:sp>
      <p:sp>
        <p:nvSpPr>
          <p:cNvPr id="3" name="Tiêu đề phụ 2"/>
          <p:cNvSpPr>
            <a:spLocks noGrp="1"/>
          </p:cNvSpPr>
          <p:nvPr>
            <p:ph type="body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vi-VN" sz="1800" dirty="0">
                <a:latin typeface="Arial"/>
                <a:cs typeface="Arial"/>
              </a:rPr>
              <a:t>Đào Duy Hiếu Anh – B25DCTV005</a:t>
            </a:r>
            <a:endParaRPr lang="vi-VN" sz="1800" dirty="0"/>
          </a:p>
        </p:txBody>
      </p:sp>
    </p:spTree>
    <p:extLst>
      <p:ext uri="{BB962C8B-B14F-4D97-AF65-F5344CB8AC3E}">
        <p14:creationId xmlns:p14="http://schemas.microsoft.com/office/powerpoint/2010/main" val="25679275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A3BCCA-F139-1A86-FB1A-161B462D01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6600" b="1" dirty="0">
                <a:latin typeface="Aptos"/>
              </a:rPr>
              <a:t>Danh </a:t>
            </a:r>
            <a:r>
              <a:rPr lang="en-US" sz="6600" b="1" err="1">
                <a:latin typeface="Aptos"/>
              </a:rPr>
              <a:t>Mục</a:t>
            </a:r>
            <a:endParaRPr lang="en-US" sz="6600" b="1">
              <a:latin typeface="Aptos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9E8E335-7209-0D52-2494-8B6A21F3AA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77824" y="2157984"/>
            <a:ext cx="10823447" cy="3903819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457200" indent="-457200">
              <a:lnSpc>
                <a:spcPct val="100000"/>
              </a:lnSpc>
              <a:buAutoNum type="arabicPeriod"/>
            </a:pPr>
            <a:r>
              <a:rPr lang="en-US" sz="2000" dirty="0"/>
              <a:t>AI</a:t>
            </a:r>
            <a:endParaRPr lang="en-US"/>
          </a:p>
          <a:p>
            <a:pPr marL="685800" lvl="1">
              <a:lnSpc>
                <a:spcPct val="100000"/>
              </a:lnSpc>
            </a:pPr>
            <a:r>
              <a:rPr lang="en-US" sz="1800" err="1"/>
              <a:t>Khái</a:t>
            </a:r>
            <a:r>
              <a:rPr lang="en-US" sz="1800" dirty="0"/>
              <a:t> </a:t>
            </a:r>
            <a:r>
              <a:rPr lang="en-US" sz="1800" err="1"/>
              <a:t>niệm</a:t>
            </a:r>
            <a:r>
              <a:rPr lang="en-US" sz="1800" dirty="0"/>
              <a:t> </a:t>
            </a:r>
            <a:r>
              <a:rPr lang="en-US" sz="1800" err="1"/>
              <a:t>về</a:t>
            </a:r>
            <a:r>
              <a:rPr lang="en-US" sz="1800" dirty="0"/>
              <a:t> AI</a:t>
            </a:r>
          </a:p>
          <a:p>
            <a:pPr marL="685800" lvl="1">
              <a:lnSpc>
                <a:spcPct val="100000"/>
              </a:lnSpc>
            </a:pPr>
            <a:r>
              <a:rPr lang="en-US" sz="1800" dirty="0"/>
              <a:t>Các </a:t>
            </a:r>
            <a:r>
              <a:rPr lang="en-US" sz="1800" err="1"/>
              <a:t>lĩnh</a:t>
            </a:r>
            <a:r>
              <a:rPr lang="en-US" sz="1800" dirty="0"/>
              <a:t> </a:t>
            </a:r>
            <a:r>
              <a:rPr lang="en-US" sz="1800" err="1"/>
              <a:t>vực</a:t>
            </a:r>
            <a:r>
              <a:rPr lang="en-US" sz="1800" dirty="0"/>
              <a:t> </a:t>
            </a:r>
            <a:r>
              <a:rPr lang="en-US" sz="1800" err="1"/>
              <a:t>trong</a:t>
            </a:r>
            <a:r>
              <a:rPr lang="en-US" sz="1800" dirty="0"/>
              <a:t> AI</a:t>
            </a:r>
          </a:p>
          <a:p>
            <a:pPr marL="685800" lvl="1">
              <a:lnSpc>
                <a:spcPct val="100000"/>
              </a:lnSpc>
            </a:pPr>
            <a:r>
              <a:rPr lang="en-US" sz="1800" dirty="0"/>
              <a:t>…</a:t>
            </a:r>
          </a:p>
          <a:p>
            <a:pPr indent="-457200">
              <a:lnSpc>
                <a:spcPct val="100000"/>
              </a:lnSpc>
              <a:buAutoNum type="arabicPeriod"/>
            </a:pPr>
            <a:r>
              <a:rPr lang="en-US" sz="2000" dirty="0"/>
              <a:t>Các </a:t>
            </a:r>
            <a:r>
              <a:rPr lang="en-US" sz="2000" err="1"/>
              <a:t>thư</a:t>
            </a:r>
            <a:r>
              <a:rPr lang="en-US" sz="2000" dirty="0"/>
              <a:t> </a:t>
            </a:r>
            <a:r>
              <a:rPr lang="en-US" sz="2000" err="1"/>
              <a:t>viện</a:t>
            </a:r>
            <a:r>
              <a:rPr lang="en-US" sz="2000" dirty="0"/>
              <a:t> </a:t>
            </a:r>
            <a:r>
              <a:rPr lang="en-US" sz="2000" err="1"/>
              <a:t>phổ</a:t>
            </a:r>
            <a:r>
              <a:rPr lang="en-US" sz="2000" dirty="0"/>
              <a:t> </a:t>
            </a:r>
            <a:r>
              <a:rPr lang="en-US" sz="2000" err="1"/>
              <a:t>biến</a:t>
            </a:r>
            <a:endParaRPr lang="en-US" sz="2000"/>
          </a:p>
          <a:p>
            <a:pPr lvl="1">
              <a:lnSpc>
                <a:spcPct val="100000"/>
              </a:lnSpc>
            </a:pPr>
            <a:r>
              <a:rPr lang="en-US" sz="1800" dirty="0" err="1"/>
              <a:t>Khái</a:t>
            </a:r>
            <a:r>
              <a:rPr lang="en-US" sz="1800" dirty="0"/>
              <a:t> </a:t>
            </a:r>
            <a:r>
              <a:rPr lang="en-US" sz="1800" dirty="0" err="1"/>
              <a:t>niệm</a:t>
            </a:r>
            <a:r>
              <a:rPr lang="en-US" sz="1800" dirty="0"/>
              <a:t>, </a:t>
            </a:r>
            <a:r>
              <a:rPr lang="en-US" sz="1800" dirty="0" err="1"/>
              <a:t>thời</a:t>
            </a:r>
            <a:r>
              <a:rPr lang="en-US" sz="1800" dirty="0"/>
              <a:t> </a:t>
            </a:r>
            <a:r>
              <a:rPr lang="en-US" sz="1800" dirty="0" err="1"/>
              <a:t>gian</a:t>
            </a:r>
            <a:r>
              <a:rPr lang="en-US" sz="1800" dirty="0"/>
              <a:t> </a:t>
            </a:r>
            <a:r>
              <a:rPr lang="en-US" sz="1800" dirty="0" err="1"/>
              <a:t>ra</a:t>
            </a:r>
            <a:r>
              <a:rPr lang="en-US" sz="1800" dirty="0"/>
              <a:t> </a:t>
            </a:r>
            <a:r>
              <a:rPr lang="en-US" sz="1800" dirty="0" err="1"/>
              <a:t>mắt</a:t>
            </a:r>
            <a:r>
              <a:rPr lang="en-US" sz="1800" dirty="0"/>
              <a:t>, so </a:t>
            </a:r>
            <a:r>
              <a:rPr lang="en-US" sz="1800" dirty="0" err="1"/>
              <a:t>sánh</a:t>
            </a:r>
            <a:r>
              <a:rPr lang="en-US" sz="1800" dirty="0"/>
              <a:t> </a:t>
            </a:r>
            <a:r>
              <a:rPr lang="en-US" sz="1800" dirty="0" err="1"/>
              <a:t>giữa</a:t>
            </a:r>
            <a:r>
              <a:rPr lang="en-US" sz="1800" dirty="0"/>
              <a:t> </a:t>
            </a:r>
            <a:r>
              <a:rPr lang="en-US" sz="1800" dirty="0" err="1"/>
              <a:t>các</a:t>
            </a:r>
            <a:r>
              <a:rPr lang="en-US" sz="1800" dirty="0"/>
              <a:t> </a:t>
            </a:r>
            <a:r>
              <a:rPr lang="en-US" sz="1800" dirty="0" err="1"/>
              <a:t>thư</a:t>
            </a:r>
            <a:r>
              <a:rPr lang="en-US" sz="1800" dirty="0"/>
              <a:t> </a:t>
            </a:r>
            <a:r>
              <a:rPr lang="en-US" sz="1800" dirty="0" err="1"/>
              <a:t>viện</a:t>
            </a:r>
            <a:r>
              <a:rPr lang="en-US" sz="1800" dirty="0"/>
              <a:t>,.. </a:t>
            </a:r>
          </a:p>
          <a:p>
            <a:pPr indent="-457200">
              <a:lnSpc>
                <a:spcPct val="100000"/>
              </a:lnSpc>
              <a:buAutoNum type="arabicPeriod"/>
            </a:pPr>
            <a:r>
              <a:rPr lang="en-US" sz="2000" dirty="0"/>
              <a:t>Notebook </a:t>
            </a:r>
            <a:r>
              <a:rPr lang="en-US" sz="2000" err="1"/>
              <a:t>và</a:t>
            </a:r>
            <a:r>
              <a:rPr lang="en-US" sz="2000" dirty="0"/>
              <a:t> </a:t>
            </a:r>
            <a:r>
              <a:rPr lang="en-US" sz="2000" err="1"/>
              <a:t>nguồn</a:t>
            </a:r>
            <a:r>
              <a:rPr lang="en-US" sz="2000" dirty="0"/>
              <a:t> </a:t>
            </a:r>
            <a:r>
              <a:rPr lang="en-US" sz="2000" err="1"/>
              <a:t>dữ</a:t>
            </a:r>
            <a:r>
              <a:rPr lang="en-US" sz="2000" dirty="0"/>
              <a:t> </a:t>
            </a:r>
            <a:r>
              <a:rPr lang="en-US" sz="2000" err="1"/>
              <a:t>liệu</a:t>
            </a:r>
            <a:r>
              <a:rPr lang="en-US" sz="2000" dirty="0"/>
              <a:t> </a:t>
            </a:r>
          </a:p>
          <a:p>
            <a:pPr lvl="1">
              <a:lnSpc>
                <a:spcPct val="100000"/>
              </a:lnSpc>
            </a:pPr>
            <a:r>
              <a:rPr lang="en-US" sz="1800" err="1"/>
              <a:t>Làm</a:t>
            </a:r>
            <a:r>
              <a:rPr lang="en-US" sz="1800" dirty="0"/>
              <a:t> </a:t>
            </a:r>
            <a:r>
              <a:rPr lang="en-US" sz="1800" err="1"/>
              <a:t>quen</a:t>
            </a:r>
            <a:r>
              <a:rPr lang="en-US" sz="1800" dirty="0"/>
              <a:t> </a:t>
            </a:r>
            <a:r>
              <a:rPr lang="en-US" sz="1800" err="1"/>
              <a:t>với</a:t>
            </a:r>
            <a:r>
              <a:rPr lang="en-US" sz="1800" dirty="0"/>
              <a:t> </a:t>
            </a:r>
            <a:r>
              <a:rPr lang="en-US" sz="1800" err="1"/>
              <a:t>Jupyter</a:t>
            </a:r>
            <a:r>
              <a:rPr lang="en-US" sz="1800" dirty="0"/>
              <a:t> Notebooks, Google Colab,…</a:t>
            </a:r>
          </a:p>
          <a:p>
            <a:pPr indent="-457200">
              <a:buAutoNum type="arabicPeriod"/>
            </a:pPr>
            <a:r>
              <a:rPr lang="en-US" sz="2000" dirty="0"/>
              <a:t>Exploratory Data Analysis</a:t>
            </a:r>
          </a:p>
          <a:p>
            <a:pPr lvl="1"/>
            <a:r>
              <a:rPr lang="en-US" sz="1800" dirty="0"/>
              <a:t>EDA </a:t>
            </a:r>
            <a:r>
              <a:rPr lang="en-US" sz="1800" dirty="0" err="1"/>
              <a:t>là</a:t>
            </a:r>
            <a:r>
              <a:rPr lang="en-US" sz="1800" dirty="0"/>
              <a:t> </a:t>
            </a:r>
            <a:r>
              <a:rPr lang="en-US" sz="1800" dirty="0" err="1"/>
              <a:t>gì</a:t>
            </a:r>
            <a:r>
              <a:rPr lang="en-US" sz="1800" dirty="0"/>
              <a:t>?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3F26A2-9277-724F-4E14-FCB544CC9D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586971-C254-4B24-9F87-0E63E5AFFA36}" type="datetime1">
              <a:t>11/28/2025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D7BF42-FF1C-C39B-E8BA-BD6BFF8C1A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9F150F-B592-BD8B-F53E-EC6EC66792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DE196-8A13-4FF7-A07E-102851959EAB}" type="slidenum">
              <a:rPr lang="en-US" dirty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25508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1AF3D1-E2B7-214F-E98C-9BE00BB151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1108" y="588245"/>
            <a:ext cx="10449784" cy="636450"/>
          </a:xfrm>
        </p:spPr>
        <p:txBody>
          <a:bodyPr/>
          <a:lstStyle/>
          <a:p>
            <a:r>
              <a:rPr lang="en-US" b="1" dirty="0">
                <a:latin typeface="Aptos"/>
              </a:rPr>
              <a:t>1, </a:t>
            </a:r>
            <a:r>
              <a:rPr lang="en-US" b="1" err="1">
                <a:latin typeface="Aptos"/>
              </a:rPr>
              <a:t>Nội</a:t>
            </a:r>
            <a:r>
              <a:rPr lang="en-US" b="1" dirty="0">
                <a:latin typeface="Aptos"/>
              </a:rPr>
              <a:t> dung </a:t>
            </a:r>
            <a:r>
              <a:rPr lang="en-US" b="1" err="1">
                <a:latin typeface="Aptos"/>
              </a:rPr>
              <a:t>về</a:t>
            </a:r>
            <a:r>
              <a:rPr lang="en-US" b="1" dirty="0">
                <a:latin typeface="Aptos"/>
              </a:rPr>
              <a:t> AI: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DB3D33-A6E5-559C-E4FA-0AC1D839B52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77824" y="1375089"/>
            <a:ext cx="4977453" cy="2880308"/>
          </a:xfrm>
        </p:spPr>
        <p:txBody>
          <a:bodyPr vert="horz" lIns="91440" tIns="45720" rIns="91440" bIns="45720" rtlCol="0" anchor="t">
            <a:normAutofit fontScale="92500" lnSpcReduction="10000"/>
          </a:bodyPr>
          <a:lstStyle/>
          <a:p>
            <a:pPr marL="285750" indent="-285750">
              <a:lnSpc>
                <a:spcPct val="160000"/>
              </a:lnSpc>
              <a:buFont typeface="Calibri" panose="020B0604020202020204" pitchFamily="34" charset="0"/>
              <a:buChar char="-"/>
            </a:pPr>
            <a:r>
              <a:rPr lang="en-US" sz="2000" err="1"/>
              <a:t>Khái</a:t>
            </a:r>
            <a:r>
              <a:rPr lang="en-US" sz="2000" dirty="0"/>
              <a:t> </a:t>
            </a:r>
            <a:r>
              <a:rPr lang="en-US" sz="2000" err="1"/>
              <a:t>niệm</a:t>
            </a:r>
            <a:r>
              <a:rPr lang="en-US" sz="2000" dirty="0"/>
              <a:t> </a:t>
            </a:r>
            <a:r>
              <a:rPr lang="en-US" sz="2000" err="1"/>
              <a:t>về</a:t>
            </a:r>
            <a:r>
              <a:rPr lang="en-US" sz="2000" dirty="0"/>
              <a:t> AI:</a:t>
            </a:r>
            <a:endParaRPr lang="en-US" sz="2000"/>
          </a:p>
          <a:p>
            <a:pPr marL="514350" lvl="1" indent="-285750">
              <a:lnSpc>
                <a:spcPct val="160000"/>
              </a:lnSpc>
              <a:buFont typeface="Courier New" panose="020B0604020202020204" pitchFamily="34" charset="0"/>
              <a:buChar char="o"/>
            </a:pPr>
            <a:r>
              <a:rPr lang="en-US" sz="2000" err="1"/>
              <a:t>Là</a:t>
            </a:r>
            <a:r>
              <a:rPr lang="en-US" sz="2000" dirty="0"/>
              <a:t> </a:t>
            </a:r>
            <a:r>
              <a:rPr lang="en-US" sz="2000" err="1"/>
              <a:t>một</a:t>
            </a:r>
            <a:r>
              <a:rPr lang="en-US" sz="2000" dirty="0"/>
              <a:t> </a:t>
            </a:r>
            <a:r>
              <a:rPr lang="en-US" sz="2000" err="1"/>
              <a:t>lính</a:t>
            </a:r>
            <a:r>
              <a:rPr lang="en-US" sz="2000" dirty="0"/>
              <a:t> </a:t>
            </a:r>
            <a:r>
              <a:rPr lang="en-US" sz="2000" err="1"/>
              <a:t>vực</a:t>
            </a:r>
            <a:r>
              <a:rPr lang="en-US" sz="2000" dirty="0"/>
              <a:t> </a:t>
            </a:r>
            <a:r>
              <a:rPr lang="en-US" sz="2000" err="1"/>
              <a:t>trong</a:t>
            </a:r>
            <a:r>
              <a:rPr lang="en-US" sz="2000" dirty="0"/>
              <a:t> Khoa </a:t>
            </a:r>
            <a:r>
              <a:rPr lang="en-US" sz="2000" err="1"/>
              <a:t>học</a:t>
            </a:r>
            <a:r>
              <a:rPr lang="en-US" sz="2000" dirty="0"/>
              <a:t> </a:t>
            </a:r>
            <a:r>
              <a:rPr lang="en-US" sz="2000" err="1"/>
              <a:t>máy</a:t>
            </a:r>
            <a:r>
              <a:rPr lang="en-US" sz="2000" dirty="0"/>
              <a:t> </a:t>
            </a:r>
            <a:r>
              <a:rPr lang="en-US" sz="2000" err="1"/>
              <a:t>tính</a:t>
            </a:r>
            <a:endParaRPr lang="en-US" sz="2000"/>
          </a:p>
          <a:p>
            <a:pPr marL="514350" lvl="1" indent="-285750">
              <a:lnSpc>
                <a:spcPct val="160000"/>
              </a:lnSpc>
              <a:buFont typeface="Courier New" panose="020B0604020202020204" pitchFamily="34" charset="0"/>
              <a:buChar char="o"/>
            </a:pPr>
            <a:r>
              <a:rPr lang="en-US" sz="2000" err="1"/>
              <a:t>Tạo</a:t>
            </a:r>
            <a:r>
              <a:rPr lang="en-US" sz="2000" dirty="0"/>
              <a:t> </a:t>
            </a:r>
            <a:r>
              <a:rPr lang="en-US" sz="2000" err="1"/>
              <a:t>ra</a:t>
            </a:r>
            <a:r>
              <a:rPr lang="en-US" sz="2000" dirty="0"/>
              <a:t> </a:t>
            </a:r>
            <a:r>
              <a:rPr lang="en-US" sz="2000" err="1"/>
              <a:t>những</a:t>
            </a:r>
            <a:r>
              <a:rPr lang="en-US" sz="2000" dirty="0"/>
              <a:t> </a:t>
            </a:r>
            <a:r>
              <a:rPr lang="en-US" sz="2000" err="1"/>
              <a:t>hệ</a:t>
            </a:r>
            <a:r>
              <a:rPr lang="en-US" sz="2000" dirty="0"/>
              <a:t> </a:t>
            </a:r>
            <a:r>
              <a:rPr lang="en-US" sz="2000" err="1"/>
              <a:t>thông</a:t>
            </a:r>
            <a:r>
              <a:rPr lang="en-US" sz="2000" dirty="0"/>
              <a:t> </a:t>
            </a:r>
            <a:r>
              <a:rPr lang="en-US" sz="2000" err="1"/>
              <a:t>hoặc</a:t>
            </a:r>
            <a:r>
              <a:rPr lang="en-US" sz="2000" dirty="0"/>
              <a:t> </a:t>
            </a:r>
            <a:r>
              <a:rPr lang="en-US" sz="2000" err="1"/>
              <a:t>máy</a:t>
            </a:r>
            <a:r>
              <a:rPr lang="en-US" sz="2000" dirty="0"/>
              <a:t> </a:t>
            </a:r>
            <a:r>
              <a:rPr lang="en-US" sz="2000" err="1"/>
              <a:t>móc</a:t>
            </a:r>
            <a:r>
              <a:rPr lang="en-US" sz="2000" dirty="0"/>
              <a:t> </a:t>
            </a:r>
            <a:r>
              <a:rPr lang="en-US" sz="2000" err="1"/>
              <a:t>mô</a:t>
            </a:r>
            <a:r>
              <a:rPr lang="en-US" sz="2000" dirty="0"/>
              <a:t> </a:t>
            </a:r>
            <a:r>
              <a:rPr lang="en-US" sz="2000" err="1"/>
              <a:t>phỏng</a:t>
            </a:r>
            <a:r>
              <a:rPr lang="en-US" sz="2000" dirty="0"/>
              <a:t> </a:t>
            </a:r>
            <a:r>
              <a:rPr lang="en-US" sz="2000" err="1"/>
              <a:t>trí</a:t>
            </a:r>
            <a:r>
              <a:rPr lang="en-US" sz="2000" dirty="0"/>
              <a:t> </a:t>
            </a:r>
            <a:r>
              <a:rPr lang="en-US" sz="2000" err="1"/>
              <a:t>thông</a:t>
            </a:r>
            <a:r>
              <a:rPr lang="en-US" sz="2000" dirty="0"/>
              <a:t> </a:t>
            </a:r>
            <a:r>
              <a:rPr lang="en-US" sz="2000" err="1"/>
              <a:t>minh</a:t>
            </a:r>
            <a:r>
              <a:rPr lang="en-US" sz="2000" dirty="0"/>
              <a:t> con </a:t>
            </a:r>
            <a:r>
              <a:rPr lang="en-US" sz="2000" err="1"/>
              <a:t>người</a:t>
            </a:r>
            <a:r>
              <a:rPr lang="en-US" sz="2000" dirty="0"/>
              <a:t> </a:t>
            </a:r>
            <a:r>
              <a:rPr lang="en-US" sz="2000" err="1"/>
              <a:t>nhằm</a:t>
            </a:r>
            <a:r>
              <a:rPr lang="en-US" sz="2000" dirty="0"/>
              <a:t> </a:t>
            </a:r>
            <a:r>
              <a:rPr lang="en-US" sz="2000" err="1"/>
              <a:t>thực</a:t>
            </a:r>
            <a:r>
              <a:rPr lang="en-US" sz="2000" dirty="0"/>
              <a:t> </a:t>
            </a:r>
            <a:r>
              <a:rPr lang="en-US" sz="2000" err="1"/>
              <a:t>hiện</a:t>
            </a:r>
            <a:r>
              <a:rPr lang="en-US" sz="2000" dirty="0"/>
              <a:t> </a:t>
            </a:r>
            <a:r>
              <a:rPr lang="en-US" sz="2000" err="1"/>
              <a:t>các</a:t>
            </a:r>
            <a:r>
              <a:rPr lang="en-US" sz="2000" dirty="0"/>
              <a:t> </a:t>
            </a:r>
            <a:r>
              <a:rPr lang="en-US" sz="2000" err="1"/>
              <a:t>tác</a:t>
            </a:r>
            <a:r>
              <a:rPr lang="en-US" sz="2000" dirty="0"/>
              <a:t> </a:t>
            </a:r>
            <a:r>
              <a:rPr lang="en-US" sz="2000" err="1"/>
              <a:t>vụ</a:t>
            </a:r>
            <a:r>
              <a:rPr lang="en-US" sz="2000" dirty="0"/>
              <a:t> </a:t>
            </a:r>
            <a:r>
              <a:rPr lang="en-US" sz="2000" err="1"/>
              <a:t>hằng</a:t>
            </a:r>
            <a:r>
              <a:rPr lang="en-US" sz="2000" dirty="0"/>
              <a:t> </a:t>
            </a:r>
            <a:r>
              <a:rPr lang="en-US" sz="2000" err="1"/>
              <a:t>ngày</a:t>
            </a:r>
            <a:endParaRPr lang="en-US" sz="2000"/>
          </a:p>
          <a:p>
            <a:pPr marL="514350" lvl="1" indent="-285750">
              <a:buFont typeface="Courier New" panose="020B0604020202020204" pitchFamily="34" charset="0"/>
              <a:buChar char="o"/>
            </a:pPr>
            <a:endParaRPr lang="en-US" sz="2000" dirty="0"/>
          </a:p>
          <a:p>
            <a:pPr marL="285750" indent="-285750">
              <a:buFont typeface="Calibri" panose="020B0604020202020204" pitchFamily="34" charset="0"/>
              <a:buChar char="-"/>
            </a:pPr>
            <a:endParaRPr lang="en-US" sz="2000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7EC9FAB1-89CC-E01D-760E-F1395592975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28391" y="723524"/>
            <a:ext cx="4985785" cy="5641178"/>
          </a:xfrm>
        </p:spPr>
        <p:txBody>
          <a:bodyPr vert="horz" lIns="91440" tIns="45720" rIns="91440" bIns="45720" rtlCol="0" anchor="t">
            <a:normAutofit fontScale="92500" lnSpcReduction="10000"/>
          </a:bodyPr>
          <a:lstStyle/>
          <a:p>
            <a:pPr marL="342900" indent="-342900">
              <a:buFont typeface="Calibri" panose="020B0604020202020204" pitchFamily="34" charset="0"/>
              <a:buChar char="-"/>
            </a:pPr>
            <a:r>
              <a:rPr lang="en-US" sz="2100" dirty="0"/>
              <a:t>Các </a:t>
            </a:r>
            <a:r>
              <a:rPr lang="en-US" sz="2100" dirty="0" err="1"/>
              <a:t>lĩnh</a:t>
            </a:r>
            <a:r>
              <a:rPr lang="en-US" sz="2100" dirty="0"/>
              <a:t> </a:t>
            </a:r>
            <a:r>
              <a:rPr lang="en-US" sz="2100" dirty="0" err="1"/>
              <a:t>vực</a:t>
            </a:r>
            <a:r>
              <a:rPr lang="en-US" sz="2100" dirty="0"/>
              <a:t> </a:t>
            </a:r>
            <a:r>
              <a:rPr lang="en-US" sz="2100" dirty="0" err="1"/>
              <a:t>trong</a:t>
            </a:r>
            <a:r>
              <a:rPr lang="en-US" sz="2100" dirty="0"/>
              <a:t> AI:</a:t>
            </a:r>
            <a:endParaRPr lang="en-US" sz="2100" dirty="0">
              <a:solidFill>
                <a:srgbClr val="000000"/>
              </a:solidFill>
            </a:endParaRPr>
          </a:p>
          <a:p>
            <a:pPr marL="514350" lvl="1" indent="-285750">
              <a:buFont typeface="Courier New,monospace" panose="020B0604020202020204" pitchFamily="34" charset="0"/>
              <a:buChar char="o"/>
            </a:pPr>
            <a:r>
              <a:rPr lang="en-US" sz="2100" dirty="0"/>
              <a:t>Machine Learning</a:t>
            </a:r>
            <a:endParaRPr lang="en-US" sz="2100" dirty="0">
              <a:solidFill>
                <a:srgbClr val="000000"/>
              </a:solidFill>
            </a:endParaRPr>
          </a:p>
          <a:p>
            <a:pPr marL="514350" lvl="1" indent="-285750">
              <a:buFont typeface="Courier New,monospace" panose="020B0604020202020204" pitchFamily="34" charset="0"/>
              <a:buChar char="o"/>
            </a:pPr>
            <a:r>
              <a:rPr lang="en-US" sz="2100" dirty="0"/>
              <a:t>Deep Learning</a:t>
            </a:r>
            <a:endParaRPr lang="en-US" sz="2100" dirty="0">
              <a:solidFill>
                <a:srgbClr val="000000"/>
              </a:solidFill>
            </a:endParaRPr>
          </a:p>
          <a:p>
            <a:pPr marL="514350" lvl="1" indent="-285750">
              <a:buFont typeface="Courier New,monospace" panose="020B0604020202020204" pitchFamily="34" charset="0"/>
              <a:buChar char="o"/>
            </a:pPr>
            <a:r>
              <a:rPr lang="en-US" sz="2100" dirty="0"/>
              <a:t>Natural Language Processing</a:t>
            </a:r>
            <a:endParaRPr lang="en-US" sz="2100" dirty="0">
              <a:solidFill>
                <a:srgbClr val="000000"/>
              </a:solidFill>
            </a:endParaRPr>
          </a:p>
          <a:p>
            <a:pPr marL="514350" lvl="1" indent="-285750">
              <a:buFont typeface="Courier New,monospace" panose="020B0604020202020204" pitchFamily="34" charset="0"/>
              <a:buChar char="o"/>
            </a:pPr>
            <a:r>
              <a:rPr lang="en-US" sz="2100" dirty="0"/>
              <a:t>Computer Vision</a:t>
            </a:r>
            <a:endParaRPr lang="en-US" sz="2100" dirty="0">
              <a:solidFill>
                <a:srgbClr val="000000"/>
              </a:solidFill>
            </a:endParaRPr>
          </a:p>
          <a:p>
            <a:pPr marL="514350" lvl="1" indent="-285750">
              <a:buFont typeface="Courier New,monospace" panose="020B0604020202020204" pitchFamily="34" charset="0"/>
              <a:buChar char="o"/>
            </a:pPr>
            <a:r>
              <a:rPr lang="en-US" sz="2100" dirty="0"/>
              <a:t>Robotics</a:t>
            </a:r>
          </a:p>
          <a:p>
            <a:pPr marL="514350" lvl="1" indent="-285750">
              <a:buFont typeface="Courier New,monospace" panose="020B0604020202020204" pitchFamily="34" charset="0"/>
              <a:buChar char="o"/>
            </a:pPr>
            <a:endParaRPr lang="en-US" sz="2100" dirty="0"/>
          </a:p>
          <a:p>
            <a:pPr marL="285750" indent="-285750">
              <a:buFont typeface="Calibri" panose="020B0604020202020204" pitchFamily="34" charset="0"/>
              <a:buChar char="-"/>
            </a:pPr>
            <a:r>
              <a:rPr lang="en-US" sz="2100" err="1"/>
              <a:t>Ứng</a:t>
            </a:r>
            <a:r>
              <a:rPr lang="en-US" sz="2100"/>
              <a:t> </a:t>
            </a:r>
            <a:r>
              <a:rPr lang="en-US" sz="2100" err="1"/>
              <a:t>dụng</a:t>
            </a:r>
            <a:r>
              <a:rPr lang="en-US" sz="2100"/>
              <a:t> AI </a:t>
            </a:r>
            <a:r>
              <a:rPr lang="en-US" sz="2100" err="1"/>
              <a:t>trong</a:t>
            </a:r>
            <a:r>
              <a:rPr lang="en-US" sz="2100"/>
              <a:t> </a:t>
            </a:r>
            <a:r>
              <a:rPr lang="en-US" sz="2100" err="1"/>
              <a:t>thực</a:t>
            </a:r>
            <a:r>
              <a:rPr lang="en-US" sz="2100"/>
              <a:t> </a:t>
            </a:r>
            <a:r>
              <a:rPr lang="en-US" sz="2100" err="1"/>
              <a:t>tế</a:t>
            </a:r>
            <a:r>
              <a:rPr lang="en-US" sz="2100"/>
              <a:t>:</a:t>
            </a:r>
            <a:endParaRPr lang="en-US" sz="2100">
              <a:solidFill>
                <a:srgbClr val="000000"/>
              </a:solidFill>
            </a:endParaRPr>
          </a:p>
          <a:p>
            <a:pPr marL="514350" lvl="1" indent="-285750">
              <a:buFont typeface="Courier New,monospace" panose="020B0604020202020204" pitchFamily="34" charset="0"/>
              <a:buChar char="o"/>
            </a:pPr>
            <a:r>
              <a:rPr lang="en-US" sz="2100" dirty="0"/>
              <a:t>Y </a:t>
            </a:r>
            <a:r>
              <a:rPr lang="en-US" sz="2100" dirty="0" err="1"/>
              <a:t>tế</a:t>
            </a:r>
            <a:r>
              <a:rPr lang="en-US" sz="2100" dirty="0"/>
              <a:t>: </a:t>
            </a:r>
            <a:r>
              <a:rPr lang="en-US" sz="2100" dirty="0" err="1"/>
              <a:t>Chuẩn</a:t>
            </a:r>
            <a:r>
              <a:rPr lang="en-US" sz="2100" dirty="0"/>
              <a:t> </a:t>
            </a:r>
            <a:r>
              <a:rPr lang="en-US" sz="2100" dirty="0" err="1"/>
              <a:t>đoán</a:t>
            </a:r>
            <a:r>
              <a:rPr lang="en-US" sz="2100" dirty="0"/>
              <a:t> </a:t>
            </a:r>
            <a:r>
              <a:rPr lang="en-US" sz="2100" dirty="0" err="1"/>
              <a:t>bệnh</a:t>
            </a:r>
            <a:r>
              <a:rPr lang="en-US" sz="2100" dirty="0"/>
              <a:t>,…</a:t>
            </a:r>
            <a:endParaRPr lang="en-US" sz="2100" dirty="0">
              <a:solidFill>
                <a:srgbClr val="000000"/>
              </a:solidFill>
            </a:endParaRPr>
          </a:p>
          <a:p>
            <a:pPr marL="514350" lvl="1" indent="-285750">
              <a:buFont typeface="Courier New,monospace" panose="020B0604020202020204" pitchFamily="34" charset="0"/>
              <a:buChar char="o"/>
            </a:pPr>
            <a:r>
              <a:rPr lang="en-US" sz="2100" dirty="0" err="1"/>
              <a:t>Giáo</a:t>
            </a:r>
            <a:r>
              <a:rPr lang="en-US" sz="2100" dirty="0"/>
              <a:t> </a:t>
            </a:r>
            <a:r>
              <a:rPr lang="en-US" sz="2100" dirty="0" err="1"/>
              <a:t>dục</a:t>
            </a:r>
            <a:r>
              <a:rPr lang="en-US" sz="2100" dirty="0"/>
              <a:t>: </a:t>
            </a:r>
            <a:r>
              <a:rPr lang="en-US" sz="2100" dirty="0" err="1"/>
              <a:t>Tự</a:t>
            </a:r>
            <a:r>
              <a:rPr lang="en-US" sz="2100" dirty="0"/>
              <a:t> </a:t>
            </a:r>
            <a:r>
              <a:rPr lang="en-US" sz="2100" dirty="0" err="1"/>
              <a:t>động</a:t>
            </a:r>
            <a:r>
              <a:rPr lang="en-US" sz="2100" dirty="0"/>
              <a:t> </a:t>
            </a:r>
            <a:r>
              <a:rPr lang="en-US" sz="2100" dirty="0" err="1"/>
              <a:t>đánh</a:t>
            </a:r>
            <a:r>
              <a:rPr lang="en-US" sz="2100" dirty="0"/>
              <a:t> </a:t>
            </a:r>
            <a:r>
              <a:rPr lang="en-US" sz="2100" dirty="0" err="1"/>
              <a:t>giá</a:t>
            </a:r>
            <a:r>
              <a:rPr lang="en-US" sz="2100" dirty="0"/>
              <a:t> </a:t>
            </a:r>
            <a:r>
              <a:rPr lang="en-US" sz="2100" dirty="0" err="1"/>
              <a:t>năng</a:t>
            </a:r>
            <a:r>
              <a:rPr lang="en-US" sz="2100" dirty="0"/>
              <a:t> </a:t>
            </a:r>
            <a:r>
              <a:rPr lang="en-US" sz="2100" dirty="0" err="1"/>
              <a:t>lực</a:t>
            </a:r>
            <a:r>
              <a:rPr lang="en-US" sz="2100" dirty="0"/>
              <a:t>,..</a:t>
            </a:r>
            <a:endParaRPr lang="en-US" sz="2100" dirty="0">
              <a:solidFill>
                <a:srgbClr val="000000"/>
              </a:solidFill>
            </a:endParaRPr>
          </a:p>
          <a:p>
            <a:pPr marL="514350" lvl="1" indent="-285750">
              <a:buFont typeface="Courier New,monospace" panose="020B0604020202020204" pitchFamily="34" charset="0"/>
              <a:buChar char="o"/>
            </a:pPr>
            <a:r>
              <a:rPr lang="en-US" sz="2100" dirty="0"/>
              <a:t>Giao </a:t>
            </a:r>
            <a:r>
              <a:rPr lang="en-US" sz="2100" dirty="0" err="1"/>
              <a:t>thông</a:t>
            </a:r>
            <a:r>
              <a:rPr lang="en-US" sz="2100" dirty="0"/>
              <a:t>: Xe tự lái,…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425281-4E8E-3D85-9313-F10131D2DE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6AE619-62BF-4CD8-9633-3D2A74EEA389}" type="datetime1">
              <a:t>11/28/2025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FBD06A-EA45-21A2-C65B-726CA995F5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53C6E8-0F03-9BA1-F083-AE5FA15117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DE196-8A13-4FF7-A07E-102851959EAB}" type="slidenum">
              <a:rPr lang="en-US" dirty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94260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B9BF9E-B426-86E6-68A6-62B9DD67DE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F34C47-C713-20EE-7097-212DDAD403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1108" y="588245"/>
            <a:ext cx="10449784" cy="636450"/>
          </a:xfrm>
        </p:spPr>
        <p:txBody>
          <a:bodyPr/>
          <a:lstStyle/>
          <a:p>
            <a:r>
              <a:rPr lang="en-US" b="1" dirty="0">
                <a:latin typeface="Aptos"/>
              </a:rPr>
              <a:t>1, </a:t>
            </a:r>
            <a:r>
              <a:rPr lang="en-US" b="1" err="1">
                <a:latin typeface="Aptos"/>
              </a:rPr>
              <a:t>Nội</a:t>
            </a:r>
            <a:r>
              <a:rPr lang="en-US" b="1" dirty="0">
                <a:latin typeface="Aptos"/>
              </a:rPr>
              <a:t> dung </a:t>
            </a:r>
            <a:r>
              <a:rPr lang="en-US" b="1" err="1">
                <a:latin typeface="Aptos"/>
              </a:rPr>
              <a:t>về</a:t>
            </a:r>
            <a:r>
              <a:rPr lang="en-US" b="1" dirty="0">
                <a:latin typeface="Aptos"/>
              </a:rPr>
              <a:t> AI: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8A59EB-5296-1E92-1B4E-6D4D857F98E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77824" y="1375089"/>
            <a:ext cx="4977453" cy="2880308"/>
          </a:xfrm>
        </p:spPr>
        <p:txBody>
          <a:bodyPr vert="horz" lIns="91440" tIns="45720" rIns="91440" bIns="45720" rtlCol="0" anchor="t">
            <a:normAutofit fontScale="92500"/>
          </a:bodyPr>
          <a:lstStyle/>
          <a:p>
            <a:pPr marL="285750" indent="-285750">
              <a:lnSpc>
                <a:spcPct val="160000"/>
              </a:lnSpc>
              <a:buFont typeface="Calibri" panose="020B0604020202020204" pitchFamily="34" charset="0"/>
              <a:buChar char="-"/>
            </a:pPr>
            <a:r>
              <a:rPr lang="en-US" sz="2000" err="1"/>
              <a:t>Khái</a:t>
            </a:r>
            <a:r>
              <a:rPr lang="en-US" sz="2000" dirty="0"/>
              <a:t> </a:t>
            </a:r>
            <a:r>
              <a:rPr lang="en-US" sz="2000" err="1"/>
              <a:t>niệm</a:t>
            </a:r>
            <a:r>
              <a:rPr lang="en-US" sz="2000" dirty="0"/>
              <a:t> </a:t>
            </a:r>
            <a:r>
              <a:rPr lang="en-US" sz="2000" err="1"/>
              <a:t>về</a:t>
            </a:r>
            <a:r>
              <a:rPr lang="en-US" sz="2000" dirty="0"/>
              <a:t> Data:</a:t>
            </a:r>
          </a:p>
          <a:p>
            <a:pPr marL="514350" lvl="1" indent="-285750">
              <a:lnSpc>
                <a:spcPct val="160000"/>
              </a:lnSpc>
              <a:buFont typeface="Courier New" panose="020B0604020202020204" pitchFamily="34" charset="0"/>
              <a:buChar char="o"/>
            </a:pPr>
            <a:r>
              <a:rPr lang="en-US" sz="2000" dirty="0"/>
              <a:t>Data </a:t>
            </a:r>
            <a:r>
              <a:rPr lang="en-US" sz="2000" dirty="0" err="1"/>
              <a:t>là</a:t>
            </a:r>
            <a:r>
              <a:rPr lang="en-US" sz="2000" dirty="0"/>
              <a:t> </a:t>
            </a:r>
            <a:r>
              <a:rPr lang="en-US" sz="2000" dirty="0" err="1"/>
              <a:t>các</a:t>
            </a:r>
            <a:r>
              <a:rPr lang="en-US" sz="2000" dirty="0"/>
              <a:t> </a:t>
            </a:r>
            <a:r>
              <a:rPr lang="en-US" sz="2000" dirty="0" err="1"/>
              <a:t>thông</a:t>
            </a:r>
            <a:r>
              <a:rPr lang="en-US" sz="2000" dirty="0"/>
              <a:t> tin </a:t>
            </a:r>
            <a:r>
              <a:rPr lang="en-US" sz="2000" dirty="0" err="1"/>
              <a:t>thô</a:t>
            </a:r>
            <a:r>
              <a:rPr lang="en-US" sz="2000" dirty="0"/>
              <a:t> </a:t>
            </a:r>
            <a:r>
              <a:rPr lang="en-US" sz="2000" dirty="0" err="1"/>
              <a:t>được</a:t>
            </a:r>
            <a:r>
              <a:rPr lang="en-US" sz="2000" dirty="0"/>
              <a:t> </a:t>
            </a:r>
            <a:r>
              <a:rPr lang="en-US" sz="2000" dirty="0" err="1"/>
              <a:t>lấy</a:t>
            </a:r>
            <a:r>
              <a:rPr lang="en-US" sz="2000" dirty="0"/>
              <a:t> </a:t>
            </a:r>
            <a:r>
              <a:rPr lang="en-US" sz="2000" dirty="0" err="1"/>
              <a:t>từ</a:t>
            </a:r>
            <a:r>
              <a:rPr lang="en-US" sz="2000" dirty="0"/>
              <a:t> </a:t>
            </a:r>
            <a:r>
              <a:rPr lang="en-US" sz="2000" dirty="0" err="1"/>
              <a:t>thế</a:t>
            </a:r>
            <a:r>
              <a:rPr lang="en-US" sz="2000" dirty="0"/>
              <a:t> </a:t>
            </a:r>
            <a:r>
              <a:rPr lang="en-US" sz="2000" dirty="0" err="1"/>
              <a:t>giới</a:t>
            </a:r>
            <a:r>
              <a:rPr lang="en-US" sz="2000" dirty="0"/>
              <a:t> </a:t>
            </a:r>
            <a:r>
              <a:rPr lang="en-US" sz="2000" dirty="0" err="1"/>
              <a:t>thực</a:t>
            </a:r>
            <a:endParaRPr lang="en-US" sz="2000" dirty="0"/>
          </a:p>
          <a:p>
            <a:pPr marL="514350" lvl="1" indent="-285750">
              <a:lnSpc>
                <a:spcPct val="160000"/>
              </a:lnSpc>
              <a:buFont typeface="Courier New" panose="020B0604020202020204" pitchFamily="34" charset="0"/>
              <a:buChar char="o"/>
            </a:pPr>
            <a:r>
              <a:rPr lang="en-US" sz="2000" dirty="0"/>
              <a:t>Trong AI, Data </a:t>
            </a:r>
            <a:r>
              <a:rPr lang="en-US" sz="2000" err="1"/>
              <a:t>được</a:t>
            </a:r>
            <a:r>
              <a:rPr lang="en-US" sz="2000" dirty="0"/>
              <a:t> </a:t>
            </a:r>
            <a:r>
              <a:rPr lang="en-US" sz="2000" err="1"/>
              <a:t>kĩ</a:t>
            </a:r>
            <a:r>
              <a:rPr lang="en-US" sz="2000" dirty="0"/>
              <a:t> </a:t>
            </a:r>
            <a:r>
              <a:rPr lang="en-US" sz="2000" err="1"/>
              <a:t>thuật</a:t>
            </a:r>
            <a:r>
              <a:rPr lang="en-US" sz="2000" dirty="0"/>
              <a:t> </a:t>
            </a:r>
            <a:r>
              <a:rPr lang="en-US" sz="2000" err="1"/>
              <a:t>số</a:t>
            </a:r>
            <a:r>
              <a:rPr lang="en-US" sz="2000" dirty="0"/>
              <a:t> </a:t>
            </a:r>
            <a:r>
              <a:rPr lang="en-US" sz="2000" err="1"/>
              <a:t>hoá</a:t>
            </a:r>
            <a:r>
              <a:rPr lang="en-US" sz="2000" dirty="0"/>
              <a:t> </a:t>
            </a:r>
            <a:r>
              <a:rPr lang="en-US" sz="2000" err="1"/>
              <a:t>để</a:t>
            </a:r>
            <a:r>
              <a:rPr lang="en-US" sz="2000" dirty="0"/>
              <a:t> </a:t>
            </a:r>
            <a:r>
              <a:rPr lang="en-US" sz="2000" err="1"/>
              <a:t>máy</a:t>
            </a:r>
            <a:r>
              <a:rPr lang="en-US" sz="2000" dirty="0"/>
              <a:t> </a:t>
            </a:r>
            <a:r>
              <a:rPr lang="en-US" sz="2000" err="1"/>
              <a:t>tính</a:t>
            </a:r>
            <a:r>
              <a:rPr lang="en-US" sz="2000" dirty="0"/>
              <a:t> </a:t>
            </a:r>
            <a:r>
              <a:rPr lang="en-US" sz="2000" err="1"/>
              <a:t>có</a:t>
            </a:r>
            <a:r>
              <a:rPr lang="en-US" sz="2000" dirty="0"/>
              <a:t> </a:t>
            </a:r>
            <a:r>
              <a:rPr lang="en-US" sz="2000" err="1"/>
              <a:t>thể</a:t>
            </a:r>
            <a:r>
              <a:rPr lang="en-US" sz="2000" dirty="0"/>
              <a:t> </a:t>
            </a:r>
            <a:r>
              <a:rPr lang="en-US" sz="2000" err="1"/>
              <a:t>đọc</a:t>
            </a:r>
            <a:r>
              <a:rPr lang="en-US" sz="2000" dirty="0"/>
              <a:t> </a:t>
            </a:r>
            <a:r>
              <a:rPr lang="en-US" sz="2000" err="1"/>
              <a:t>được</a:t>
            </a:r>
            <a:r>
              <a:rPr lang="en-US" sz="2000" dirty="0"/>
              <a:t>.</a:t>
            </a:r>
          </a:p>
          <a:p>
            <a:pPr marL="514350" lvl="1" indent="-285750">
              <a:lnSpc>
                <a:spcPct val="160000"/>
              </a:lnSpc>
              <a:buFont typeface="Courier New" panose="020B0604020202020204" pitchFamily="34" charset="0"/>
              <a:buChar char="o"/>
            </a:pPr>
            <a:endParaRPr lang="en-US" sz="2000"/>
          </a:p>
          <a:p>
            <a:pPr marL="514350" lvl="1" indent="-285750">
              <a:buFont typeface="Courier New" panose="020B0604020202020204" pitchFamily="34" charset="0"/>
              <a:buChar char="o"/>
            </a:pPr>
            <a:endParaRPr lang="en-US" sz="2000" dirty="0"/>
          </a:p>
          <a:p>
            <a:pPr marL="285750" indent="-285750">
              <a:buFont typeface="Calibri" panose="020B0604020202020204" pitchFamily="34" charset="0"/>
              <a:buChar char="-"/>
            </a:pPr>
            <a:endParaRPr lang="en-US" sz="2000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443CAEB7-A986-841A-820A-08CFC74E8FA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28391" y="1375089"/>
            <a:ext cx="4985785" cy="3311005"/>
          </a:xfrm>
        </p:spPr>
        <p:txBody>
          <a:bodyPr vert="horz" lIns="91440" tIns="45720" rIns="91440" bIns="45720" rtlCol="0" anchor="t">
            <a:normAutofit fontScale="92500"/>
          </a:bodyPr>
          <a:lstStyle/>
          <a:p>
            <a:pPr marL="342900" indent="-342900">
              <a:buFont typeface="Calibri" panose="020B0604020202020204" pitchFamily="34" charset="0"/>
              <a:buChar char="-"/>
            </a:pPr>
            <a:r>
              <a:rPr lang="en-US" sz="2100" dirty="0" err="1"/>
              <a:t>Tại</a:t>
            </a:r>
            <a:r>
              <a:rPr lang="en-US" sz="2100" dirty="0"/>
              <a:t> </a:t>
            </a:r>
            <a:r>
              <a:rPr lang="en-US" sz="2100" dirty="0" err="1"/>
              <a:t>sao</a:t>
            </a:r>
            <a:r>
              <a:rPr lang="en-US" sz="2100" dirty="0"/>
              <a:t> </a:t>
            </a:r>
            <a:r>
              <a:rPr lang="en-US" sz="2100" dirty="0" err="1"/>
              <a:t>Dữ</a:t>
            </a:r>
            <a:r>
              <a:rPr lang="en-US" sz="2100" dirty="0"/>
              <a:t> </a:t>
            </a:r>
            <a:r>
              <a:rPr lang="en-US" sz="2100" dirty="0" err="1"/>
              <a:t>liệu</a:t>
            </a:r>
            <a:r>
              <a:rPr lang="en-US" sz="2100" dirty="0"/>
              <a:t> </a:t>
            </a:r>
            <a:r>
              <a:rPr lang="en-US" sz="2100" dirty="0" err="1"/>
              <a:t>lại</a:t>
            </a:r>
            <a:r>
              <a:rPr lang="en-US" sz="2100" dirty="0"/>
              <a:t> </a:t>
            </a:r>
            <a:r>
              <a:rPr lang="en-US" sz="2100" dirty="0" err="1"/>
              <a:t>quan</a:t>
            </a:r>
            <a:r>
              <a:rPr lang="en-US" sz="2100" dirty="0"/>
              <a:t> </a:t>
            </a:r>
            <a:r>
              <a:rPr lang="en-US" sz="2100" dirty="0" err="1"/>
              <a:t>trọng</a:t>
            </a:r>
            <a:r>
              <a:rPr lang="en-US" sz="2100" dirty="0"/>
              <a:t> </a:t>
            </a:r>
            <a:r>
              <a:rPr lang="en-US" sz="2100" dirty="0" err="1"/>
              <a:t>trong</a:t>
            </a:r>
            <a:r>
              <a:rPr lang="en-US" sz="2100" dirty="0"/>
              <a:t> AI:</a:t>
            </a:r>
            <a:endParaRPr lang="en-US" sz="2100" dirty="0">
              <a:solidFill>
                <a:srgbClr val="35403A"/>
              </a:solidFill>
            </a:endParaRPr>
          </a:p>
          <a:p>
            <a:pPr marL="514350" lvl="1" indent="-285750">
              <a:buFont typeface="Courier New,monospace" panose="020B0604020202020204" pitchFamily="34" charset="0"/>
              <a:buChar char="o"/>
            </a:pPr>
            <a:r>
              <a:rPr lang="en-US" sz="2100" dirty="0"/>
              <a:t>Data </a:t>
            </a:r>
            <a:r>
              <a:rPr lang="en-US" sz="2100" err="1"/>
              <a:t>được</a:t>
            </a:r>
            <a:r>
              <a:rPr lang="en-US" sz="2100" dirty="0"/>
              <a:t> </a:t>
            </a:r>
            <a:r>
              <a:rPr lang="en-US" sz="2100" err="1"/>
              <a:t>ví</a:t>
            </a:r>
            <a:r>
              <a:rPr lang="en-US" sz="2100" dirty="0"/>
              <a:t> </a:t>
            </a:r>
            <a:r>
              <a:rPr lang="en-US" sz="2100" err="1"/>
              <a:t>như</a:t>
            </a:r>
            <a:r>
              <a:rPr lang="en-US" sz="2100" dirty="0"/>
              <a:t>  "</a:t>
            </a:r>
            <a:r>
              <a:rPr lang="en-US" sz="2100" err="1"/>
              <a:t>nhiên</a:t>
            </a:r>
            <a:r>
              <a:rPr lang="en-US" sz="2100" dirty="0"/>
              <a:t> </a:t>
            </a:r>
            <a:r>
              <a:rPr lang="en-US" sz="2100" err="1"/>
              <a:t>liệu</a:t>
            </a:r>
            <a:r>
              <a:rPr lang="en-US" sz="2100" dirty="0"/>
              <a:t>" </a:t>
            </a:r>
            <a:r>
              <a:rPr lang="en-US" sz="2100" err="1"/>
              <a:t>cho</a:t>
            </a:r>
            <a:r>
              <a:rPr lang="en-US" sz="2100" dirty="0"/>
              <a:t> "</a:t>
            </a:r>
            <a:r>
              <a:rPr lang="en-US" sz="2100" err="1"/>
              <a:t>động</a:t>
            </a:r>
            <a:r>
              <a:rPr lang="en-US" sz="2100" dirty="0"/>
              <a:t> </a:t>
            </a:r>
            <a:r>
              <a:rPr lang="en-US" sz="2100" err="1"/>
              <a:t>cơ</a:t>
            </a:r>
            <a:r>
              <a:rPr lang="en-US" sz="2100" dirty="0"/>
              <a:t>" AI, </a:t>
            </a:r>
            <a:r>
              <a:rPr lang="en-US" sz="2100" err="1"/>
              <a:t>vì</a:t>
            </a:r>
            <a:r>
              <a:rPr lang="en-US" sz="2100" dirty="0"/>
              <a:t> </a:t>
            </a:r>
            <a:r>
              <a:rPr lang="en-US" sz="2100" err="1"/>
              <a:t>nó</a:t>
            </a:r>
            <a:r>
              <a:rPr lang="en-US" sz="2100" dirty="0"/>
              <a:t> </a:t>
            </a:r>
            <a:r>
              <a:rPr lang="en-US" sz="2100" err="1"/>
              <a:t>đóng</a:t>
            </a:r>
            <a:r>
              <a:rPr lang="en-US" sz="2100" dirty="0"/>
              <a:t> </a:t>
            </a:r>
            <a:r>
              <a:rPr lang="en-US" sz="2100" err="1"/>
              <a:t>vai</a:t>
            </a:r>
            <a:r>
              <a:rPr lang="en-US" sz="2100" dirty="0"/>
              <a:t> </a:t>
            </a:r>
            <a:r>
              <a:rPr lang="en-US" sz="2100" err="1"/>
              <a:t>trò</a:t>
            </a:r>
            <a:r>
              <a:rPr lang="en-US" sz="2100" dirty="0"/>
              <a:t> </a:t>
            </a:r>
            <a:r>
              <a:rPr lang="en-US" sz="2100" err="1"/>
              <a:t>quan</a:t>
            </a:r>
            <a:r>
              <a:rPr lang="en-US" sz="2100" dirty="0"/>
              <a:t> </a:t>
            </a:r>
            <a:r>
              <a:rPr lang="en-US" sz="2100" err="1"/>
              <a:t>trọng</a:t>
            </a:r>
            <a:r>
              <a:rPr lang="en-US" sz="2100" dirty="0"/>
              <a:t> </a:t>
            </a:r>
            <a:r>
              <a:rPr lang="en-US" sz="2100" err="1"/>
              <a:t>để</a:t>
            </a:r>
            <a:r>
              <a:rPr lang="en-US" sz="2100" dirty="0"/>
              <a:t> </a:t>
            </a:r>
            <a:r>
              <a:rPr lang="en-US" sz="2100" err="1"/>
              <a:t>tạo</a:t>
            </a:r>
            <a:r>
              <a:rPr lang="en-US" sz="2100" dirty="0"/>
              <a:t> </a:t>
            </a:r>
            <a:r>
              <a:rPr lang="en-US" sz="2100" err="1"/>
              <a:t>ra</a:t>
            </a:r>
            <a:r>
              <a:rPr lang="en-US" sz="2100"/>
              <a:t> AI.</a:t>
            </a:r>
          </a:p>
          <a:p>
            <a:pPr marL="742950" lvl="2">
              <a:buFont typeface="Wingdings" panose="020B0604020202020204" pitchFamily="34" charset="0"/>
              <a:buChar char="§"/>
            </a:pPr>
            <a:r>
              <a:rPr lang="en-US" sz="1900" dirty="0"/>
              <a:t>Data </a:t>
            </a:r>
            <a:r>
              <a:rPr lang="en-US" sz="1900" err="1"/>
              <a:t>được</a:t>
            </a:r>
            <a:r>
              <a:rPr lang="en-US" sz="1900" dirty="0"/>
              <a:t> </a:t>
            </a:r>
            <a:r>
              <a:rPr lang="en-US" sz="1900" err="1"/>
              <a:t>dùng</a:t>
            </a:r>
            <a:r>
              <a:rPr lang="en-US" sz="1900" dirty="0"/>
              <a:t> </a:t>
            </a:r>
            <a:r>
              <a:rPr lang="en-US" sz="1900" err="1"/>
              <a:t>để</a:t>
            </a:r>
            <a:r>
              <a:rPr lang="en-US" sz="1900" dirty="0"/>
              <a:t> </a:t>
            </a:r>
            <a:r>
              <a:rPr lang="en-US" sz="1900" err="1"/>
              <a:t>Huấn</a:t>
            </a:r>
            <a:r>
              <a:rPr lang="en-US" sz="1900" dirty="0"/>
              <a:t> </a:t>
            </a:r>
            <a:r>
              <a:rPr lang="en-US" sz="1900" err="1"/>
              <a:t>luyện</a:t>
            </a:r>
            <a:r>
              <a:rPr lang="en-US" sz="1900" dirty="0"/>
              <a:t> </a:t>
            </a:r>
            <a:r>
              <a:rPr lang="en-US" sz="1900" err="1"/>
              <a:t>mô</a:t>
            </a:r>
            <a:r>
              <a:rPr lang="en-US" sz="1900" dirty="0"/>
              <a:t> </a:t>
            </a:r>
            <a:r>
              <a:rPr lang="en-US" sz="1900" err="1"/>
              <a:t>hình</a:t>
            </a:r>
            <a:r>
              <a:rPr lang="en-US" sz="1900" dirty="0"/>
              <a:t> AI</a:t>
            </a:r>
          </a:p>
          <a:p>
            <a:pPr marL="742950" lvl="2">
              <a:buFont typeface="Wingdings" panose="020B0604020202020204" pitchFamily="34" charset="0"/>
              <a:buChar char="§"/>
            </a:pPr>
            <a:r>
              <a:rPr lang="en-US" sz="1900" dirty="0"/>
              <a:t>Data </a:t>
            </a:r>
            <a:r>
              <a:rPr lang="en-US" sz="1900" dirty="0" err="1"/>
              <a:t>cũng</a:t>
            </a:r>
            <a:r>
              <a:rPr lang="en-US" sz="1900" dirty="0"/>
              <a:t> </a:t>
            </a:r>
            <a:r>
              <a:rPr lang="en-US" sz="1900" dirty="0" err="1"/>
              <a:t>có</a:t>
            </a:r>
            <a:r>
              <a:rPr lang="en-US" sz="1900" dirty="0"/>
              <a:t> </a:t>
            </a:r>
            <a:r>
              <a:rPr lang="en-US" sz="1900" dirty="0" err="1"/>
              <a:t>thể</a:t>
            </a:r>
            <a:r>
              <a:rPr lang="en-US" sz="1900" dirty="0"/>
              <a:t> </a:t>
            </a:r>
            <a:r>
              <a:rPr lang="en-US" sz="1900" dirty="0" err="1"/>
              <a:t>tăng</a:t>
            </a:r>
            <a:r>
              <a:rPr lang="en-US" sz="1900" dirty="0"/>
              <a:t> </a:t>
            </a:r>
            <a:r>
              <a:rPr lang="en-US" sz="1900" dirty="0" err="1"/>
              <a:t>độ</a:t>
            </a:r>
            <a:r>
              <a:rPr lang="en-US" sz="1900" dirty="0"/>
              <a:t> </a:t>
            </a:r>
            <a:r>
              <a:rPr lang="en-US" sz="1900" dirty="0" err="1"/>
              <a:t>chính</a:t>
            </a:r>
            <a:r>
              <a:rPr lang="en-US" sz="1900" dirty="0"/>
              <a:t> </a:t>
            </a:r>
            <a:r>
              <a:rPr lang="en-US" sz="1900" dirty="0" err="1"/>
              <a:t>xác</a:t>
            </a:r>
            <a:r>
              <a:rPr lang="en-US" sz="1900" dirty="0"/>
              <a:t> </a:t>
            </a:r>
            <a:r>
              <a:rPr lang="en-US" sz="1900" dirty="0" err="1"/>
              <a:t>của</a:t>
            </a:r>
            <a:r>
              <a:rPr lang="en-US" sz="1900" dirty="0"/>
              <a:t> </a:t>
            </a:r>
            <a:r>
              <a:rPr lang="en-US" sz="1900" dirty="0" err="1"/>
              <a:t>mô</a:t>
            </a:r>
            <a:r>
              <a:rPr lang="en-US" sz="1900" dirty="0"/>
              <a:t> </a:t>
            </a:r>
            <a:r>
              <a:rPr lang="en-US" sz="1900" dirty="0" err="1"/>
              <a:t>hình</a:t>
            </a:r>
            <a:r>
              <a:rPr lang="en-US" sz="1900" dirty="0"/>
              <a:t> AI.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489C19-2223-70D7-F9BC-AA44DC1F4F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6AE619-62BF-4CD8-9633-3D2A74EEA389}" type="datetime1">
              <a:t>11/28/2025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691382-21B1-618B-CEF9-41A72EBF51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37D92D-21D4-24A0-0418-6E1B739C05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DE196-8A13-4FF7-A07E-102851959EAB}" type="slidenum">
              <a:rPr lang="en-US" dirty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12759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1151A7-BABE-6B07-85DE-DFA69AE608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807868"/>
            <a:ext cx="3916799" cy="615899"/>
          </a:xfrm>
        </p:spPr>
        <p:txBody>
          <a:bodyPr>
            <a:normAutofit fontScale="90000"/>
          </a:bodyPr>
          <a:lstStyle/>
          <a:p>
            <a:r>
              <a:rPr lang="en-US" b="1" dirty="0">
                <a:latin typeface="Aptos"/>
              </a:rPr>
              <a:t>3 </a:t>
            </a:r>
            <a:r>
              <a:rPr lang="en-US" b="1" dirty="0" err="1">
                <a:latin typeface="Aptos"/>
              </a:rPr>
              <a:t>loại</a:t>
            </a:r>
            <a:r>
              <a:rPr lang="en-US" b="1" dirty="0">
                <a:latin typeface="Aptos"/>
              </a:rPr>
              <a:t> </a:t>
            </a:r>
            <a:r>
              <a:rPr lang="en-US" b="1" dirty="0" err="1">
                <a:latin typeface="Aptos"/>
              </a:rPr>
              <a:t>bài</a:t>
            </a:r>
            <a:r>
              <a:rPr lang="en-US" b="1" dirty="0">
                <a:latin typeface="Aptos"/>
              </a:rPr>
              <a:t> </a:t>
            </a:r>
            <a:r>
              <a:rPr lang="en-US" b="1" dirty="0" err="1">
                <a:latin typeface="Aptos"/>
              </a:rPr>
              <a:t>toán</a:t>
            </a:r>
            <a:r>
              <a:rPr lang="en-US" b="1" dirty="0">
                <a:latin typeface="Aptos"/>
              </a:rPr>
              <a:t> </a:t>
            </a:r>
            <a:r>
              <a:rPr lang="en-US" b="1" dirty="0" err="1">
                <a:latin typeface="Aptos"/>
              </a:rPr>
              <a:t>chính</a:t>
            </a:r>
            <a:r>
              <a:rPr lang="en-US" b="1" dirty="0">
                <a:latin typeface="Aptos"/>
              </a:rPr>
              <a:t> </a:t>
            </a:r>
            <a:r>
              <a:rPr lang="en-US" b="1" dirty="0" err="1">
                <a:latin typeface="Aptos"/>
              </a:rPr>
              <a:t>trong</a:t>
            </a:r>
            <a:r>
              <a:rPr lang="en-US" b="1" dirty="0">
                <a:latin typeface="Aptos"/>
              </a:rPr>
              <a:t> Machine Learning</a:t>
            </a:r>
            <a:br>
              <a:rPr lang="en-US" b="1" dirty="0">
                <a:latin typeface="Aptos"/>
              </a:rPr>
            </a:br>
            <a:endParaRPr lang="en-US"/>
          </a:p>
        </p:txBody>
      </p:sp>
      <p:graphicFrame>
        <p:nvGraphicFramePr>
          <p:cNvPr id="9" name="Content Placeholder 8">
            <a:extLst>
              <a:ext uri="{FF2B5EF4-FFF2-40B4-BE49-F238E27FC236}">
                <a16:creationId xmlns:a16="http://schemas.microsoft.com/office/drawing/2014/main" id="{A6EBA857-6BA2-8EF2-A70F-893D4D0A8B0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2305486"/>
              </p:ext>
            </p:extLst>
          </p:nvPr>
        </p:nvGraphicFramePr>
        <p:xfrm>
          <a:off x="5156338" y="300038"/>
          <a:ext cx="6793878" cy="644398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100145">
                  <a:extLst>
                    <a:ext uri="{9D8B030D-6E8A-4147-A177-3AD203B41FA5}">
                      <a16:colId xmlns:a16="http://schemas.microsoft.com/office/drawing/2014/main" val="2105669466"/>
                    </a:ext>
                  </a:extLst>
                </a:gridCol>
                <a:gridCol w="1959030">
                  <a:extLst>
                    <a:ext uri="{9D8B030D-6E8A-4147-A177-3AD203B41FA5}">
                      <a16:colId xmlns:a16="http://schemas.microsoft.com/office/drawing/2014/main" val="2510110220"/>
                    </a:ext>
                  </a:extLst>
                </a:gridCol>
                <a:gridCol w="1833575">
                  <a:extLst>
                    <a:ext uri="{9D8B030D-6E8A-4147-A177-3AD203B41FA5}">
                      <a16:colId xmlns:a16="http://schemas.microsoft.com/office/drawing/2014/main" val="869405043"/>
                    </a:ext>
                  </a:extLst>
                </a:gridCol>
                <a:gridCol w="1901128">
                  <a:extLst>
                    <a:ext uri="{9D8B030D-6E8A-4147-A177-3AD203B41FA5}">
                      <a16:colId xmlns:a16="http://schemas.microsoft.com/office/drawing/2014/main" val="1200418485"/>
                    </a:ext>
                  </a:extLst>
                </a:gridCol>
              </a:tblGrid>
              <a:tr h="609502"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650"/>
                        </a:lnSpc>
                        <a:buNone/>
                      </a:pPr>
                      <a:r>
                        <a:rPr lang="vi-VN" sz="1400" b="1">
                          <a:effectLst/>
                          <a:latin typeface="Aptos" panose="020B0004020202020204" pitchFamily="34" charset="0"/>
                        </a:rPr>
                        <a:t>Tiêu chí</a:t>
                      </a:r>
                      <a:r>
                        <a:rPr lang="vi-VN" sz="1400">
                          <a:effectLst/>
                          <a:latin typeface="Aptos" panose="020B0004020202020204" pitchFamily="34" charset="0"/>
                        </a:rPr>
                        <a:t> </a:t>
                      </a:r>
                      <a:endParaRPr lang="vi-VN">
                        <a:effectLst/>
                      </a:endParaRPr>
                    </a:p>
                  </a:txBody>
                  <a:tcPr marL="66675" marR="6667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650"/>
                        </a:lnSpc>
                        <a:buNone/>
                      </a:pPr>
                      <a:r>
                        <a:rPr lang="vi-VN" sz="1400" b="1">
                          <a:effectLst/>
                          <a:latin typeface="Aptos" panose="020B0004020202020204" pitchFamily="34" charset="0"/>
                        </a:rPr>
                        <a:t>Học có giám sát (Supervised Learning)</a:t>
                      </a:r>
                      <a:r>
                        <a:rPr lang="vi-VN" sz="1400">
                          <a:effectLst/>
                          <a:latin typeface="Aptos" panose="020B0004020202020204" pitchFamily="34" charset="0"/>
                        </a:rPr>
                        <a:t> </a:t>
                      </a:r>
                      <a:endParaRPr lang="vi-VN">
                        <a:effectLst/>
                      </a:endParaRPr>
                    </a:p>
                  </a:txBody>
                  <a:tcPr marL="66675" marR="6667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650"/>
                        </a:lnSpc>
                        <a:buNone/>
                      </a:pPr>
                      <a:r>
                        <a:rPr lang="vi-VN" sz="1400" b="1">
                          <a:effectLst/>
                          <a:latin typeface="Aptos" panose="020B0004020202020204" pitchFamily="34" charset="0"/>
                        </a:rPr>
                        <a:t>Học không giám sát (Unsupervised Learning)</a:t>
                      </a:r>
                      <a:r>
                        <a:rPr lang="vi-VN" sz="1400">
                          <a:effectLst/>
                          <a:latin typeface="Aptos" panose="020B0004020202020204" pitchFamily="34" charset="0"/>
                        </a:rPr>
                        <a:t> </a:t>
                      </a:r>
                      <a:endParaRPr lang="vi-VN">
                        <a:effectLst/>
                      </a:endParaRPr>
                    </a:p>
                  </a:txBody>
                  <a:tcPr marL="66675" marR="6667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650"/>
                        </a:lnSpc>
                        <a:buNone/>
                      </a:pPr>
                      <a:r>
                        <a:rPr lang="vi-VN" sz="1400" b="1">
                          <a:effectLst/>
                          <a:latin typeface="Aptos" panose="020B0004020202020204" pitchFamily="34" charset="0"/>
                        </a:rPr>
                        <a:t>Học tăng cường (Reinforcement Learning)</a:t>
                      </a:r>
                      <a:r>
                        <a:rPr lang="vi-VN" sz="1400">
                          <a:effectLst/>
                          <a:latin typeface="Aptos" panose="020B0004020202020204" pitchFamily="34" charset="0"/>
                        </a:rPr>
                        <a:t> </a:t>
                      </a:r>
                      <a:endParaRPr lang="vi-VN">
                        <a:effectLst/>
                      </a:endParaRPr>
                    </a:p>
                  </a:txBody>
                  <a:tcPr marL="66675" marR="6667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84737558"/>
                  </a:ext>
                </a:extLst>
              </a:tr>
              <a:tr h="517501"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650"/>
                        </a:lnSpc>
                        <a:buNone/>
                      </a:pPr>
                      <a:r>
                        <a:rPr lang="vi-VN" sz="1400" b="1">
                          <a:effectLst/>
                          <a:latin typeface="Aptos" panose="020B0004020202020204" pitchFamily="34" charset="0"/>
                        </a:rPr>
                        <a:t>Định nghĩa</a:t>
                      </a:r>
                      <a:r>
                        <a:rPr lang="vi-VN" sz="1400">
                          <a:effectLst/>
                          <a:latin typeface="Aptos" panose="020B0004020202020204" pitchFamily="34" charset="0"/>
                        </a:rPr>
                        <a:t> </a:t>
                      </a:r>
                      <a:endParaRPr lang="vi-VN">
                        <a:effectLst/>
                      </a:endParaRPr>
                    </a:p>
                  </a:txBody>
                  <a:tcPr marL="66675" marR="6667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350"/>
                        </a:lnSpc>
                        <a:buNone/>
                      </a:pPr>
                      <a:r>
                        <a:rPr lang="vi-VN" sz="1200">
                          <a:effectLst/>
                          <a:latin typeface="Aptos" panose="020B0004020202020204" pitchFamily="34" charset="0"/>
                        </a:rPr>
                        <a:t>Máy học từ những dữ liệu đã được gán nhãn (có đáp án trước) </a:t>
                      </a:r>
                      <a:endParaRPr lang="vi-VN">
                        <a:effectLst/>
                      </a:endParaRPr>
                    </a:p>
                  </a:txBody>
                  <a:tcPr marL="66675" marR="6667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350"/>
                        </a:lnSpc>
                        <a:buNone/>
                      </a:pPr>
                      <a:r>
                        <a:rPr lang="vi-VN" sz="1200">
                          <a:effectLst/>
                          <a:latin typeface="Aptos" panose="020B0004020202020204" pitchFamily="34" charset="0"/>
                        </a:rPr>
                        <a:t>Máy học từ dữ liệu chưa được gán nhãn (không có đáp án mẫu) </a:t>
                      </a:r>
                      <a:endParaRPr lang="vi-VN">
                        <a:effectLst/>
                      </a:endParaRPr>
                    </a:p>
                  </a:txBody>
                  <a:tcPr marL="66675" marR="6667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350"/>
                        </a:lnSpc>
                        <a:buNone/>
                      </a:pPr>
                      <a:r>
                        <a:rPr lang="vi-VN" sz="1200">
                          <a:effectLst/>
                          <a:latin typeface="Aptos" panose="020B0004020202020204" pitchFamily="34" charset="0"/>
                        </a:rPr>
                        <a:t>Máy học từ tương tác với môi trường theo cơ chế “Đúng và sai" </a:t>
                      </a:r>
                      <a:endParaRPr lang="vi-VN">
                        <a:effectLst/>
                      </a:endParaRPr>
                    </a:p>
                  </a:txBody>
                  <a:tcPr marL="66675" marR="6667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49150616"/>
                  </a:ext>
                </a:extLst>
              </a:tr>
              <a:tr h="517501"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650"/>
                        </a:lnSpc>
                        <a:buNone/>
                      </a:pPr>
                      <a:r>
                        <a:rPr lang="vi-VN" sz="1400" b="1">
                          <a:effectLst/>
                          <a:latin typeface="Aptos" panose="020B0004020202020204" pitchFamily="34" charset="0"/>
                        </a:rPr>
                        <a:t>Dữ liệu đầu vào</a:t>
                      </a:r>
                      <a:r>
                        <a:rPr lang="vi-VN" sz="1400">
                          <a:effectLst/>
                          <a:latin typeface="Aptos" panose="020B0004020202020204" pitchFamily="34" charset="0"/>
                        </a:rPr>
                        <a:t> </a:t>
                      </a:r>
                      <a:endParaRPr lang="vi-VN">
                        <a:effectLst/>
                      </a:endParaRPr>
                    </a:p>
                  </a:txBody>
                  <a:tcPr marL="66675" marR="6667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350"/>
                        </a:lnSpc>
                        <a:buNone/>
                      </a:pPr>
                      <a:r>
                        <a:rPr lang="vi-VN" sz="1200">
                          <a:effectLst/>
                          <a:latin typeface="Aptos" panose="020B0004020202020204" pitchFamily="34" charset="0"/>
                        </a:rPr>
                        <a:t>Dữ liệu có cấu trúc kèm theo Kết quả. </a:t>
                      </a:r>
                      <a:endParaRPr lang="vi-VN">
                        <a:effectLst/>
                      </a:endParaRPr>
                    </a:p>
                  </a:txBody>
                  <a:tcPr marL="66675" marR="6667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350"/>
                        </a:lnSpc>
                        <a:buNone/>
                      </a:pPr>
                      <a:r>
                        <a:rPr lang="vi-VN" sz="1200">
                          <a:effectLst/>
                          <a:latin typeface="Aptos" panose="020B0004020202020204" pitchFamily="34" charset="0"/>
                        </a:rPr>
                        <a:t>Chỉ có dữ liệu đầu vào (input), không có nhãn (kết quả) </a:t>
                      </a:r>
                      <a:endParaRPr lang="vi-VN">
                        <a:effectLst/>
                      </a:endParaRPr>
                    </a:p>
                  </a:txBody>
                  <a:tcPr marL="66675" marR="6667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350"/>
                        </a:lnSpc>
                        <a:buNone/>
                      </a:pPr>
                      <a:r>
                        <a:rPr lang="vi-VN" sz="1200">
                          <a:effectLst/>
                          <a:latin typeface="Aptos" panose="020B0004020202020204" pitchFamily="34" charset="0"/>
                        </a:rPr>
                        <a:t>Trạng thái và Hoạt động trong môi trường cụ thể </a:t>
                      </a:r>
                      <a:endParaRPr lang="vi-VN">
                        <a:effectLst/>
                      </a:endParaRPr>
                    </a:p>
                  </a:txBody>
                  <a:tcPr marL="66675" marR="6667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91382134"/>
                  </a:ext>
                </a:extLst>
              </a:tr>
              <a:tr h="517501"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650"/>
                        </a:lnSpc>
                        <a:buNone/>
                      </a:pPr>
                      <a:r>
                        <a:rPr lang="vi-VN" sz="1400" b="1">
                          <a:effectLst/>
                          <a:latin typeface="Aptos" panose="020B0004020202020204" pitchFamily="34" charset="0"/>
                        </a:rPr>
                        <a:t>Mục tiêu</a:t>
                      </a:r>
                      <a:r>
                        <a:rPr lang="vi-VN" sz="1400">
                          <a:effectLst/>
                          <a:latin typeface="Aptos" panose="020B0004020202020204" pitchFamily="34" charset="0"/>
                        </a:rPr>
                        <a:t> </a:t>
                      </a:r>
                      <a:endParaRPr lang="vi-VN">
                        <a:effectLst/>
                      </a:endParaRPr>
                    </a:p>
                  </a:txBody>
                  <a:tcPr marL="66675" marR="6667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350"/>
                        </a:lnSpc>
                        <a:buNone/>
                      </a:pPr>
                      <a:r>
                        <a:rPr lang="vi-VN" sz="1200">
                          <a:effectLst/>
                          <a:latin typeface="Aptos" panose="020B0004020202020204" pitchFamily="34" charset="0"/>
                        </a:rPr>
                        <a:t>Dự đoán kết quả đầu ra cho dữ liệu mới hoặc phân loại dữ liệu. </a:t>
                      </a:r>
                      <a:endParaRPr lang="vi-VN">
                        <a:effectLst/>
                      </a:endParaRPr>
                    </a:p>
                  </a:txBody>
                  <a:tcPr marL="66675" marR="6667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350"/>
                        </a:lnSpc>
                        <a:buNone/>
                      </a:pPr>
                      <a:r>
                        <a:rPr lang="vi-VN" sz="1200">
                          <a:effectLst/>
                          <a:latin typeface="Aptos" panose="020B0004020202020204" pitchFamily="34" charset="0"/>
                        </a:rPr>
                        <a:t>Tìm ra cấu trúc ẩn, mô hình hoặc mối liên hệ bên trong dữ liệu. </a:t>
                      </a:r>
                      <a:endParaRPr lang="vi-VN">
                        <a:effectLst/>
                      </a:endParaRPr>
                    </a:p>
                  </a:txBody>
                  <a:tcPr marL="66675" marR="6667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350"/>
                        </a:lnSpc>
                        <a:buNone/>
                      </a:pPr>
                      <a:r>
                        <a:rPr lang="vi-VN" sz="1200">
                          <a:effectLst/>
                          <a:latin typeface="Aptos" panose="020B0004020202020204" pitchFamily="34" charset="0"/>
                        </a:rPr>
                        <a:t>Tìm ra chuỗi hành động tối ưu để có để đạt Phần thưởng tích luỹ tốt nhất. </a:t>
                      </a:r>
                      <a:endParaRPr lang="vi-VN">
                        <a:effectLst/>
                      </a:endParaRPr>
                    </a:p>
                  </a:txBody>
                  <a:tcPr marL="66675" marR="6667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0070491"/>
                  </a:ext>
                </a:extLst>
              </a:tr>
              <a:tr h="655502"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650"/>
                        </a:lnSpc>
                        <a:buNone/>
                      </a:pPr>
                      <a:r>
                        <a:rPr lang="vi-VN" sz="1400" b="1">
                          <a:effectLst/>
                          <a:latin typeface="Aptos" panose="020B0004020202020204" pitchFamily="34" charset="0"/>
                        </a:rPr>
                        <a:t>Phản hồi</a:t>
                      </a:r>
                      <a:r>
                        <a:rPr lang="vi-VN" sz="1400">
                          <a:effectLst/>
                          <a:latin typeface="Aptos" panose="020B0004020202020204" pitchFamily="34" charset="0"/>
                        </a:rPr>
                        <a:t> </a:t>
                      </a:r>
                      <a:endParaRPr lang="vi-VN">
                        <a:effectLst/>
                      </a:endParaRPr>
                    </a:p>
                  </a:txBody>
                  <a:tcPr marL="66675" marR="6667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350"/>
                        </a:lnSpc>
                        <a:buNone/>
                      </a:pPr>
                      <a:r>
                        <a:rPr lang="vi-VN" sz="1200">
                          <a:effectLst/>
                          <a:latin typeface="Aptos" panose="020B0004020202020204" pitchFamily="34" charset="0"/>
                        </a:rPr>
                        <a:t>Trực tiếp và cụ thể (Máy biết kết quả dự đoán đúng hay sai ngay lập tức) </a:t>
                      </a:r>
                      <a:endParaRPr lang="vi-VN">
                        <a:effectLst/>
                      </a:endParaRPr>
                    </a:p>
                  </a:txBody>
                  <a:tcPr marL="66675" marR="6667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350"/>
                        </a:lnSpc>
                        <a:buNone/>
                      </a:pPr>
                      <a:r>
                        <a:rPr lang="vi-VN" sz="1200">
                          <a:effectLst/>
                          <a:latin typeface="Aptos" panose="020B0004020202020204" pitchFamily="34" charset="0"/>
                        </a:rPr>
                        <a:t>Không có phản hồi cụ thể </a:t>
                      </a:r>
                      <a:endParaRPr lang="vi-VN">
                        <a:effectLst/>
                      </a:endParaRPr>
                    </a:p>
                  </a:txBody>
                  <a:tcPr marL="66675" marR="6667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350"/>
                        </a:lnSpc>
                        <a:buNone/>
                      </a:pPr>
                      <a:r>
                        <a:rPr lang="vi-VN" sz="1200">
                          <a:effectLst/>
                          <a:latin typeface="Aptos" panose="020B0004020202020204" pitchFamily="34" charset="0"/>
                        </a:rPr>
                        <a:t>Phản hồi dưới dạng Phần thưởng (Reward) và Hình phạt (Penalty) sau một loạt hành động </a:t>
                      </a:r>
                      <a:endParaRPr lang="vi-VN">
                        <a:effectLst/>
                      </a:endParaRPr>
                    </a:p>
                  </a:txBody>
                  <a:tcPr marL="66675" marR="6667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81845106"/>
                  </a:ext>
                </a:extLst>
              </a:tr>
              <a:tr h="1380009"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650"/>
                        </a:lnSpc>
                        <a:buNone/>
                      </a:pPr>
                      <a:r>
                        <a:rPr lang="vi-VN" sz="1400" b="1">
                          <a:effectLst/>
                          <a:latin typeface="Aptos" panose="020B0004020202020204" pitchFamily="34" charset="0"/>
                        </a:rPr>
                        <a:t>Kỹ thuật học</a:t>
                      </a:r>
                      <a:r>
                        <a:rPr lang="vi-VN" sz="1400">
                          <a:effectLst/>
                          <a:latin typeface="Aptos" panose="020B0004020202020204" pitchFamily="34" charset="0"/>
                        </a:rPr>
                        <a:t> </a:t>
                      </a:r>
                      <a:endParaRPr lang="vi-VN">
                        <a:effectLst/>
                      </a:endParaRPr>
                    </a:p>
                  </a:txBody>
                  <a:tcPr marL="66675" marR="6667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350"/>
                        </a:lnSpc>
                        <a:buNone/>
                      </a:pPr>
                      <a:r>
                        <a:rPr lang="vi-VN" sz="1200">
                          <a:effectLst/>
                          <a:latin typeface="Aptos" panose="020B0004020202020204" pitchFamily="34" charset="0"/>
                        </a:rPr>
                        <a:t> </a:t>
                      </a:r>
                    </a:p>
                    <a:p>
                      <a:pPr algn="ctr" rtl="0" fontAlgn="base">
                        <a:lnSpc>
                          <a:spcPts val="1350"/>
                        </a:lnSpc>
                        <a:buNone/>
                      </a:pPr>
                      <a:r>
                        <a:rPr lang="vi-VN" sz="1200">
                          <a:effectLst/>
                          <a:latin typeface="Aptos" panose="020B0004020202020204" pitchFamily="34" charset="0"/>
                        </a:rPr>
                        <a:t>Logistic Regression </a:t>
                      </a:r>
                      <a:endParaRPr lang="vi-VN">
                        <a:effectLst/>
                      </a:endParaRPr>
                    </a:p>
                    <a:p>
                      <a:pPr algn="ctr" rtl="0" fontAlgn="base">
                        <a:lnSpc>
                          <a:spcPts val="1350"/>
                        </a:lnSpc>
                        <a:buNone/>
                      </a:pPr>
                      <a:r>
                        <a:rPr lang="vi-VN" sz="1200">
                          <a:effectLst/>
                          <a:latin typeface="Aptos" panose="020B0004020202020204" pitchFamily="34" charset="0"/>
                        </a:rPr>
                        <a:t> </a:t>
                      </a:r>
                      <a:endParaRPr lang="vi-VN">
                        <a:effectLst/>
                      </a:endParaRPr>
                    </a:p>
                    <a:p>
                      <a:pPr algn="ctr" rtl="0" fontAlgn="base">
                        <a:lnSpc>
                          <a:spcPts val="1350"/>
                        </a:lnSpc>
                        <a:buNone/>
                      </a:pPr>
                      <a:r>
                        <a:rPr lang="vi-VN" sz="1200">
                          <a:effectLst/>
                          <a:latin typeface="Aptos" panose="020B0004020202020204" pitchFamily="34" charset="0"/>
                        </a:rPr>
                        <a:t>Linear Regression </a:t>
                      </a:r>
                      <a:endParaRPr lang="vi-VN">
                        <a:effectLst/>
                      </a:endParaRPr>
                    </a:p>
                    <a:p>
                      <a:pPr algn="ctr" rtl="0" fontAlgn="base">
                        <a:lnSpc>
                          <a:spcPts val="1350"/>
                        </a:lnSpc>
                        <a:buNone/>
                      </a:pPr>
                      <a:r>
                        <a:rPr lang="vi-VN" sz="1200">
                          <a:effectLst/>
                          <a:latin typeface="Aptos" panose="020B0004020202020204" pitchFamily="34" charset="0"/>
                        </a:rPr>
                        <a:t> </a:t>
                      </a:r>
                      <a:endParaRPr lang="vi-VN">
                        <a:effectLst/>
                      </a:endParaRPr>
                    </a:p>
                    <a:p>
                      <a:pPr algn="ctr" rtl="0" fontAlgn="base">
                        <a:lnSpc>
                          <a:spcPts val="1350"/>
                        </a:lnSpc>
                        <a:buNone/>
                      </a:pPr>
                      <a:r>
                        <a:rPr lang="vi-VN" sz="1200">
                          <a:effectLst/>
                          <a:latin typeface="Aptos" panose="020B0004020202020204" pitchFamily="34" charset="0"/>
                        </a:rPr>
                        <a:t>Decision Tree </a:t>
                      </a:r>
                      <a:endParaRPr lang="vi-VN">
                        <a:effectLst/>
                      </a:endParaRPr>
                    </a:p>
                    <a:p>
                      <a:pPr algn="ctr" rtl="0" fontAlgn="base">
                        <a:lnSpc>
                          <a:spcPts val="1350"/>
                        </a:lnSpc>
                        <a:buNone/>
                      </a:pPr>
                      <a:r>
                        <a:rPr lang="vi-VN" sz="1200">
                          <a:effectLst/>
                          <a:latin typeface="Aptos" panose="020B0004020202020204" pitchFamily="34" charset="0"/>
                        </a:rPr>
                        <a:t> </a:t>
                      </a:r>
                      <a:endParaRPr lang="vi-VN">
                        <a:effectLst/>
                      </a:endParaRPr>
                    </a:p>
                    <a:p>
                      <a:pPr algn="ctr" rtl="0" fontAlgn="base">
                        <a:lnSpc>
                          <a:spcPts val="1350"/>
                        </a:lnSpc>
                        <a:buNone/>
                      </a:pPr>
                      <a:r>
                        <a:rPr lang="vi-VN" sz="1200">
                          <a:effectLst/>
                          <a:latin typeface="Aptos" panose="020B0004020202020204" pitchFamily="34" charset="0"/>
                        </a:rPr>
                        <a:t>Neural Network </a:t>
                      </a:r>
                      <a:endParaRPr lang="vi-VN">
                        <a:effectLst/>
                      </a:endParaRPr>
                    </a:p>
                    <a:p>
                      <a:pPr algn="ctr" rtl="0" fontAlgn="base">
                        <a:lnSpc>
                          <a:spcPts val="1350"/>
                        </a:lnSpc>
                        <a:buNone/>
                      </a:pPr>
                      <a:r>
                        <a:rPr lang="vi-VN" sz="1200">
                          <a:effectLst/>
                          <a:latin typeface="Aptos" panose="020B0004020202020204" pitchFamily="34" charset="0"/>
                        </a:rPr>
                        <a:t> </a:t>
                      </a:r>
                      <a:endParaRPr lang="vi-VN">
                        <a:effectLst/>
                      </a:endParaRPr>
                    </a:p>
                  </a:txBody>
                  <a:tcPr marL="66675" marR="6667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350"/>
                        </a:lnSpc>
                        <a:buNone/>
                      </a:pPr>
                      <a:r>
                        <a:rPr lang="vi-VN" sz="1200">
                          <a:effectLst/>
                          <a:latin typeface="Aptos" panose="020B0004020202020204" pitchFamily="34" charset="0"/>
                        </a:rPr>
                        <a:t>Clustering </a:t>
                      </a:r>
                      <a:endParaRPr lang="vi-VN">
                        <a:effectLst/>
                      </a:endParaRPr>
                    </a:p>
                    <a:p>
                      <a:pPr algn="ctr" rtl="0" fontAlgn="base">
                        <a:lnSpc>
                          <a:spcPts val="1350"/>
                        </a:lnSpc>
                        <a:buNone/>
                      </a:pPr>
                      <a:r>
                        <a:rPr lang="vi-VN" sz="1200">
                          <a:effectLst/>
                          <a:latin typeface="Aptos" panose="020B0004020202020204" pitchFamily="34" charset="0"/>
                        </a:rPr>
                        <a:t> </a:t>
                      </a:r>
                      <a:endParaRPr lang="vi-VN">
                        <a:effectLst/>
                      </a:endParaRPr>
                    </a:p>
                    <a:p>
                      <a:pPr algn="ctr" rtl="0" fontAlgn="base">
                        <a:lnSpc>
                          <a:spcPts val="1350"/>
                        </a:lnSpc>
                        <a:buNone/>
                      </a:pPr>
                      <a:r>
                        <a:rPr lang="vi-VN" sz="1200">
                          <a:effectLst/>
                          <a:latin typeface="Aptos" panose="020B0004020202020204" pitchFamily="34" charset="0"/>
                        </a:rPr>
                        <a:t>Association Rule Learning </a:t>
                      </a:r>
                      <a:endParaRPr lang="vi-VN">
                        <a:effectLst/>
                      </a:endParaRPr>
                    </a:p>
                    <a:p>
                      <a:pPr algn="ctr" rtl="0" fontAlgn="base">
                        <a:lnSpc>
                          <a:spcPts val="1350"/>
                        </a:lnSpc>
                        <a:buNone/>
                      </a:pPr>
                      <a:r>
                        <a:rPr lang="vi-VN" sz="1200">
                          <a:effectLst/>
                          <a:latin typeface="Aptos" panose="020B0004020202020204" pitchFamily="34" charset="0"/>
                        </a:rPr>
                        <a:t> </a:t>
                      </a:r>
                      <a:endParaRPr lang="vi-VN">
                        <a:effectLst/>
                      </a:endParaRPr>
                    </a:p>
                    <a:p>
                      <a:pPr algn="ctr" rtl="0" fontAlgn="base">
                        <a:lnSpc>
                          <a:spcPts val="1350"/>
                        </a:lnSpc>
                        <a:buNone/>
                      </a:pPr>
                      <a:r>
                        <a:rPr lang="vi-VN" sz="1200">
                          <a:effectLst/>
                          <a:latin typeface="Aptos" panose="020B0004020202020204" pitchFamily="34" charset="0"/>
                        </a:rPr>
                        <a:t>Probability Density </a:t>
                      </a:r>
                      <a:endParaRPr lang="vi-VN">
                        <a:effectLst/>
                      </a:endParaRPr>
                    </a:p>
                    <a:p>
                      <a:pPr algn="ctr" rtl="0" fontAlgn="base">
                        <a:lnSpc>
                          <a:spcPts val="1350"/>
                        </a:lnSpc>
                        <a:buNone/>
                      </a:pPr>
                      <a:r>
                        <a:rPr lang="vi-VN" sz="1200">
                          <a:effectLst/>
                          <a:latin typeface="Aptos" panose="020B0004020202020204" pitchFamily="34" charset="0"/>
                        </a:rPr>
                        <a:t> </a:t>
                      </a:r>
                      <a:endParaRPr lang="vi-VN">
                        <a:effectLst/>
                      </a:endParaRPr>
                    </a:p>
                    <a:p>
                      <a:pPr algn="ctr" rtl="0" fontAlgn="base">
                        <a:lnSpc>
                          <a:spcPts val="1350"/>
                        </a:lnSpc>
                        <a:buNone/>
                      </a:pPr>
                      <a:r>
                        <a:rPr lang="vi-VN" sz="1200">
                          <a:effectLst/>
                          <a:latin typeface="Aptos" panose="020B0004020202020204" pitchFamily="34" charset="0"/>
                        </a:rPr>
                        <a:t>Dimensionality Reduction </a:t>
                      </a:r>
                      <a:endParaRPr lang="vi-VN">
                        <a:effectLst/>
                      </a:endParaRPr>
                    </a:p>
                  </a:txBody>
                  <a:tcPr marL="66675" marR="6667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350"/>
                        </a:lnSpc>
                        <a:buNone/>
                      </a:pPr>
                      <a:r>
                        <a:rPr lang="vi-VN" sz="120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Value-Based Algorithms </a:t>
                      </a:r>
                      <a:endParaRPr lang="vi-VN">
                        <a:solidFill>
                          <a:srgbClr val="0F4761"/>
                        </a:solidFill>
                        <a:effectLst/>
                      </a:endParaRPr>
                    </a:p>
                    <a:p>
                      <a:pPr algn="ctr" rtl="0" fontAlgn="base">
                        <a:lnSpc>
                          <a:spcPts val="1350"/>
                        </a:lnSpc>
                        <a:buNone/>
                      </a:pPr>
                      <a:r>
                        <a:rPr lang="vi-VN" sz="1200">
                          <a:effectLst/>
                          <a:latin typeface="Aptos" panose="020B0004020202020204" pitchFamily="34" charset="0"/>
                        </a:rPr>
                        <a:t> </a:t>
                      </a:r>
                      <a:endParaRPr lang="vi-VN">
                        <a:effectLst/>
                      </a:endParaRPr>
                    </a:p>
                    <a:p>
                      <a:pPr algn="ctr" rtl="0" fontAlgn="base">
                        <a:lnSpc>
                          <a:spcPts val="1350"/>
                        </a:lnSpc>
                        <a:buNone/>
                      </a:pPr>
                      <a:r>
                        <a:rPr lang="vi-VN" sz="120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Policy-Based Algorithms </a:t>
                      </a:r>
                      <a:endParaRPr lang="vi-VN">
                        <a:solidFill>
                          <a:srgbClr val="0F4761"/>
                        </a:solidFill>
                        <a:effectLst/>
                      </a:endParaRPr>
                    </a:p>
                    <a:p>
                      <a:pPr algn="ctr" rtl="0" fontAlgn="base">
                        <a:lnSpc>
                          <a:spcPts val="1350"/>
                        </a:lnSpc>
                        <a:buNone/>
                      </a:pPr>
                      <a:r>
                        <a:rPr lang="vi-VN" sz="1200">
                          <a:effectLst/>
                          <a:latin typeface="Aptos" panose="020B0004020202020204" pitchFamily="34" charset="0"/>
                        </a:rPr>
                        <a:t> </a:t>
                      </a:r>
                      <a:endParaRPr lang="vi-VN">
                        <a:effectLst/>
                      </a:endParaRPr>
                    </a:p>
                  </a:txBody>
                  <a:tcPr marL="66675" marR="6667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30216972"/>
                  </a:ext>
                </a:extLst>
              </a:tr>
              <a:tr h="1092503"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650"/>
                        </a:lnSpc>
                        <a:buNone/>
                      </a:pPr>
                      <a:r>
                        <a:rPr lang="vi-VN" sz="1400" b="1">
                          <a:effectLst/>
                          <a:latin typeface="Aptos" panose="020B0004020202020204" pitchFamily="34" charset="0"/>
                        </a:rPr>
                        <a:t>Ví dụ</a:t>
                      </a:r>
                      <a:r>
                        <a:rPr lang="vi-VN" sz="1400">
                          <a:effectLst/>
                          <a:latin typeface="Aptos" panose="020B0004020202020204" pitchFamily="34" charset="0"/>
                        </a:rPr>
                        <a:t> </a:t>
                      </a:r>
                      <a:endParaRPr lang="vi-VN">
                        <a:effectLst/>
                      </a:endParaRPr>
                    </a:p>
                  </a:txBody>
                  <a:tcPr marL="66675" marR="6667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350"/>
                        </a:lnSpc>
                        <a:buNone/>
                      </a:pPr>
                      <a:r>
                        <a:rPr lang="vi-VN" sz="1200">
                          <a:effectLst/>
                          <a:latin typeface="Aptos" panose="020B0004020202020204" pitchFamily="34" charset="0"/>
                        </a:rPr>
                        <a:t> </a:t>
                      </a:r>
                    </a:p>
                    <a:p>
                      <a:pPr algn="ctr" rtl="0" fontAlgn="base">
                        <a:lnSpc>
                          <a:spcPts val="1350"/>
                        </a:lnSpc>
                        <a:buNone/>
                      </a:pPr>
                      <a:r>
                        <a:rPr lang="vi-VN" sz="1200">
                          <a:effectLst/>
                          <a:latin typeface="Aptos" panose="020B0004020202020204" pitchFamily="34" charset="0"/>
                        </a:rPr>
                        <a:t>Lọc thư rác </a:t>
                      </a:r>
                      <a:endParaRPr lang="vi-VN">
                        <a:effectLst/>
                      </a:endParaRPr>
                    </a:p>
                    <a:p>
                      <a:pPr algn="ctr" rtl="0" fontAlgn="base">
                        <a:lnSpc>
                          <a:spcPts val="1350"/>
                        </a:lnSpc>
                        <a:buNone/>
                      </a:pPr>
                      <a:r>
                        <a:rPr lang="vi-VN" sz="1200">
                          <a:effectLst/>
                          <a:latin typeface="Aptos" panose="020B0004020202020204" pitchFamily="34" charset="0"/>
                        </a:rPr>
                        <a:t> </a:t>
                      </a:r>
                      <a:endParaRPr lang="vi-VN">
                        <a:effectLst/>
                      </a:endParaRPr>
                    </a:p>
                    <a:p>
                      <a:pPr algn="ctr" rtl="0" fontAlgn="base">
                        <a:lnSpc>
                          <a:spcPts val="1350"/>
                        </a:lnSpc>
                        <a:buNone/>
                      </a:pPr>
                      <a:r>
                        <a:rPr lang="vi-VN" sz="1200">
                          <a:effectLst/>
                          <a:latin typeface="Aptos" panose="020B0004020202020204" pitchFamily="34" charset="0"/>
                        </a:rPr>
                        <a:t>Nhận diện khuôn mặt </a:t>
                      </a:r>
                      <a:endParaRPr lang="vi-VN">
                        <a:effectLst/>
                      </a:endParaRPr>
                    </a:p>
                    <a:p>
                      <a:pPr algn="ctr" rtl="0" fontAlgn="base">
                        <a:lnSpc>
                          <a:spcPts val="1350"/>
                        </a:lnSpc>
                        <a:buNone/>
                      </a:pPr>
                      <a:r>
                        <a:rPr lang="vi-VN" sz="1200">
                          <a:effectLst/>
                          <a:latin typeface="Aptos" panose="020B0004020202020204" pitchFamily="34" charset="0"/>
                        </a:rPr>
                        <a:t> </a:t>
                      </a:r>
                      <a:endParaRPr lang="vi-VN">
                        <a:effectLst/>
                      </a:endParaRPr>
                    </a:p>
                    <a:p>
                      <a:pPr algn="ctr" rtl="0" fontAlgn="base">
                        <a:lnSpc>
                          <a:spcPts val="1350"/>
                        </a:lnSpc>
                        <a:buNone/>
                      </a:pPr>
                      <a:r>
                        <a:rPr lang="vi-VN" sz="1200">
                          <a:effectLst/>
                          <a:latin typeface="Aptos" panose="020B0004020202020204" pitchFamily="34" charset="0"/>
                        </a:rPr>
                        <a:t>Chuẩn đoán y tế </a:t>
                      </a:r>
                      <a:endParaRPr lang="vi-VN">
                        <a:effectLst/>
                      </a:endParaRPr>
                    </a:p>
                    <a:p>
                      <a:pPr algn="ctr" rtl="0" fontAlgn="base">
                        <a:lnSpc>
                          <a:spcPts val="1350"/>
                        </a:lnSpc>
                        <a:buNone/>
                      </a:pPr>
                      <a:r>
                        <a:rPr lang="vi-VN" sz="1200">
                          <a:effectLst/>
                          <a:latin typeface="Aptos" panose="020B0004020202020204" pitchFamily="34" charset="0"/>
                        </a:rPr>
                        <a:t> </a:t>
                      </a:r>
                      <a:endParaRPr lang="vi-VN">
                        <a:effectLst/>
                      </a:endParaRPr>
                    </a:p>
                  </a:txBody>
                  <a:tcPr marL="66675" marR="6667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350"/>
                        </a:lnSpc>
                        <a:buNone/>
                      </a:pPr>
                      <a:r>
                        <a:rPr lang="vi-VN" sz="1200">
                          <a:effectLst/>
                          <a:latin typeface="Aptos" panose="020B0004020202020204" pitchFamily="34" charset="0"/>
                        </a:rPr>
                        <a:t>Gợi ý sản phẩm </a:t>
                      </a:r>
                      <a:endParaRPr lang="vi-VN">
                        <a:effectLst/>
                      </a:endParaRPr>
                    </a:p>
                  </a:txBody>
                  <a:tcPr marL="66675" marR="6667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350"/>
                        </a:lnSpc>
                        <a:buNone/>
                      </a:pPr>
                      <a:r>
                        <a:rPr lang="vi-VN" sz="1200">
                          <a:effectLst/>
                          <a:latin typeface="Aptos" panose="020B0004020202020204" pitchFamily="34" charset="0"/>
                        </a:rPr>
                        <a:t>Tự động hoá </a:t>
                      </a:r>
                      <a:endParaRPr lang="vi-VN">
                        <a:effectLst/>
                      </a:endParaRPr>
                    </a:p>
                    <a:p>
                      <a:pPr algn="ctr" rtl="0" fontAlgn="base">
                        <a:lnSpc>
                          <a:spcPts val="1350"/>
                        </a:lnSpc>
                        <a:buNone/>
                      </a:pPr>
                      <a:r>
                        <a:rPr lang="vi-VN" sz="1200">
                          <a:effectLst/>
                          <a:latin typeface="Aptos" panose="020B0004020202020204" pitchFamily="34" charset="0"/>
                        </a:rPr>
                        <a:t> </a:t>
                      </a:r>
                      <a:endParaRPr lang="vi-VN">
                        <a:effectLst/>
                      </a:endParaRPr>
                    </a:p>
                    <a:p>
                      <a:pPr algn="ctr" rtl="0" fontAlgn="base">
                        <a:lnSpc>
                          <a:spcPts val="1350"/>
                        </a:lnSpc>
                        <a:buNone/>
                      </a:pPr>
                      <a:r>
                        <a:rPr lang="vi-VN" sz="1200">
                          <a:effectLst/>
                          <a:latin typeface="Aptos" panose="020B0004020202020204" pitchFamily="34" charset="0"/>
                        </a:rPr>
                        <a:t>Robot </a:t>
                      </a:r>
                      <a:endParaRPr lang="vi-VN">
                        <a:effectLst/>
                      </a:endParaRPr>
                    </a:p>
                  </a:txBody>
                  <a:tcPr marL="66675" marR="6667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46378154"/>
                  </a:ext>
                </a:extLst>
              </a:tr>
            </a:tbl>
          </a:graphicData>
        </a:graphic>
      </p:graphicFrame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A462524-9273-0505-116B-B2ED9097C4E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1719609"/>
            <a:ext cx="3938885" cy="4447553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742950" lvl="1" indent="-285750">
              <a:buFont typeface="Calibri" panose="020B0604020202020204" pitchFamily="34" charset="0"/>
              <a:buChar char="-"/>
            </a:pPr>
            <a:endParaRPr lang="vi-VN" sz="1400" dirty="0">
              <a:latin typeface="Aptos"/>
            </a:endParaRPr>
          </a:p>
          <a:p>
            <a:r>
              <a:rPr lang="en-US" sz="2000" dirty="0"/>
              <a:t>3 </a:t>
            </a:r>
            <a:r>
              <a:rPr lang="en-US" sz="2000" dirty="0" err="1"/>
              <a:t>Loại</a:t>
            </a:r>
            <a:r>
              <a:rPr lang="en-US" sz="2000" dirty="0"/>
              <a:t> </a:t>
            </a:r>
            <a:r>
              <a:rPr lang="en-US" sz="2000" dirty="0" err="1"/>
              <a:t>bài</a:t>
            </a:r>
            <a:r>
              <a:rPr lang="en-US" sz="2000" dirty="0"/>
              <a:t> </a:t>
            </a:r>
            <a:r>
              <a:rPr lang="en-US" sz="2000" dirty="0" err="1"/>
              <a:t>toán</a:t>
            </a:r>
            <a:r>
              <a:rPr lang="en-US" sz="2000" dirty="0"/>
              <a:t> </a:t>
            </a:r>
            <a:r>
              <a:rPr lang="en-US" sz="2000" dirty="0" err="1"/>
              <a:t>chính</a:t>
            </a:r>
            <a:r>
              <a:rPr lang="en-US" sz="2000" dirty="0"/>
              <a:t> </a:t>
            </a:r>
            <a:r>
              <a:rPr lang="en-US" sz="2000" dirty="0" err="1"/>
              <a:t>trong</a:t>
            </a:r>
            <a:r>
              <a:rPr lang="en-US" sz="2000" dirty="0"/>
              <a:t> Machine Learning bao </a:t>
            </a:r>
            <a:r>
              <a:rPr lang="en-US" sz="2000" dirty="0" err="1"/>
              <a:t>gồm</a:t>
            </a:r>
            <a:r>
              <a:rPr lang="en-US" sz="2000" dirty="0"/>
              <a:t>:</a:t>
            </a:r>
          </a:p>
          <a:p>
            <a:pPr marL="800100" lvl="1" indent="-342900">
              <a:buFont typeface="Calibri" panose="020B0604020202020204" pitchFamily="34" charset="0"/>
              <a:buChar char="-"/>
            </a:pPr>
            <a:r>
              <a:rPr lang="en-US" sz="1800" dirty="0"/>
              <a:t>Học </a:t>
            </a:r>
            <a:r>
              <a:rPr lang="en-US" sz="1800" dirty="0" err="1"/>
              <a:t>có</a:t>
            </a:r>
            <a:r>
              <a:rPr lang="en-US" sz="1800" dirty="0"/>
              <a:t> </a:t>
            </a:r>
            <a:r>
              <a:rPr lang="en-US" sz="1800" dirty="0" err="1"/>
              <a:t>giám</a:t>
            </a:r>
            <a:r>
              <a:rPr lang="en-US" sz="1800" dirty="0"/>
              <a:t> </a:t>
            </a:r>
            <a:r>
              <a:rPr lang="en-US" sz="1800" dirty="0" err="1"/>
              <a:t>sát</a:t>
            </a:r>
            <a:r>
              <a:rPr lang="en-US" sz="1800" dirty="0"/>
              <a:t> (Supervised Learning)</a:t>
            </a:r>
          </a:p>
          <a:p>
            <a:pPr marL="800100" lvl="1" indent="-342900">
              <a:buFont typeface="Calibri" panose="020B0604020202020204" pitchFamily="34" charset="0"/>
              <a:buChar char="-"/>
            </a:pPr>
            <a:r>
              <a:rPr lang="en-US" sz="1800" dirty="0"/>
              <a:t>Học </a:t>
            </a:r>
            <a:r>
              <a:rPr lang="en-US" sz="1800" dirty="0" err="1"/>
              <a:t>không</a:t>
            </a:r>
            <a:r>
              <a:rPr lang="en-US" sz="1800" dirty="0"/>
              <a:t> </a:t>
            </a:r>
            <a:r>
              <a:rPr lang="en-US" sz="1800" dirty="0" err="1"/>
              <a:t>có</a:t>
            </a:r>
            <a:r>
              <a:rPr lang="en-US" sz="1800" dirty="0"/>
              <a:t> </a:t>
            </a:r>
            <a:r>
              <a:rPr lang="en-US" sz="1800" dirty="0" err="1"/>
              <a:t>giám</a:t>
            </a:r>
            <a:r>
              <a:rPr lang="en-US" sz="1800" dirty="0"/>
              <a:t> </a:t>
            </a:r>
            <a:r>
              <a:rPr lang="en-US" sz="1800" dirty="0" err="1"/>
              <a:t>sát</a:t>
            </a:r>
            <a:r>
              <a:rPr lang="en-US" sz="1800" dirty="0"/>
              <a:t> (Unsupervised Learning)</a:t>
            </a:r>
          </a:p>
          <a:p>
            <a:pPr marL="800100" lvl="1" indent="-342900">
              <a:buFont typeface="Calibri" panose="020B0604020202020204" pitchFamily="34" charset="0"/>
              <a:buChar char="-"/>
            </a:pPr>
            <a:r>
              <a:rPr lang="en-US" sz="1800" dirty="0"/>
              <a:t>Học </a:t>
            </a:r>
            <a:r>
              <a:rPr lang="en-US" sz="1800" dirty="0" err="1"/>
              <a:t>tăng</a:t>
            </a:r>
            <a:r>
              <a:rPr lang="en-US" sz="1800" dirty="0"/>
              <a:t> </a:t>
            </a:r>
            <a:r>
              <a:rPr lang="en-US" sz="1800" dirty="0" err="1"/>
              <a:t>cường</a:t>
            </a:r>
            <a:r>
              <a:rPr lang="en-US" sz="1800" dirty="0"/>
              <a:t> (Reinforcement Learning)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A0808FF-2102-D601-889E-259FE49C19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E25A5E-596E-4D39-93E0-463A1EECD54D}" type="datetime1">
              <a:t>11/28/2025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BEE6658-43E8-7B94-FAD7-550537CFFF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FF2AD08-CA64-DDB0-0249-03A0DFBADA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DE196-8A13-4FF7-A07E-102851959EAB}" type="slidenum">
              <a:rPr lang="en-US" dirty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80221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2B9C2-F120-1032-715A-F6ABD368E1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807868"/>
            <a:ext cx="4579408" cy="2062594"/>
          </a:xfrm>
        </p:spPr>
        <p:txBody>
          <a:bodyPr/>
          <a:lstStyle/>
          <a:p>
            <a:r>
              <a:rPr lang="en-US" sz="3200" b="1" dirty="0">
                <a:latin typeface="Aptos"/>
              </a:rPr>
              <a:t>Các </a:t>
            </a:r>
            <a:r>
              <a:rPr lang="en-US" sz="3200" b="1" err="1">
                <a:latin typeface="Aptos"/>
              </a:rPr>
              <a:t>thư</a:t>
            </a:r>
            <a:r>
              <a:rPr lang="en-US" sz="3200" b="1" dirty="0">
                <a:latin typeface="Aptos"/>
              </a:rPr>
              <a:t> </a:t>
            </a:r>
            <a:r>
              <a:rPr lang="en-US" sz="3200" b="1" err="1">
                <a:latin typeface="Aptos"/>
              </a:rPr>
              <a:t>viện</a:t>
            </a:r>
            <a:r>
              <a:rPr lang="en-US" sz="3200" b="1" dirty="0">
                <a:latin typeface="Aptos"/>
              </a:rPr>
              <a:t> </a:t>
            </a:r>
            <a:r>
              <a:rPr lang="en-US" sz="3200" b="1" err="1">
                <a:latin typeface="Aptos"/>
              </a:rPr>
              <a:t>phổ</a:t>
            </a:r>
            <a:r>
              <a:rPr lang="en-US" sz="3200" b="1" dirty="0">
                <a:latin typeface="Aptos"/>
              </a:rPr>
              <a:t> </a:t>
            </a:r>
            <a:r>
              <a:rPr lang="en-US" sz="3200" b="1" err="1">
                <a:latin typeface="Aptos"/>
              </a:rPr>
              <a:t>biến</a:t>
            </a:r>
            <a:endParaRPr lang="en-US" sz="3200" b="1" dirty="0">
              <a:latin typeface="Apto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C6F809-D5F3-7662-24A4-8E059A6C76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21855" y="807867"/>
            <a:ext cx="6772835" cy="5726835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NumPy:</a:t>
            </a:r>
          </a:p>
          <a:p>
            <a:r>
              <a:rPr lang="en-US" err="1"/>
              <a:t>Khái</a:t>
            </a:r>
            <a:r>
              <a:rPr lang="en-US" dirty="0"/>
              <a:t> </a:t>
            </a:r>
            <a:r>
              <a:rPr lang="en-US" err="1"/>
              <a:t>niệm</a:t>
            </a:r>
            <a:r>
              <a:rPr lang="en-US" dirty="0"/>
              <a:t> : </a:t>
            </a:r>
            <a:r>
              <a:rPr lang="en-US" dirty="0">
                <a:ea typeface="+mn-lt"/>
                <a:cs typeface="+mn-lt"/>
              </a:rPr>
              <a:t>Thư </a:t>
            </a:r>
            <a:r>
              <a:rPr lang="en-US" err="1">
                <a:ea typeface="+mn-lt"/>
                <a:cs typeface="+mn-lt"/>
              </a:rPr>
              <a:t>viện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toán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học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b="1" err="1">
                <a:ea typeface="+mn-lt"/>
                <a:cs typeface="+mn-lt"/>
              </a:rPr>
              <a:t>mạnh</a:t>
            </a:r>
            <a:r>
              <a:rPr lang="en-US" b="1" dirty="0">
                <a:ea typeface="+mn-lt"/>
                <a:cs typeface="+mn-lt"/>
              </a:rPr>
              <a:t> </a:t>
            </a:r>
            <a:r>
              <a:rPr lang="en-US" b="1" err="1">
                <a:ea typeface="+mn-lt"/>
                <a:cs typeface="+mn-lt"/>
              </a:rPr>
              <a:t>mẽ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của</a:t>
            </a:r>
            <a:r>
              <a:rPr lang="en-US" dirty="0">
                <a:ea typeface="+mn-lt"/>
                <a:cs typeface="+mn-lt"/>
              </a:rPr>
              <a:t> Python, </a:t>
            </a:r>
            <a:r>
              <a:rPr lang="en-US" err="1">
                <a:ea typeface="+mn-lt"/>
                <a:cs typeface="+mn-lt"/>
              </a:rPr>
              <a:t>cho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phép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làm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việc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hiệu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quả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với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b="1" dirty="0">
                <a:ea typeface="+mn-lt"/>
                <a:cs typeface="+mn-lt"/>
              </a:rPr>
              <a:t>ma </a:t>
            </a:r>
            <a:r>
              <a:rPr lang="en-US" b="1" err="1">
                <a:ea typeface="+mn-lt"/>
                <a:cs typeface="+mn-lt"/>
              </a:rPr>
              <a:t>trận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và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b="1" err="1">
                <a:ea typeface="+mn-lt"/>
                <a:cs typeface="+mn-lt"/>
              </a:rPr>
              <a:t>mảng</a:t>
            </a:r>
            <a:r>
              <a:rPr lang="en-US" dirty="0">
                <a:ea typeface="+mn-lt"/>
                <a:cs typeface="+mn-lt"/>
              </a:rPr>
              <a:t> (</a:t>
            </a:r>
            <a:r>
              <a:rPr lang="en-US" err="1">
                <a:ea typeface="+mn-lt"/>
                <a:cs typeface="+mn-lt"/>
              </a:rPr>
              <a:t>đặc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biệt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là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dữ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liệu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lớn</a:t>
            </a:r>
            <a:r>
              <a:rPr lang="en-US" dirty="0">
                <a:ea typeface="+mn-lt"/>
                <a:cs typeface="+mn-lt"/>
              </a:rPr>
              <a:t>).</a:t>
            </a:r>
            <a:endParaRPr lang="en-US" dirty="0"/>
          </a:p>
          <a:p>
            <a:r>
              <a:rPr lang="en-US" dirty="0" err="1"/>
              <a:t>Thời</a:t>
            </a:r>
            <a:r>
              <a:rPr lang="en-US" dirty="0"/>
              <a:t> </a:t>
            </a:r>
            <a:r>
              <a:rPr lang="en-US" dirty="0" err="1"/>
              <a:t>gian</a:t>
            </a:r>
            <a:r>
              <a:rPr lang="en-US" dirty="0"/>
              <a:t>: </a:t>
            </a:r>
            <a:r>
              <a:rPr lang="en-US" dirty="0" err="1">
                <a:ea typeface="+mn-lt"/>
                <a:cs typeface="+mn-lt"/>
              </a:rPr>
              <a:t>Khoảng</a:t>
            </a:r>
            <a:r>
              <a:rPr lang="en-US" dirty="0">
                <a:ea typeface="+mn-lt"/>
                <a:cs typeface="+mn-lt"/>
              </a:rPr>
              <a:t> 2005 (</a:t>
            </a:r>
            <a:r>
              <a:rPr lang="en-US" dirty="0" err="1">
                <a:ea typeface="+mn-lt"/>
                <a:cs typeface="+mn-lt"/>
              </a:rPr>
              <a:t>kế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thừa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từ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thư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viện</a:t>
            </a:r>
            <a:r>
              <a:rPr lang="en-US" dirty="0">
                <a:ea typeface="+mn-lt"/>
                <a:cs typeface="+mn-lt"/>
              </a:rPr>
              <a:t> Numeric).</a:t>
            </a:r>
          </a:p>
          <a:p>
            <a:r>
              <a:rPr lang="en-US" err="1"/>
              <a:t>Người</a:t>
            </a:r>
            <a:r>
              <a:rPr lang="en-US" dirty="0"/>
              <a:t> </a:t>
            </a:r>
            <a:r>
              <a:rPr lang="en-US" err="1"/>
              <a:t>sáng</a:t>
            </a:r>
            <a:r>
              <a:rPr lang="en-US" dirty="0"/>
              <a:t> </a:t>
            </a:r>
            <a:r>
              <a:rPr lang="en-US" err="1"/>
              <a:t>lập</a:t>
            </a:r>
            <a:r>
              <a:rPr lang="en-US" dirty="0"/>
              <a:t> : Travis </a:t>
            </a:r>
            <a:r>
              <a:rPr lang="en-US" err="1"/>
              <a:t>Oliplant</a:t>
            </a:r>
            <a:endParaRPr lang="en-US"/>
          </a:p>
          <a:p>
            <a:r>
              <a:rPr lang="en-US" dirty="0" err="1"/>
              <a:t>Ưu</a:t>
            </a:r>
            <a:r>
              <a:rPr lang="en-US" dirty="0"/>
              <a:t> </a:t>
            </a:r>
            <a:r>
              <a:rPr lang="en-US" dirty="0" err="1"/>
              <a:t>điểm</a:t>
            </a:r>
            <a:r>
              <a:rPr lang="en-US" dirty="0"/>
              <a:t>: </a:t>
            </a:r>
            <a:r>
              <a:rPr lang="en-US" b="1" dirty="0" err="1">
                <a:ea typeface="+mn-lt"/>
                <a:cs typeface="+mn-lt"/>
              </a:rPr>
              <a:t>Tiết</a:t>
            </a:r>
            <a:r>
              <a:rPr lang="en-US" b="1" dirty="0">
                <a:ea typeface="+mn-lt"/>
                <a:cs typeface="+mn-lt"/>
              </a:rPr>
              <a:t> </a:t>
            </a:r>
            <a:r>
              <a:rPr lang="en-US" b="1" dirty="0" err="1">
                <a:ea typeface="+mn-lt"/>
                <a:cs typeface="+mn-lt"/>
              </a:rPr>
              <a:t>kiệm</a:t>
            </a:r>
            <a:r>
              <a:rPr lang="en-US" b="1" dirty="0">
                <a:ea typeface="+mn-lt"/>
                <a:cs typeface="+mn-lt"/>
              </a:rPr>
              <a:t> </a:t>
            </a:r>
            <a:r>
              <a:rPr lang="en-US" b="1" dirty="0" err="1">
                <a:ea typeface="+mn-lt"/>
                <a:cs typeface="+mn-lt"/>
              </a:rPr>
              <a:t>bộ</a:t>
            </a:r>
            <a:r>
              <a:rPr lang="en-US" b="1" dirty="0">
                <a:ea typeface="+mn-lt"/>
                <a:cs typeface="+mn-lt"/>
              </a:rPr>
              <a:t> </a:t>
            </a:r>
            <a:r>
              <a:rPr lang="en-US" b="1" dirty="0" err="1">
                <a:ea typeface="+mn-lt"/>
                <a:cs typeface="+mn-lt"/>
              </a:rPr>
              <a:t>nhớ</a:t>
            </a:r>
            <a:r>
              <a:rPr lang="en-US" dirty="0">
                <a:ea typeface="+mn-lt"/>
                <a:cs typeface="+mn-lt"/>
              </a:rPr>
              <a:t>, </a:t>
            </a:r>
            <a:r>
              <a:rPr lang="en-US" b="1" dirty="0" err="1">
                <a:ea typeface="+mn-lt"/>
                <a:cs typeface="+mn-lt"/>
              </a:rPr>
              <a:t>tiện</a:t>
            </a:r>
            <a:r>
              <a:rPr lang="en-US" b="1" dirty="0">
                <a:ea typeface="+mn-lt"/>
                <a:cs typeface="+mn-lt"/>
              </a:rPr>
              <a:t> </a:t>
            </a:r>
            <a:r>
              <a:rPr lang="en-US" b="1" dirty="0" err="1">
                <a:ea typeface="+mn-lt"/>
                <a:cs typeface="+mn-lt"/>
              </a:rPr>
              <a:t>lợi</a:t>
            </a:r>
            <a:r>
              <a:rPr lang="en-US" b="1" dirty="0">
                <a:ea typeface="+mn-lt"/>
                <a:cs typeface="+mn-lt"/>
              </a:rPr>
              <a:t> </a:t>
            </a:r>
            <a:r>
              <a:rPr lang="en-US" b="1" dirty="0" err="1">
                <a:ea typeface="+mn-lt"/>
                <a:cs typeface="+mn-lt"/>
              </a:rPr>
              <a:t>và</a:t>
            </a:r>
            <a:r>
              <a:rPr lang="en-US" b="1" dirty="0">
                <a:ea typeface="+mn-lt"/>
                <a:cs typeface="+mn-lt"/>
              </a:rPr>
              <a:t> </a:t>
            </a:r>
            <a:r>
              <a:rPr lang="en-US" b="1" dirty="0" err="1">
                <a:ea typeface="+mn-lt"/>
                <a:cs typeface="+mn-lt"/>
              </a:rPr>
              <a:t>mạnh</a:t>
            </a:r>
            <a:r>
              <a:rPr lang="en-US" b="1" dirty="0">
                <a:ea typeface="+mn-lt"/>
                <a:cs typeface="+mn-lt"/>
              </a:rPr>
              <a:t> </a:t>
            </a:r>
            <a:r>
              <a:rPr lang="en-US" b="1" dirty="0" err="1">
                <a:ea typeface="+mn-lt"/>
                <a:cs typeface="+mn-lt"/>
              </a:rPr>
              <a:t>mẽ</a:t>
            </a:r>
            <a:r>
              <a:rPr lang="en-US" dirty="0">
                <a:ea typeface="+mn-lt"/>
                <a:cs typeface="+mn-lt"/>
              </a:rPr>
              <a:t>, </a:t>
            </a:r>
            <a:r>
              <a:rPr lang="en-US" dirty="0" err="1">
                <a:ea typeface="+mn-lt"/>
                <a:cs typeface="+mn-lt"/>
              </a:rPr>
              <a:t>có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hệ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sinh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thái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đa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dạng</a:t>
            </a:r>
            <a:r>
              <a:rPr lang="en-US" dirty="0">
                <a:ea typeface="+mn-lt"/>
                <a:cs typeface="+mn-lt"/>
              </a:rPr>
              <a:t>.</a:t>
            </a:r>
            <a:endParaRPr lang="en-US" dirty="0"/>
          </a:p>
          <a:p>
            <a:r>
              <a:rPr lang="en-US" err="1"/>
              <a:t>Nhược</a:t>
            </a:r>
            <a:r>
              <a:rPr lang="en-US" dirty="0"/>
              <a:t> </a:t>
            </a:r>
            <a:r>
              <a:rPr lang="en-US" err="1"/>
              <a:t>điểm</a:t>
            </a:r>
            <a:r>
              <a:rPr lang="en-US"/>
              <a:t>: </a:t>
            </a:r>
            <a:r>
              <a:rPr lang="en-US" err="1">
                <a:ea typeface="+mn-lt"/>
                <a:cs typeface="+mn-lt"/>
              </a:rPr>
              <a:t>Không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hỗ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trợ</a:t>
            </a:r>
            <a:r>
              <a:rPr lang="en-US">
                <a:ea typeface="+mn-lt"/>
                <a:cs typeface="+mn-lt"/>
              </a:rPr>
              <a:t> GPU, </a:t>
            </a:r>
            <a:r>
              <a:rPr lang="en-US" err="1">
                <a:ea typeface="+mn-lt"/>
                <a:cs typeface="+mn-lt"/>
              </a:rPr>
              <a:t>khó</a:t>
            </a:r>
            <a:r>
              <a:rPr lang="en-US">
                <a:ea typeface="+mn-lt"/>
                <a:cs typeface="+mn-lt"/>
              </a:rPr>
              <a:t> cho người mới bắt đầu, không tối ưu cho </a:t>
            </a:r>
            <a:r>
              <a:rPr lang="en-US" err="1">
                <a:ea typeface="+mn-lt"/>
                <a:cs typeface="+mn-lt"/>
              </a:rPr>
              <a:t>mọi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ứng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dụng</a:t>
            </a:r>
            <a:r>
              <a:rPr lang="en-US">
                <a:ea typeface="+mn-lt"/>
                <a:cs typeface="+mn-lt"/>
              </a:rPr>
              <a:t>.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pPr>
              <a:buFont typeface="Calibri" panose="020B0604020202020204" pitchFamily="34" charset="0"/>
              <a:buChar char="-"/>
            </a:pP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52947CE-66C3-70EC-AB98-F288C3864D7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1542913"/>
            <a:ext cx="4579408" cy="4326075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400" dirty="0"/>
              <a:t>Các </a:t>
            </a:r>
            <a:r>
              <a:rPr lang="en-US" sz="2400" err="1"/>
              <a:t>thư</a:t>
            </a:r>
            <a:r>
              <a:rPr lang="en-US" sz="2400" dirty="0"/>
              <a:t> </a:t>
            </a:r>
            <a:r>
              <a:rPr lang="en-US" sz="2400" err="1"/>
              <a:t>viện</a:t>
            </a:r>
            <a:r>
              <a:rPr lang="en-US" sz="2400" dirty="0"/>
              <a:t> </a:t>
            </a:r>
            <a:r>
              <a:rPr lang="en-US" sz="2400" err="1"/>
              <a:t>phổ</a:t>
            </a:r>
            <a:r>
              <a:rPr lang="en-US" sz="2400" dirty="0"/>
              <a:t> </a:t>
            </a:r>
            <a:r>
              <a:rPr lang="en-US" sz="2400" err="1"/>
              <a:t>biến</a:t>
            </a:r>
            <a:r>
              <a:rPr lang="en-US" sz="2400" dirty="0"/>
              <a:t>:</a:t>
            </a:r>
          </a:p>
          <a:p>
            <a:pPr marL="285750" indent="-285750">
              <a:buFont typeface="Calibri" panose="020B0604020202020204" pitchFamily="34" charset="0"/>
              <a:buChar char="-"/>
            </a:pPr>
            <a:r>
              <a:rPr lang="en-US" sz="2400" b="1" dirty="0"/>
              <a:t>NumPy</a:t>
            </a:r>
          </a:p>
          <a:p>
            <a:pPr marL="285750" indent="-285750">
              <a:buFont typeface="Calibri" panose="020B0604020202020204" pitchFamily="34" charset="0"/>
              <a:buChar char="-"/>
            </a:pPr>
            <a:r>
              <a:rPr lang="en-US" sz="2400" dirty="0"/>
              <a:t>Pandas</a:t>
            </a:r>
          </a:p>
          <a:p>
            <a:pPr marL="285750" indent="-285750">
              <a:buFont typeface="Calibri" panose="020B0604020202020204" pitchFamily="34" charset="0"/>
              <a:buChar char="-"/>
            </a:pPr>
            <a:r>
              <a:rPr lang="en-US" sz="2400" dirty="0" err="1"/>
              <a:t>Matloblib</a:t>
            </a:r>
            <a:endParaRPr lang="en-US" sz="2400" dirty="0"/>
          </a:p>
          <a:p>
            <a:pPr marL="285750" indent="-285750">
              <a:buFont typeface="Calibri" panose="020B0604020202020204" pitchFamily="34" charset="0"/>
              <a:buChar char="-"/>
            </a:pPr>
            <a:r>
              <a:rPr lang="en-US" sz="2400" dirty="0" err="1"/>
              <a:t>Pytorch</a:t>
            </a:r>
            <a:endParaRPr lang="en-US" sz="2400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568807D-DA73-F1BD-436D-6C0EC4C023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BB9884-6B0A-472D-AE65-3CF47CC3AD3F}" type="datetime1">
              <a:t>11/28/2025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19B876F-FF5A-E98E-7137-EF9B19E9FC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E554BA-E06D-D7BA-3035-63A67AD33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DE196-8A13-4FF7-A07E-102851959EAB}" type="slidenum">
              <a:rPr lang="en-US" dirty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8438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3BBAA8-50FF-4077-27B9-6F7BA291BF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2F0BB9-F0FD-7551-5A7B-644B27F9CA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807868"/>
            <a:ext cx="4579408" cy="2062594"/>
          </a:xfrm>
        </p:spPr>
        <p:txBody>
          <a:bodyPr/>
          <a:lstStyle/>
          <a:p>
            <a:r>
              <a:rPr lang="en-US" sz="3200" b="1" dirty="0">
                <a:latin typeface="Aptos"/>
              </a:rPr>
              <a:t>Các </a:t>
            </a:r>
            <a:r>
              <a:rPr lang="en-US" sz="3200" b="1" err="1">
                <a:latin typeface="Aptos"/>
              </a:rPr>
              <a:t>thư</a:t>
            </a:r>
            <a:r>
              <a:rPr lang="en-US" sz="3200" b="1" dirty="0">
                <a:latin typeface="Aptos"/>
              </a:rPr>
              <a:t> </a:t>
            </a:r>
            <a:r>
              <a:rPr lang="en-US" sz="3200" b="1" err="1">
                <a:latin typeface="Aptos"/>
              </a:rPr>
              <a:t>viện</a:t>
            </a:r>
            <a:r>
              <a:rPr lang="en-US" sz="3200" b="1" dirty="0">
                <a:latin typeface="Aptos"/>
              </a:rPr>
              <a:t> </a:t>
            </a:r>
            <a:r>
              <a:rPr lang="en-US" sz="3200" b="1" err="1">
                <a:latin typeface="Aptos"/>
              </a:rPr>
              <a:t>phổ</a:t>
            </a:r>
            <a:r>
              <a:rPr lang="en-US" sz="3200" b="1" dirty="0">
                <a:latin typeface="Aptos"/>
              </a:rPr>
              <a:t> </a:t>
            </a:r>
            <a:r>
              <a:rPr lang="en-US" sz="3200" b="1" err="1">
                <a:latin typeface="Aptos"/>
              </a:rPr>
              <a:t>biến</a:t>
            </a:r>
            <a:endParaRPr lang="en-US" sz="3200" b="1" dirty="0">
              <a:latin typeface="Apto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57D937-8A84-D85B-8175-E9C937463D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21855" y="443433"/>
            <a:ext cx="6772835" cy="6267964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dirty="0"/>
              <a:t>Pandas:</a:t>
            </a:r>
          </a:p>
          <a:p>
            <a:r>
              <a:rPr lang="en-US" dirty="0" err="1"/>
              <a:t>Khái</a:t>
            </a:r>
            <a:r>
              <a:rPr lang="en-US" dirty="0"/>
              <a:t> </a:t>
            </a:r>
            <a:r>
              <a:rPr lang="en-US" dirty="0" err="1"/>
              <a:t>niệm</a:t>
            </a:r>
            <a:r>
              <a:rPr lang="en-US" dirty="0"/>
              <a:t> :</a:t>
            </a:r>
            <a:r>
              <a:rPr lang="en-US" dirty="0">
                <a:ea typeface="+mn-lt"/>
                <a:cs typeface="+mn-lt"/>
              </a:rPr>
              <a:t> Thư </a:t>
            </a:r>
            <a:r>
              <a:rPr lang="en-US" dirty="0" err="1">
                <a:ea typeface="+mn-lt"/>
                <a:cs typeface="+mn-lt"/>
              </a:rPr>
              <a:t>viện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mã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nguồn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mở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xây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dựng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dựa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trên</a:t>
            </a:r>
            <a:r>
              <a:rPr lang="en-US" dirty="0">
                <a:ea typeface="+mn-lt"/>
                <a:cs typeface="+mn-lt"/>
              </a:rPr>
              <a:t> NumPy, </a:t>
            </a:r>
            <a:r>
              <a:rPr lang="en-US" dirty="0" err="1">
                <a:ea typeface="+mn-lt"/>
                <a:cs typeface="+mn-lt"/>
              </a:rPr>
              <a:t>dùng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để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b="1" dirty="0" err="1">
                <a:ea typeface="+mn-lt"/>
                <a:cs typeface="+mn-lt"/>
              </a:rPr>
              <a:t>thao</a:t>
            </a:r>
            <a:r>
              <a:rPr lang="en-US" b="1" dirty="0">
                <a:ea typeface="+mn-lt"/>
                <a:cs typeface="+mn-lt"/>
              </a:rPr>
              <a:t> </a:t>
            </a:r>
            <a:r>
              <a:rPr lang="en-US" b="1" dirty="0" err="1">
                <a:ea typeface="+mn-lt"/>
                <a:cs typeface="+mn-lt"/>
              </a:rPr>
              <a:t>tác</a:t>
            </a:r>
            <a:r>
              <a:rPr lang="en-US" b="1" dirty="0">
                <a:ea typeface="+mn-lt"/>
                <a:cs typeface="+mn-lt"/>
              </a:rPr>
              <a:t> </a:t>
            </a:r>
            <a:r>
              <a:rPr lang="en-US" b="1" dirty="0" err="1">
                <a:ea typeface="+mn-lt"/>
                <a:cs typeface="+mn-lt"/>
              </a:rPr>
              <a:t>và</a:t>
            </a:r>
            <a:r>
              <a:rPr lang="en-US" b="1" dirty="0">
                <a:ea typeface="+mn-lt"/>
                <a:cs typeface="+mn-lt"/>
              </a:rPr>
              <a:t> </a:t>
            </a:r>
            <a:r>
              <a:rPr lang="en-US" b="1" dirty="0" err="1">
                <a:ea typeface="+mn-lt"/>
                <a:cs typeface="+mn-lt"/>
              </a:rPr>
              <a:t>phân</a:t>
            </a:r>
            <a:r>
              <a:rPr lang="en-US" b="1" dirty="0">
                <a:ea typeface="+mn-lt"/>
                <a:cs typeface="+mn-lt"/>
              </a:rPr>
              <a:t> </a:t>
            </a:r>
            <a:r>
              <a:rPr lang="en-US" b="1" dirty="0" err="1">
                <a:ea typeface="+mn-lt"/>
                <a:cs typeface="+mn-lt"/>
              </a:rPr>
              <a:t>tích</a:t>
            </a:r>
            <a:r>
              <a:rPr lang="en-US" b="1" dirty="0">
                <a:ea typeface="+mn-lt"/>
                <a:cs typeface="+mn-lt"/>
              </a:rPr>
              <a:t> </a:t>
            </a:r>
            <a:r>
              <a:rPr lang="en-US" b="1" dirty="0" err="1">
                <a:ea typeface="+mn-lt"/>
                <a:cs typeface="+mn-lt"/>
              </a:rPr>
              <a:t>dữ</a:t>
            </a:r>
            <a:r>
              <a:rPr lang="en-US" b="1" dirty="0">
                <a:ea typeface="+mn-lt"/>
                <a:cs typeface="+mn-lt"/>
              </a:rPr>
              <a:t> </a:t>
            </a:r>
            <a:r>
              <a:rPr lang="en-US" b="1" dirty="0" err="1">
                <a:ea typeface="+mn-lt"/>
                <a:cs typeface="+mn-lt"/>
              </a:rPr>
              <a:t>liệu</a:t>
            </a:r>
            <a:r>
              <a:rPr lang="en-US" dirty="0">
                <a:ea typeface="+mn-lt"/>
                <a:cs typeface="+mn-lt"/>
              </a:rPr>
              <a:t> (</a:t>
            </a:r>
            <a:r>
              <a:rPr lang="en-US" dirty="0" err="1">
                <a:ea typeface="+mn-lt"/>
                <a:cs typeface="+mn-lt"/>
              </a:rPr>
              <a:t>dữ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liệu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gắn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nhãn</a:t>
            </a:r>
            <a:r>
              <a:rPr lang="en-US" dirty="0">
                <a:ea typeface="+mn-lt"/>
                <a:cs typeface="+mn-lt"/>
              </a:rPr>
              <a:t>/</a:t>
            </a:r>
            <a:r>
              <a:rPr lang="en-US" dirty="0" err="1">
                <a:ea typeface="+mn-lt"/>
                <a:cs typeface="+mn-lt"/>
              </a:rPr>
              <a:t>quan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hệ</a:t>
            </a:r>
            <a:r>
              <a:rPr lang="en-US" dirty="0">
                <a:ea typeface="+mn-lt"/>
                <a:cs typeface="+mn-lt"/>
              </a:rPr>
              <a:t>).</a:t>
            </a:r>
          </a:p>
          <a:p>
            <a:r>
              <a:rPr lang="en-US" dirty="0" err="1"/>
              <a:t>Thời</a:t>
            </a:r>
            <a:r>
              <a:rPr lang="en-US" dirty="0"/>
              <a:t> </a:t>
            </a:r>
            <a:r>
              <a:rPr lang="en-US" dirty="0" err="1"/>
              <a:t>gian</a:t>
            </a:r>
            <a:r>
              <a:rPr lang="en-US" dirty="0"/>
              <a:t>: </a:t>
            </a:r>
            <a:r>
              <a:rPr lang="en-US" dirty="0">
                <a:ea typeface="+mn-lt"/>
                <a:cs typeface="+mn-lt"/>
              </a:rPr>
              <a:t>2008 </a:t>
            </a:r>
          </a:p>
          <a:p>
            <a:r>
              <a:rPr lang="en-US" dirty="0" err="1"/>
              <a:t>Người</a:t>
            </a:r>
            <a:r>
              <a:rPr lang="en-US" dirty="0"/>
              <a:t> </a:t>
            </a:r>
            <a:r>
              <a:rPr lang="en-US" dirty="0" err="1"/>
              <a:t>sáng</a:t>
            </a:r>
            <a:r>
              <a:rPr lang="en-US" dirty="0"/>
              <a:t> </a:t>
            </a:r>
            <a:r>
              <a:rPr lang="en-US" dirty="0" err="1"/>
              <a:t>lập</a:t>
            </a:r>
            <a:r>
              <a:rPr lang="en-US" dirty="0"/>
              <a:t> : Wes McKinney</a:t>
            </a:r>
          </a:p>
          <a:p>
            <a:r>
              <a:rPr lang="en-US" dirty="0" err="1"/>
              <a:t>Ưu</a:t>
            </a:r>
            <a:r>
              <a:rPr lang="en-US" dirty="0"/>
              <a:t> </a:t>
            </a:r>
            <a:r>
              <a:rPr lang="en-US" dirty="0" err="1"/>
              <a:t>điểm</a:t>
            </a:r>
            <a:r>
              <a:rPr lang="en-US" dirty="0"/>
              <a:t>: </a:t>
            </a:r>
            <a:r>
              <a:rPr lang="en-US" b="1" dirty="0" err="1">
                <a:ea typeface="+mn-lt"/>
                <a:cs typeface="+mn-lt"/>
              </a:rPr>
              <a:t>Tốc</a:t>
            </a:r>
            <a:r>
              <a:rPr lang="en-US" b="1" dirty="0">
                <a:ea typeface="+mn-lt"/>
                <a:cs typeface="+mn-lt"/>
              </a:rPr>
              <a:t> </a:t>
            </a:r>
            <a:r>
              <a:rPr lang="en-US" b="1" dirty="0" err="1">
                <a:ea typeface="+mn-lt"/>
                <a:cs typeface="+mn-lt"/>
              </a:rPr>
              <a:t>độ</a:t>
            </a:r>
            <a:r>
              <a:rPr lang="en-US" b="1" dirty="0">
                <a:ea typeface="+mn-lt"/>
                <a:cs typeface="+mn-lt"/>
              </a:rPr>
              <a:t> </a:t>
            </a:r>
            <a:r>
              <a:rPr lang="en-US" b="1" dirty="0" err="1">
                <a:ea typeface="+mn-lt"/>
                <a:cs typeface="+mn-lt"/>
              </a:rPr>
              <a:t>xử</a:t>
            </a:r>
            <a:r>
              <a:rPr lang="en-US" b="1" dirty="0">
                <a:ea typeface="+mn-lt"/>
                <a:cs typeface="+mn-lt"/>
              </a:rPr>
              <a:t> </a:t>
            </a:r>
            <a:r>
              <a:rPr lang="en-US" b="1" dirty="0" err="1">
                <a:ea typeface="+mn-lt"/>
                <a:cs typeface="+mn-lt"/>
              </a:rPr>
              <a:t>lý</a:t>
            </a:r>
            <a:r>
              <a:rPr lang="en-US" b="1" dirty="0">
                <a:ea typeface="+mn-lt"/>
                <a:cs typeface="+mn-lt"/>
              </a:rPr>
              <a:t> </a:t>
            </a:r>
            <a:r>
              <a:rPr lang="en-US" b="1" dirty="0" err="1">
                <a:ea typeface="+mn-lt"/>
                <a:cs typeface="+mn-lt"/>
              </a:rPr>
              <a:t>và</a:t>
            </a:r>
            <a:r>
              <a:rPr lang="en-US" b="1" dirty="0">
                <a:ea typeface="+mn-lt"/>
                <a:cs typeface="+mn-lt"/>
              </a:rPr>
              <a:t> </a:t>
            </a:r>
            <a:r>
              <a:rPr lang="en-US" b="1" dirty="0" err="1">
                <a:ea typeface="+mn-lt"/>
                <a:cs typeface="+mn-lt"/>
              </a:rPr>
              <a:t>hiệu</a:t>
            </a:r>
            <a:r>
              <a:rPr lang="en-US" b="1" dirty="0">
                <a:ea typeface="+mn-lt"/>
                <a:cs typeface="+mn-lt"/>
              </a:rPr>
              <a:t> </a:t>
            </a:r>
            <a:r>
              <a:rPr lang="en-US" b="1" dirty="0" err="1">
                <a:ea typeface="+mn-lt"/>
                <a:cs typeface="+mn-lt"/>
              </a:rPr>
              <a:t>suất</a:t>
            </a:r>
            <a:r>
              <a:rPr lang="en-US" b="1" dirty="0">
                <a:ea typeface="+mn-lt"/>
                <a:cs typeface="+mn-lt"/>
              </a:rPr>
              <a:t> </a:t>
            </a:r>
            <a:r>
              <a:rPr lang="en-US" b="1" dirty="0" err="1">
                <a:ea typeface="+mn-lt"/>
                <a:cs typeface="+mn-lt"/>
              </a:rPr>
              <a:t>cao</a:t>
            </a:r>
            <a:r>
              <a:rPr lang="en-US" dirty="0">
                <a:ea typeface="+mn-lt"/>
                <a:cs typeface="+mn-lt"/>
              </a:rPr>
              <a:t>, </a:t>
            </a:r>
            <a:r>
              <a:rPr lang="en-US" dirty="0" err="1">
                <a:ea typeface="+mn-lt"/>
                <a:cs typeface="+mn-lt"/>
              </a:rPr>
              <a:t>linh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hoạt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và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hiệu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quả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trong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xử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lý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dữ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liệu</a:t>
            </a:r>
            <a:r>
              <a:rPr lang="en-US" dirty="0">
                <a:ea typeface="+mn-lt"/>
                <a:cs typeface="+mn-lt"/>
              </a:rPr>
              <a:t>, </a:t>
            </a:r>
            <a:r>
              <a:rPr lang="en-US" dirty="0" err="1">
                <a:ea typeface="+mn-lt"/>
                <a:cs typeface="+mn-lt"/>
              </a:rPr>
              <a:t>tích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hợp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tốt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với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hệ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sinh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thái</a:t>
            </a:r>
            <a:r>
              <a:rPr lang="en-US" dirty="0">
                <a:ea typeface="+mn-lt"/>
                <a:cs typeface="+mn-lt"/>
              </a:rPr>
              <a:t> Python.</a:t>
            </a:r>
          </a:p>
          <a:p>
            <a:r>
              <a:rPr lang="en-US" dirty="0" err="1"/>
              <a:t>Nhược</a:t>
            </a:r>
            <a:r>
              <a:rPr lang="en-US" dirty="0"/>
              <a:t> </a:t>
            </a:r>
            <a:r>
              <a:rPr lang="en-US" dirty="0" err="1"/>
              <a:t>điểm</a:t>
            </a:r>
            <a:r>
              <a:rPr lang="en-US" dirty="0"/>
              <a:t>: </a:t>
            </a:r>
            <a:r>
              <a:rPr lang="en-US" dirty="0">
                <a:ea typeface="+mn-lt"/>
                <a:cs typeface="+mn-lt"/>
              </a:rPr>
              <a:t>Hiệu </a:t>
            </a:r>
            <a:r>
              <a:rPr lang="en-US" dirty="0" err="1">
                <a:ea typeface="+mn-lt"/>
                <a:cs typeface="+mn-lt"/>
              </a:rPr>
              <a:t>suất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kém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với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tập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dữ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liệu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lớn</a:t>
            </a:r>
            <a:r>
              <a:rPr lang="en-US" dirty="0">
                <a:ea typeface="+mn-lt"/>
                <a:cs typeface="+mn-lt"/>
              </a:rPr>
              <a:t>, </a:t>
            </a:r>
            <a:r>
              <a:rPr lang="en-US" b="1" dirty="0" err="1">
                <a:ea typeface="+mn-lt"/>
                <a:cs typeface="+mn-lt"/>
              </a:rPr>
              <a:t>ngốn</a:t>
            </a:r>
            <a:r>
              <a:rPr lang="en-US" b="1" dirty="0">
                <a:ea typeface="+mn-lt"/>
                <a:cs typeface="+mn-lt"/>
              </a:rPr>
              <a:t> </a:t>
            </a:r>
            <a:r>
              <a:rPr lang="en-US" b="1" dirty="0" err="1">
                <a:ea typeface="+mn-lt"/>
                <a:cs typeface="+mn-lt"/>
              </a:rPr>
              <a:t>bộ</a:t>
            </a:r>
            <a:r>
              <a:rPr lang="en-US" b="1" dirty="0">
                <a:ea typeface="+mn-lt"/>
                <a:cs typeface="+mn-lt"/>
              </a:rPr>
              <a:t> </a:t>
            </a:r>
            <a:r>
              <a:rPr lang="en-US" b="1" dirty="0" err="1">
                <a:ea typeface="+mn-lt"/>
                <a:cs typeface="+mn-lt"/>
              </a:rPr>
              <a:t>nhớ</a:t>
            </a:r>
            <a:r>
              <a:rPr lang="en-US" dirty="0">
                <a:ea typeface="+mn-lt"/>
                <a:cs typeface="+mn-lt"/>
              </a:rPr>
              <a:t>, </a:t>
            </a:r>
            <a:r>
              <a:rPr lang="en-US" dirty="0" err="1">
                <a:ea typeface="+mn-lt"/>
                <a:cs typeface="+mn-lt"/>
              </a:rPr>
              <a:t>không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thể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tính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toán</a:t>
            </a:r>
            <a:r>
              <a:rPr lang="en-US" dirty="0">
                <a:ea typeface="+mn-lt"/>
                <a:cs typeface="+mn-lt"/>
              </a:rPr>
              <a:t> song </a:t>
            </a:r>
            <a:r>
              <a:rPr lang="en-US" dirty="0" err="1">
                <a:ea typeface="+mn-lt"/>
                <a:cs typeface="+mn-lt"/>
              </a:rPr>
              <a:t>song</a:t>
            </a:r>
            <a:r>
              <a:rPr lang="en-US" dirty="0">
                <a:ea typeface="+mn-lt"/>
                <a:cs typeface="+mn-lt"/>
              </a:rPr>
              <a:t>.</a:t>
            </a:r>
          </a:p>
          <a:p>
            <a:endParaRPr lang="en-US" dirty="0"/>
          </a:p>
          <a:p>
            <a:endParaRPr lang="en-US" dirty="0"/>
          </a:p>
          <a:p>
            <a:pPr>
              <a:buFont typeface="Calibri" panose="020B0604020202020204" pitchFamily="34" charset="0"/>
              <a:buChar char="-"/>
            </a:pP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DC70B12-B3B1-AFCD-D5E1-FBCCAB2553A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1542913"/>
            <a:ext cx="4579408" cy="4326075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400" dirty="0"/>
              <a:t>Các </a:t>
            </a:r>
            <a:r>
              <a:rPr lang="en-US" sz="2400" err="1"/>
              <a:t>thư</a:t>
            </a:r>
            <a:r>
              <a:rPr lang="en-US" sz="2400" dirty="0"/>
              <a:t> </a:t>
            </a:r>
            <a:r>
              <a:rPr lang="en-US" sz="2400" err="1"/>
              <a:t>viện</a:t>
            </a:r>
            <a:r>
              <a:rPr lang="en-US" sz="2400" dirty="0"/>
              <a:t> </a:t>
            </a:r>
            <a:r>
              <a:rPr lang="en-US" sz="2400" err="1"/>
              <a:t>phổ</a:t>
            </a:r>
            <a:r>
              <a:rPr lang="en-US" sz="2400" dirty="0"/>
              <a:t> </a:t>
            </a:r>
            <a:r>
              <a:rPr lang="en-US" sz="2400" err="1"/>
              <a:t>biến</a:t>
            </a:r>
            <a:r>
              <a:rPr lang="en-US" sz="2400" dirty="0"/>
              <a:t>:</a:t>
            </a:r>
          </a:p>
          <a:p>
            <a:pPr marL="285750" indent="-285750">
              <a:buFont typeface="Calibri" panose="020B0604020202020204" pitchFamily="34" charset="0"/>
              <a:buChar char="-"/>
            </a:pPr>
            <a:r>
              <a:rPr lang="en-US" sz="2400" dirty="0"/>
              <a:t>NumPy</a:t>
            </a:r>
          </a:p>
          <a:p>
            <a:pPr marL="285750" indent="-285750">
              <a:buFont typeface="Calibri" panose="020B0604020202020204" pitchFamily="34" charset="0"/>
              <a:buChar char="-"/>
            </a:pPr>
            <a:r>
              <a:rPr lang="en-US" sz="2400" b="1" dirty="0"/>
              <a:t>Pandas</a:t>
            </a:r>
          </a:p>
          <a:p>
            <a:pPr marL="285750" indent="-285750">
              <a:buFont typeface="Calibri" panose="020B0604020202020204" pitchFamily="34" charset="0"/>
              <a:buChar char="-"/>
            </a:pPr>
            <a:r>
              <a:rPr lang="en-US" sz="2400" dirty="0" err="1"/>
              <a:t>Matloblib</a:t>
            </a:r>
            <a:endParaRPr lang="en-US" sz="2400" dirty="0"/>
          </a:p>
          <a:p>
            <a:pPr marL="285750" indent="-285750">
              <a:buFont typeface="Calibri" panose="020B0604020202020204" pitchFamily="34" charset="0"/>
              <a:buChar char="-"/>
            </a:pPr>
            <a:r>
              <a:rPr lang="en-US" sz="2400" dirty="0" err="1"/>
              <a:t>Pytorch</a:t>
            </a:r>
            <a:endParaRPr lang="en-US" sz="2400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BBA90BE-240E-DA6A-28EB-DE77CEFC24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BB9884-6B0A-472D-AE65-3CF47CC3AD3F}" type="datetime1">
              <a:t>11/28/2025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25E8DF3-6474-64FA-DB32-3FFB895DD4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75A9EAE-2086-E83B-900C-71D29A9738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DE196-8A13-4FF7-A07E-102851959EAB}" type="slidenum">
              <a:rPr lang="en-US" dirty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94440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8DCF9D-3444-5489-D512-BF9866B20B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473F73-5EBF-4B9A-72D9-1DD9A03FC8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807868"/>
            <a:ext cx="4579408" cy="2062594"/>
          </a:xfrm>
        </p:spPr>
        <p:txBody>
          <a:bodyPr/>
          <a:lstStyle/>
          <a:p>
            <a:r>
              <a:rPr lang="en-US" sz="3200" b="1" dirty="0">
                <a:latin typeface="Aptos"/>
              </a:rPr>
              <a:t>Các </a:t>
            </a:r>
            <a:r>
              <a:rPr lang="en-US" sz="3200" b="1" err="1">
                <a:latin typeface="Aptos"/>
              </a:rPr>
              <a:t>thư</a:t>
            </a:r>
            <a:r>
              <a:rPr lang="en-US" sz="3200" b="1" dirty="0">
                <a:latin typeface="Aptos"/>
              </a:rPr>
              <a:t> </a:t>
            </a:r>
            <a:r>
              <a:rPr lang="en-US" sz="3200" b="1" err="1">
                <a:latin typeface="Aptos"/>
              </a:rPr>
              <a:t>viện</a:t>
            </a:r>
            <a:r>
              <a:rPr lang="en-US" sz="3200" b="1" dirty="0">
                <a:latin typeface="Aptos"/>
              </a:rPr>
              <a:t> </a:t>
            </a:r>
            <a:r>
              <a:rPr lang="en-US" sz="3200" b="1" err="1">
                <a:latin typeface="Aptos"/>
              </a:rPr>
              <a:t>phổ</a:t>
            </a:r>
            <a:r>
              <a:rPr lang="en-US" sz="3200" b="1" dirty="0">
                <a:latin typeface="Aptos"/>
              </a:rPr>
              <a:t> </a:t>
            </a:r>
            <a:r>
              <a:rPr lang="en-US" sz="3200" b="1" err="1">
                <a:latin typeface="Aptos"/>
              </a:rPr>
              <a:t>biến</a:t>
            </a:r>
            <a:endParaRPr lang="en-US" sz="3200" b="1" dirty="0">
              <a:latin typeface="Apto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9F189C-F9BC-0006-88B0-31CB1C0271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21855" y="443433"/>
            <a:ext cx="6772835" cy="6267964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dirty="0" err="1"/>
              <a:t>Matloblib</a:t>
            </a:r>
          </a:p>
          <a:p>
            <a:r>
              <a:rPr lang="en-US" dirty="0" err="1"/>
              <a:t>Khái</a:t>
            </a:r>
            <a:r>
              <a:rPr lang="en-US" dirty="0"/>
              <a:t> </a:t>
            </a:r>
            <a:r>
              <a:rPr lang="en-US" dirty="0" err="1"/>
              <a:t>niệm</a:t>
            </a:r>
            <a:r>
              <a:rPr lang="en-US" dirty="0"/>
              <a:t> :</a:t>
            </a:r>
            <a:r>
              <a:rPr lang="en-US" dirty="0">
                <a:ea typeface="+mn-lt"/>
                <a:cs typeface="+mn-lt"/>
              </a:rPr>
              <a:t> Thư </a:t>
            </a:r>
            <a:r>
              <a:rPr lang="en-US" dirty="0" err="1">
                <a:ea typeface="+mn-lt"/>
                <a:cs typeface="+mn-lt"/>
              </a:rPr>
              <a:t>viện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vẽ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đồ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thị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mạnh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mẽ</a:t>
            </a:r>
            <a:r>
              <a:rPr lang="en-US" dirty="0">
                <a:ea typeface="+mn-lt"/>
                <a:cs typeface="+mn-lt"/>
              </a:rPr>
              <a:t>, </a:t>
            </a:r>
            <a:r>
              <a:rPr lang="en-US" dirty="0" err="1">
                <a:ea typeface="+mn-lt"/>
                <a:cs typeface="+mn-lt"/>
              </a:rPr>
              <a:t>thực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hiện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các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suy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luận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thống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kê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cần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thiết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và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b="1" dirty="0" err="1">
                <a:ea typeface="+mn-lt"/>
                <a:cs typeface="+mn-lt"/>
              </a:rPr>
              <a:t>trực</a:t>
            </a:r>
            <a:r>
              <a:rPr lang="en-US" b="1" dirty="0">
                <a:ea typeface="+mn-lt"/>
                <a:cs typeface="+mn-lt"/>
              </a:rPr>
              <a:t> </a:t>
            </a:r>
            <a:r>
              <a:rPr lang="en-US" b="1" dirty="0" err="1">
                <a:ea typeface="+mn-lt"/>
                <a:cs typeface="+mn-lt"/>
              </a:rPr>
              <a:t>quan</a:t>
            </a:r>
            <a:r>
              <a:rPr lang="en-US" b="1" dirty="0">
                <a:ea typeface="+mn-lt"/>
                <a:cs typeface="+mn-lt"/>
              </a:rPr>
              <a:t> </a:t>
            </a:r>
            <a:r>
              <a:rPr lang="en-US" b="1" dirty="0" err="1">
                <a:ea typeface="+mn-lt"/>
                <a:cs typeface="+mn-lt"/>
              </a:rPr>
              <a:t>hoá</a:t>
            </a:r>
            <a:r>
              <a:rPr lang="en-US" b="1" dirty="0">
                <a:ea typeface="+mn-lt"/>
                <a:cs typeface="+mn-lt"/>
              </a:rPr>
              <a:t> </a:t>
            </a:r>
            <a:r>
              <a:rPr lang="en-US" b="1" dirty="0" err="1">
                <a:ea typeface="+mn-lt"/>
                <a:cs typeface="+mn-lt"/>
              </a:rPr>
              <a:t>dữ</a:t>
            </a:r>
            <a:r>
              <a:rPr lang="en-US" b="1" dirty="0">
                <a:ea typeface="+mn-lt"/>
                <a:cs typeface="+mn-lt"/>
              </a:rPr>
              <a:t> </a:t>
            </a:r>
            <a:r>
              <a:rPr lang="en-US" b="1" dirty="0" err="1">
                <a:ea typeface="+mn-lt"/>
                <a:cs typeface="+mn-lt"/>
              </a:rPr>
              <a:t>liệu</a:t>
            </a:r>
            <a:r>
              <a:rPr lang="en-US" dirty="0">
                <a:ea typeface="+mn-lt"/>
                <a:cs typeface="+mn-lt"/>
              </a:rPr>
              <a:t>.</a:t>
            </a:r>
          </a:p>
          <a:p>
            <a:r>
              <a:rPr lang="en-US" dirty="0" err="1"/>
              <a:t>Thời</a:t>
            </a:r>
            <a:r>
              <a:rPr lang="en-US" dirty="0"/>
              <a:t> </a:t>
            </a:r>
            <a:r>
              <a:rPr lang="en-US" dirty="0" err="1"/>
              <a:t>gian</a:t>
            </a:r>
            <a:r>
              <a:rPr lang="en-US" dirty="0"/>
              <a:t>: </a:t>
            </a:r>
            <a:r>
              <a:rPr lang="en-US" dirty="0">
                <a:ea typeface="+mn-lt"/>
                <a:cs typeface="+mn-lt"/>
              </a:rPr>
              <a:t>2002</a:t>
            </a:r>
          </a:p>
          <a:p>
            <a:r>
              <a:rPr lang="en-US" dirty="0" err="1"/>
              <a:t>Người</a:t>
            </a:r>
            <a:r>
              <a:rPr lang="en-US" dirty="0"/>
              <a:t> </a:t>
            </a:r>
            <a:r>
              <a:rPr lang="en-US" dirty="0" err="1"/>
              <a:t>sáng</a:t>
            </a:r>
            <a:r>
              <a:rPr lang="en-US" dirty="0"/>
              <a:t> </a:t>
            </a:r>
            <a:r>
              <a:rPr lang="en-US" dirty="0" err="1"/>
              <a:t>lập</a:t>
            </a:r>
            <a:r>
              <a:rPr lang="en-US" dirty="0"/>
              <a:t> : </a:t>
            </a:r>
            <a:r>
              <a:rPr lang="en-US" dirty="0">
                <a:ea typeface="+mn-lt"/>
                <a:cs typeface="+mn-lt"/>
              </a:rPr>
              <a:t>John D. Hunter (</a:t>
            </a:r>
            <a:r>
              <a:rPr lang="en-US" dirty="0" err="1">
                <a:ea typeface="+mn-lt"/>
                <a:cs typeface="+mn-lt"/>
              </a:rPr>
              <a:t>người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khởi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xướng</a:t>
            </a:r>
            <a:r>
              <a:rPr lang="en-US" dirty="0">
                <a:ea typeface="+mn-lt"/>
                <a:cs typeface="+mn-lt"/>
              </a:rPr>
              <a:t> ban </a:t>
            </a:r>
            <a:r>
              <a:rPr lang="en-US" dirty="0" err="1">
                <a:ea typeface="+mn-lt"/>
                <a:cs typeface="+mn-lt"/>
              </a:rPr>
              <a:t>đầu</a:t>
            </a:r>
            <a:r>
              <a:rPr lang="en-US" dirty="0">
                <a:ea typeface="+mn-lt"/>
                <a:cs typeface="+mn-lt"/>
              </a:rPr>
              <a:t>).</a:t>
            </a:r>
          </a:p>
          <a:p>
            <a:r>
              <a:rPr lang="en-US" dirty="0" err="1"/>
              <a:t>Ưu</a:t>
            </a:r>
            <a:r>
              <a:rPr lang="en-US" dirty="0"/>
              <a:t> </a:t>
            </a:r>
            <a:r>
              <a:rPr lang="en-US" dirty="0" err="1"/>
              <a:t>điểm</a:t>
            </a:r>
            <a:r>
              <a:rPr lang="en-US" dirty="0"/>
              <a:t>: </a:t>
            </a:r>
            <a:r>
              <a:rPr lang="en-US" b="1" dirty="0" err="1">
                <a:ea typeface="+mn-lt"/>
                <a:cs typeface="+mn-lt"/>
              </a:rPr>
              <a:t>Dễ</a:t>
            </a:r>
            <a:r>
              <a:rPr lang="en-US" b="1" dirty="0">
                <a:ea typeface="+mn-lt"/>
                <a:cs typeface="+mn-lt"/>
              </a:rPr>
              <a:t> </a:t>
            </a:r>
            <a:r>
              <a:rPr lang="en-US" b="1" dirty="0" err="1">
                <a:ea typeface="+mn-lt"/>
                <a:cs typeface="+mn-lt"/>
              </a:rPr>
              <a:t>sử</a:t>
            </a:r>
            <a:r>
              <a:rPr lang="en-US" b="1" dirty="0">
                <a:ea typeface="+mn-lt"/>
                <a:cs typeface="+mn-lt"/>
              </a:rPr>
              <a:t> </a:t>
            </a:r>
            <a:r>
              <a:rPr lang="en-US" b="1" dirty="0" err="1">
                <a:ea typeface="+mn-lt"/>
                <a:cs typeface="+mn-lt"/>
              </a:rPr>
              <a:t>dụng</a:t>
            </a:r>
            <a:r>
              <a:rPr lang="en-US" b="1" dirty="0">
                <a:ea typeface="+mn-lt"/>
                <a:cs typeface="+mn-lt"/>
              </a:rPr>
              <a:t> </a:t>
            </a:r>
            <a:r>
              <a:rPr lang="en-US" b="1" dirty="0" err="1">
                <a:ea typeface="+mn-lt"/>
                <a:cs typeface="+mn-lt"/>
              </a:rPr>
              <a:t>và</a:t>
            </a:r>
            <a:r>
              <a:rPr lang="en-US" b="1" dirty="0">
                <a:ea typeface="+mn-lt"/>
                <a:cs typeface="+mn-lt"/>
              </a:rPr>
              <a:t> </a:t>
            </a:r>
            <a:r>
              <a:rPr lang="en-US" b="1" dirty="0" err="1">
                <a:ea typeface="+mn-lt"/>
                <a:cs typeface="+mn-lt"/>
              </a:rPr>
              <a:t>dễ</a:t>
            </a:r>
            <a:r>
              <a:rPr lang="en-US" b="1" dirty="0">
                <a:ea typeface="+mn-lt"/>
                <a:cs typeface="+mn-lt"/>
              </a:rPr>
              <a:t> </a:t>
            </a:r>
            <a:r>
              <a:rPr lang="en-US" b="1" dirty="0" err="1">
                <a:ea typeface="+mn-lt"/>
                <a:cs typeface="+mn-lt"/>
              </a:rPr>
              <a:t>học</a:t>
            </a:r>
            <a:r>
              <a:rPr lang="en-US" dirty="0">
                <a:ea typeface="+mn-lt"/>
                <a:cs typeface="+mn-lt"/>
              </a:rPr>
              <a:t>, </a:t>
            </a:r>
            <a:r>
              <a:rPr lang="en-US" dirty="0" err="1">
                <a:ea typeface="+mn-lt"/>
                <a:cs typeface="+mn-lt"/>
              </a:rPr>
              <a:t>khả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năng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tuỳ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biến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cao</a:t>
            </a:r>
            <a:r>
              <a:rPr lang="en-US" dirty="0">
                <a:ea typeface="+mn-lt"/>
                <a:cs typeface="+mn-lt"/>
              </a:rPr>
              <a:t>, </a:t>
            </a:r>
            <a:r>
              <a:rPr lang="en-US" dirty="0" err="1">
                <a:ea typeface="+mn-lt"/>
                <a:cs typeface="+mn-lt"/>
              </a:rPr>
              <a:t>tích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hợp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tốt</a:t>
            </a:r>
            <a:r>
              <a:rPr lang="en-US" dirty="0">
                <a:ea typeface="+mn-lt"/>
                <a:cs typeface="+mn-lt"/>
              </a:rPr>
              <a:t>, </a:t>
            </a:r>
            <a:r>
              <a:rPr lang="en-US" dirty="0" err="1">
                <a:ea typeface="+mn-lt"/>
                <a:cs typeface="+mn-lt"/>
              </a:rPr>
              <a:t>linh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hoạt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và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đa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dạng</a:t>
            </a:r>
            <a:r>
              <a:rPr lang="en-US" dirty="0">
                <a:ea typeface="+mn-lt"/>
                <a:cs typeface="+mn-lt"/>
              </a:rPr>
              <a:t>.</a:t>
            </a:r>
          </a:p>
          <a:p>
            <a:r>
              <a:rPr lang="en-US" dirty="0" err="1"/>
              <a:t>Nhược</a:t>
            </a:r>
            <a:r>
              <a:rPr lang="en-US" dirty="0"/>
              <a:t> </a:t>
            </a:r>
            <a:r>
              <a:rPr lang="en-US" dirty="0" err="1"/>
              <a:t>điểm</a:t>
            </a:r>
            <a:r>
              <a:rPr lang="en-US" dirty="0"/>
              <a:t>:</a:t>
            </a:r>
            <a:r>
              <a:rPr lang="en-US" dirty="0">
                <a:ea typeface="+mn-lt"/>
                <a:cs typeface="+mn-lt"/>
              </a:rPr>
              <a:t> Cú </a:t>
            </a:r>
            <a:r>
              <a:rPr lang="en-US" dirty="0" err="1">
                <a:ea typeface="+mn-lt"/>
                <a:cs typeface="+mn-lt"/>
              </a:rPr>
              <a:t>pháp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phức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tạp</a:t>
            </a:r>
            <a:r>
              <a:rPr lang="en-US" dirty="0">
                <a:ea typeface="+mn-lt"/>
                <a:cs typeface="+mn-lt"/>
              </a:rPr>
              <a:t>, </a:t>
            </a:r>
            <a:r>
              <a:rPr lang="en-US" dirty="0" err="1">
                <a:ea typeface="+mn-lt"/>
                <a:cs typeface="+mn-lt"/>
              </a:rPr>
              <a:t>tốn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thời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gian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tuỳ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chỉnh</a:t>
            </a:r>
            <a:r>
              <a:rPr lang="en-US" dirty="0">
                <a:ea typeface="+mn-lt"/>
                <a:cs typeface="+mn-lt"/>
              </a:rPr>
              <a:t>, </a:t>
            </a:r>
            <a:r>
              <a:rPr lang="en-US" dirty="0" err="1">
                <a:ea typeface="+mn-lt"/>
                <a:cs typeface="+mn-lt"/>
              </a:rPr>
              <a:t>giao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diện</a:t>
            </a:r>
            <a:r>
              <a:rPr lang="en-US" dirty="0">
                <a:ea typeface="+mn-lt"/>
                <a:cs typeface="+mn-lt"/>
              </a:rPr>
              <a:t> "</a:t>
            </a:r>
            <a:r>
              <a:rPr lang="en-US" dirty="0" err="1">
                <a:ea typeface="+mn-lt"/>
                <a:cs typeface="+mn-lt"/>
              </a:rPr>
              <a:t>khô</a:t>
            </a:r>
            <a:r>
              <a:rPr lang="en-US" dirty="0">
                <a:ea typeface="+mn-lt"/>
                <a:cs typeface="+mn-lt"/>
              </a:rPr>
              <a:t>".</a:t>
            </a:r>
          </a:p>
          <a:p>
            <a:endParaRPr lang="en-US" dirty="0">
              <a:ea typeface="+mn-lt"/>
              <a:cs typeface="+mn-lt"/>
            </a:endParaRPr>
          </a:p>
          <a:p>
            <a:endParaRPr lang="en-US" dirty="0"/>
          </a:p>
          <a:p>
            <a:pPr>
              <a:buFont typeface="Calibri" panose="020B0604020202020204" pitchFamily="34" charset="0"/>
              <a:buChar char="-"/>
            </a:pP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96E0453-2AEC-EA2E-6C01-73CCF4C2952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1542913"/>
            <a:ext cx="4579408" cy="4326075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400" dirty="0"/>
              <a:t>Các </a:t>
            </a:r>
            <a:r>
              <a:rPr lang="en-US" sz="2400" err="1"/>
              <a:t>thư</a:t>
            </a:r>
            <a:r>
              <a:rPr lang="en-US" sz="2400" dirty="0"/>
              <a:t> </a:t>
            </a:r>
            <a:r>
              <a:rPr lang="en-US" sz="2400" err="1"/>
              <a:t>viện</a:t>
            </a:r>
            <a:r>
              <a:rPr lang="en-US" sz="2400" dirty="0"/>
              <a:t> </a:t>
            </a:r>
            <a:r>
              <a:rPr lang="en-US" sz="2400" err="1"/>
              <a:t>phổ</a:t>
            </a:r>
            <a:r>
              <a:rPr lang="en-US" sz="2400" dirty="0"/>
              <a:t> </a:t>
            </a:r>
            <a:r>
              <a:rPr lang="en-US" sz="2400" err="1"/>
              <a:t>biến</a:t>
            </a:r>
            <a:r>
              <a:rPr lang="en-US" sz="2400" dirty="0"/>
              <a:t>:</a:t>
            </a:r>
          </a:p>
          <a:p>
            <a:pPr marL="285750" indent="-285750">
              <a:buFont typeface="Calibri" panose="020B0604020202020204" pitchFamily="34" charset="0"/>
              <a:buChar char="-"/>
            </a:pPr>
            <a:r>
              <a:rPr lang="en-US" sz="2400" dirty="0"/>
              <a:t>NumPy</a:t>
            </a:r>
          </a:p>
          <a:p>
            <a:pPr marL="285750" indent="-285750">
              <a:buFont typeface="Calibri" panose="020B0604020202020204" pitchFamily="34" charset="0"/>
              <a:buChar char="-"/>
            </a:pPr>
            <a:r>
              <a:rPr lang="en-US" sz="2400" dirty="0"/>
              <a:t>Pandas</a:t>
            </a:r>
          </a:p>
          <a:p>
            <a:pPr marL="285750" indent="-285750">
              <a:buFont typeface="Calibri" panose="020B0604020202020204" pitchFamily="34" charset="0"/>
              <a:buChar char="-"/>
            </a:pPr>
            <a:r>
              <a:rPr lang="en-US" sz="2400" b="1" dirty="0" err="1"/>
              <a:t>Matloblib</a:t>
            </a:r>
            <a:endParaRPr lang="en-US" sz="2400" b="1" dirty="0"/>
          </a:p>
          <a:p>
            <a:pPr marL="285750" indent="-285750">
              <a:buFont typeface="Calibri" panose="020B0604020202020204" pitchFamily="34" charset="0"/>
              <a:buChar char="-"/>
            </a:pPr>
            <a:r>
              <a:rPr lang="en-US" sz="2400" dirty="0" err="1"/>
              <a:t>Pytorch</a:t>
            </a:r>
            <a:endParaRPr lang="en-US" sz="2400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420E07D-BDD9-8E7B-ECB2-57972008E5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BB9884-6B0A-472D-AE65-3CF47CC3AD3F}" type="datetime1">
              <a:t>11/28/2025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70730C-D137-E89D-6B9F-53A0FC94D6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83B35EB-9E07-2AF0-D989-04FA39D05C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DE196-8A13-4FF7-A07E-102851959EAB}" type="slidenum">
              <a:rPr lang="en-US" dirty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36918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0E77B3-2858-6B7A-F1AB-02B722EA7C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F35D9F-B536-4D24-F128-435742C15D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807868"/>
            <a:ext cx="4579408" cy="2062594"/>
          </a:xfrm>
        </p:spPr>
        <p:txBody>
          <a:bodyPr/>
          <a:lstStyle/>
          <a:p>
            <a:r>
              <a:rPr lang="en-US" sz="3200" b="1" dirty="0">
                <a:latin typeface="Aptos"/>
              </a:rPr>
              <a:t>Các </a:t>
            </a:r>
            <a:r>
              <a:rPr lang="en-US" sz="3200" b="1" err="1">
                <a:latin typeface="Aptos"/>
              </a:rPr>
              <a:t>thư</a:t>
            </a:r>
            <a:r>
              <a:rPr lang="en-US" sz="3200" b="1" dirty="0">
                <a:latin typeface="Aptos"/>
              </a:rPr>
              <a:t> </a:t>
            </a:r>
            <a:r>
              <a:rPr lang="en-US" sz="3200" b="1" err="1">
                <a:latin typeface="Aptos"/>
              </a:rPr>
              <a:t>viện</a:t>
            </a:r>
            <a:r>
              <a:rPr lang="en-US" sz="3200" b="1" dirty="0">
                <a:latin typeface="Aptos"/>
              </a:rPr>
              <a:t> </a:t>
            </a:r>
            <a:r>
              <a:rPr lang="en-US" sz="3200" b="1" err="1">
                <a:latin typeface="Aptos"/>
              </a:rPr>
              <a:t>phổ</a:t>
            </a:r>
            <a:r>
              <a:rPr lang="en-US" sz="3200" b="1" dirty="0">
                <a:latin typeface="Aptos"/>
              </a:rPr>
              <a:t> </a:t>
            </a:r>
            <a:r>
              <a:rPr lang="en-US" sz="3200" b="1" err="1">
                <a:latin typeface="Aptos"/>
              </a:rPr>
              <a:t>biến</a:t>
            </a:r>
            <a:endParaRPr lang="en-US" sz="3200" b="1" dirty="0">
              <a:latin typeface="Apto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091E8B-A425-D391-7B71-5630AED2EA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21855" y="443433"/>
            <a:ext cx="6772835" cy="6267964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pPr marL="0" indent="0">
              <a:buNone/>
            </a:pPr>
            <a:r>
              <a:rPr lang="en-US" dirty="0" err="1"/>
              <a:t>Pytorch</a:t>
            </a:r>
          </a:p>
          <a:p>
            <a:r>
              <a:rPr lang="en-US" dirty="0" err="1"/>
              <a:t>Khái</a:t>
            </a:r>
            <a:r>
              <a:rPr lang="en-US" dirty="0"/>
              <a:t> </a:t>
            </a:r>
            <a:r>
              <a:rPr lang="en-US" dirty="0" err="1"/>
              <a:t>niệm</a:t>
            </a:r>
            <a:r>
              <a:rPr lang="en-US" dirty="0"/>
              <a:t> :</a:t>
            </a:r>
            <a:r>
              <a:rPr lang="en-US" dirty="0">
                <a:ea typeface="+mn-lt"/>
                <a:cs typeface="+mn-lt"/>
              </a:rPr>
              <a:t> Thư </a:t>
            </a:r>
            <a:r>
              <a:rPr lang="en-US" dirty="0" err="1">
                <a:ea typeface="+mn-lt"/>
                <a:cs typeface="+mn-lt"/>
              </a:rPr>
              <a:t>viện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mã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nguồn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mở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cho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b="1" dirty="0">
                <a:ea typeface="+mn-lt"/>
                <a:cs typeface="+mn-lt"/>
              </a:rPr>
              <a:t>Machine Learning </a:t>
            </a:r>
            <a:r>
              <a:rPr lang="en-US" b="1" dirty="0" err="1">
                <a:ea typeface="+mn-lt"/>
                <a:cs typeface="+mn-lt"/>
              </a:rPr>
              <a:t>và</a:t>
            </a:r>
            <a:r>
              <a:rPr lang="en-US" b="1" dirty="0">
                <a:ea typeface="+mn-lt"/>
                <a:cs typeface="+mn-lt"/>
              </a:rPr>
              <a:t> Deep Learning</a:t>
            </a:r>
            <a:r>
              <a:rPr lang="en-US" dirty="0">
                <a:ea typeface="+mn-lt"/>
                <a:cs typeface="+mn-lt"/>
              </a:rPr>
              <a:t>, </a:t>
            </a:r>
            <a:r>
              <a:rPr lang="en-US" dirty="0" err="1">
                <a:ea typeface="+mn-lt"/>
                <a:cs typeface="+mn-lt"/>
              </a:rPr>
              <a:t>được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dùng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rộng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rãi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trong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b="1" dirty="0">
                <a:ea typeface="+mn-lt"/>
                <a:cs typeface="+mn-lt"/>
              </a:rPr>
              <a:t>Thị </a:t>
            </a:r>
            <a:r>
              <a:rPr lang="en-US" b="1" dirty="0" err="1">
                <a:ea typeface="+mn-lt"/>
                <a:cs typeface="+mn-lt"/>
              </a:rPr>
              <a:t>giác</a:t>
            </a:r>
            <a:r>
              <a:rPr lang="en-US" b="1" dirty="0">
                <a:ea typeface="+mn-lt"/>
                <a:cs typeface="+mn-lt"/>
              </a:rPr>
              <a:t> </a:t>
            </a:r>
            <a:r>
              <a:rPr lang="en-US" b="1" dirty="0" err="1">
                <a:ea typeface="+mn-lt"/>
                <a:cs typeface="+mn-lt"/>
              </a:rPr>
              <a:t>máy</a:t>
            </a:r>
            <a:r>
              <a:rPr lang="en-US" b="1" dirty="0">
                <a:ea typeface="+mn-lt"/>
                <a:cs typeface="+mn-lt"/>
              </a:rPr>
              <a:t> </a:t>
            </a:r>
            <a:r>
              <a:rPr lang="en-US" b="1" dirty="0" err="1">
                <a:ea typeface="+mn-lt"/>
                <a:cs typeface="+mn-lt"/>
              </a:rPr>
              <a:t>tính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và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b="1" dirty="0" err="1">
                <a:ea typeface="+mn-lt"/>
                <a:cs typeface="+mn-lt"/>
              </a:rPr>
              <a:t>Xử</a:t>
            </a:r>
            <a:r>
              <a:rPr lang="en-US" b="1" dirty="0">
                <a:ea typeface="+mn-lt"/>
                <a:cs typeface="+mn-lt"/>
              </a:rPr>
              <a:t> </a:t>
            </a:r>
            <a:r>
              <a:rPr lang="en-US" b="1" dirty="0" err="1">
                <a:ea typeface="+mn-lt"/>
                <a:cs typeface="+mn-lt"/>
              </a:rPr>
              <a:t>lý</a:t>
            </a:r>
            <a:r>
              <a:rPr lang="en-US" b="1" dirty="0">
                <a:ea typeface="+mn-lt"/>
                <a:cs typeface="+mn-lt"/>
              </a:rPr>
              <a:t> </a:t>
            </a:r>
            <a:r>
              <a:rPr lang="en-US" b="1" dirty="0" err="1">
                <a:ea typeface="+mn-lt"/>
                <a:cs typeface="+mn-lt"/>
              </a:rPr>
              <a:t>ngôn</a:t>
            </a:r>
            <a:r>
              <a:rPr lang="en-US" b="1" dirty="0">
                <a:ea typeface="+mn-lt"/>
                <a:cs typeface="+mn-lt"/>
              </a:rPr>
              <a:t> </a:t>
            </a:r>
            <a:r>
              <a:rPr lang="en-US" b="1" dirty="0" err="1">
                <a:ea typeface="+mn-lt"/>
                <a:cs typeface="+mn-lt"/>
              </a:rPr>
              <a:t>ngữ</a:t>
            </a:r>
            <a:r>
              <a:rPr lang="en-US" b="1" dirty="0">
                <a:ea typeface="+mn-lt"/>
                <a:cs typeface="+mn-lt"/>
              </a:rPr>
              <a:t> </a:t>
            </a:r>
            <a:r>
              <a:rPr lang="en-US" b="1" dirty="0" err="1">
                <a:ea typeface="+mn-lt"/>
                <a:cs typeface="+mn-lt"/>
              </a:rPr>
              <a:t>tự</a:t>
            </a:r>
            <a:r>
              <a:rPr lang="en-US" b="1" dirty="0">
                <a:ea typeface="+mn-lt"/>
                <a:cs typeface="+mn-lt"/>
              </a:rPr>
              <a:t> </a:t>
            </a:r>
            <a:r>
              <a:rPr lang="en-US" b="1" dirty="0" err="1">
                <a:ea typeface="+mn-lt"/>
                <a:cs typeface="+mn-lt"/>
              </a:rPr>
              <a:t>nhiên</a:t>
            </a:r>
            <a:r>
              <a:rPr lang="en-US" dirty="0">
                <a:ea typeface="+mn-lt"/>
                <a:cs typeface="+mn-lt"/>
              </a:rPr>
              <a:t>.</a:t>
            </a:r>
          </a:p>
          <a:p>
            <a:r>
              <a:rPr lang="en-US" dirty="0" err="1"/>
              <a:t>Thời</a:t>
            </a:r>
            <a:r>
              <a:rPr lang="en-US" dirty="0"/>
              <a:t> </a:t>
            </a:r>
            <a:r>
              <a:rPr lang="en-US" dirty="0" err="1"/>
              <a:t>gian</a:t>
            </a:r>
            <a:r>
              <a:rPr lang="en-US" dirty="0"/>
              <a:t>: </a:t>
            </a:r>
            <a:r>
              <a:rPr lang="en-US" dirty="0">
                <a:ea typeface="+mn-lt"/>
                <a:cs typeface="+mn-lt"/>
              </a:rPr>
              <a:t>2016</a:t>
            </a:r>
          </a:p>
          <a:p>
            <a:r>
              <a:rPr lang="en-US" dirty="0" err="1"/>
              <a:t>Người</a:t>
            </a:r>
            <a:r>
              <a:rPr lang="en-US" dirty="0"/>
              <a:t> </a:t>
            </a:r>
            <a:r>
              <a:rPr lang="en-US" dirty="0" err="1"/>
              <a:t>sáng</a:t>
            </a:r>
            <a:r>
              <a:rPr lang="en-US" dirty="0"/>
              <a:t> </a:t>
            </a:r>
            <a:r>
              <a:rPr lang="en-US" dirty="0" err="1"/>
              <a:t>lập</a:t>
            </a:r>
            <a:r>
              <a:rPr lang="en-US" dirty="0"/>
              <a:t> : </a:t>
            </a:r>
            <a:r>
              <a:rPr lang="en-US" dirty="0">
                <a:ea typeface="+mn-lt"/>
                <a:cs typeface="+mn-lt"/>
              </a:rPr>
              <a:t>Meta AI </a:t>
            </a:r>
          </a:p>
          <a:p>
            <a:r>
              <a:rPr lang="en-US" dirty="0" err="1"/>
              <a:t>Ưu</a:t>
            </a:r>
            <a:r>
              <a:rPr lang="en-US" dirty="0"/>
              <a:t> </a:t>
            </a:r>
            <a:r>
              <a:rPr lang="en-US" dirty="0" err="1"/>
              <a:t>điểm</a:t>
            </a:r>
            <a:r>
              <a:rPr lang="en-US" dirty="0"/>
              <a:t>: </a:t>
            </a:r>
            <a:r>
              <a:rPr lang="en-US" b="1" dirty="0" err="1">
                <a:ea typeface="+mn-lt"/>
                <a:cs typeface="+mn-lt"/>
              </a:rPr>
              <a:t>Kiến</a:t>
            </a:r>
            <a:r>
              <a:rPr lang="en-US" b="1" dirty="0">
                <a:ea typeface="+mn-lt"/>
                <a:cs typeface="+mn-lt"/>
              </a:rPr>
              <a:t> </a:t>
            </a:r>
            <a:r>
              <a:rPr lang="en-US" b="1" dirty="0" err="1">
                <a:ea typeface="+mn-lt"/>
                <a:cs typeface="+mn-lt"/>
              </a:rPr>
              <a:t>trúc</a:t>
            </a:r>
            <a:r>
              <a:rPr lang="en-US" b="1" dirty="0">
                <a:ea typeface="+mn-lt"/>
                <a:cs typeface="+mn-lt"/>
              </a:rPr>
              <a:t> </a:t>
            </a:r>
            <a:r>
              <a:rPr lang="en-US" b="1" dirty="0" err="1">
                <a:ea typeface="+mn-lt"/>
                <a:cs typeface="+mn-lt"/>
              </a:rPr>
              <a:t>đồ</a:t>
            </a:r>
            <a:r>
              <a:rPr lang="en-US" b="1" dirty="0">
                <a:ea typeface="+mn-lt"/>
                <a:cs typeface="+mn-lt"/>
              </a:rPr>
              <a:t> </a:t>
            </a:r>
            <a:r>
              <a:rPr lang="en-US" b="1" dirty="0" err="1">
                <a:ea typeface="+mn-lt"/>
                <a:cs typeface="+mn-lt"/>
              </a:rPr>
              <a:t>thị</a:t>
            </a:r>
            <a:r>
              <a:rPr lang="en-US" b="1" dirty="0">
                <a:ea typeface="+mn-lt"/>
                <a:cs typeface="+mn-lt"/>
              </a:rPr>
              <a:t> </a:t>
            </a:r>
            <a:r>
              <a:rPr lang="en-US" b="1" dirty="0" err="1">
                <a:ea typeface="+mn-lt"/>
                <a:cs typeface="+mn-lt"/>
              </a:rPr>
              <a:t>tính</a:t>
            </a:r>
            <a:r>
              <a:rPr lang="en-US" b="1" dirty="0">
                <a:ea typeface="+mn-lt"/>
                <a:cs typeface="+mn-lt"/>
              </a:rPr>
              <a:t> </a:t>
            </a:r>
            <a:r>
              <a:rPr lang="en-US" b="1" dirty="0" err="1">
                <a:ea typeface="+mn-lt"/>
                <a:cs typeface="+mn-lt"/>
              </a:rPr>
              <a:t>toán</a:t>
            </a:r>
            <a:r>
              <a:rPr lang="en-US" b="1" dirty="0">
                <a:ea typeface="+mn-lt"/>
                <a:cs typeface="+mn-lt"/>
              </a:rPr>
              <a:t> </a:t>
            </a:r>
            <a:r>
              <a:rPr lang="en-US" b="1" dirty="0" err="1">
                <a:ea typeface="+mn-lt"/>
                <a:cs typeface="+mn-lt"/>
              </a:rPr>
              <a:t>động</a:t>
            </a:r>
            <a:r>
              <a:rPr lang="en-US" dirty="0">
                <a:ea typeface="+mn-lt"/>
                <a:cs typeface="+mn-lt"/>
              </a:rPr>
              <a:t> (</a:t>
            </a:r>
            <a:r>
              <a:rPr lang="en-US" dirty="0" err="1">
                <a:ea typeface="+mn-lt"/>
                <a:cs typeface="+mn-lt"/>
              </a:rPr>
              <a:t>linh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hoạt</a:t>
            </a:r>
            <a:r>
              <a:rPr lang="en-US" dirty="0">
                <a:ea typeface="+mn-lt"/>
                <a:cs typeface="+mn-lt"/>
              </a:rPr>
              <a:t>), </a:t>
            </a:r>
            <a:r>
              <a:rPr lang="en-US" dirty="0" err="1">
                <a:ea typeface="+mn-lt"/>
                <a:cs typeface="+mn-lt"/>
              </a:rPr>
              <a:t>tài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liệu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phong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phú</a:t>
            </a:r>
            <a:r>
              <a:rPr lang="en-US" dirty="0">
                <a:ea typeface="+mn-lt"/>
                <a:cs typeface="+mn-lt"/>
              </a:rPr>
              <a:t>, </a:t>
            </a:r>
            <a:r>
              <a:rPr lang="en-US" dirty="0" err="1">
                <a:ea typeface="+mn-lt"/>
                <a:cs typeface="+mn-lt"/>
              </a:rPr>
              <a:t>gỡ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lỗi</a:t>
            </a:r>
            <a:r>
              <a:rPr lang="en-US" dirty="0">
                <a:ea typeface="+mn-lt"/>
                <a:cs typeface="+mn-lt"/>
              </a:rPr>
              <a:t> (Debugging) </a:t>
            </a:r>
            <a:r>
              <a:rPr lang="en-US" dirty="0" err="1">
                <a:ea typeface="+mn-lt"/>
                <a:cs typeface="+mn-lt"/>
              </a:rPr>
              <a:t>dễ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dàng</a:t>
            </a:r>
            <a:r>
              <a:rPr lang="en-US" dirty="0">
                <a:ea typeface="+mn-lt"/>
                <a:cs typeface="+mn-lt"/>
              </a:rPr>
              <a:t>.</a:t>
            </a:r>
          </a:p>
          <a:p>
            <a:r>
              <a:rPr lang="en-US" dirty="0" err="1"/>
              <a:t>Nhược</a:t>
            </a:r>
            <a:r>
              <a:rPr lang="en-US" dirty="0"/>
              <a:t> </a:t>
            </a:r>
            <a:r>
              <a:rPr lang="en-US" dirty="0" err="1"/>
              <a:t>điểm</a:t>
            </a:r>
            <a:r>
              <a:rPr lang="en-US" dirty="0"/>
              <a:t>: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Thiếu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giao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diện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trực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quan</a:t>
            </a:r>
            <a:r>
              <a:rPr lang="en-US" dirty="0">
                <a:ea typeface="+mn-lt"/>
                <a:cs typeface="+mn-lt"/>
              </a:rPr>
              <a:t>, </a:t>
            </a:r>
            <a:r>
              <a:rPr lang="en-US" dirty="0" err="1">
                <a:ea typeface="+mn-lt"/>
                <a:cs typeface="+mn-lt"/>
              </a:rPr>
              <a:t>cộng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đồng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nhà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phát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triển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còn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hạn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chế</a:t>
            </a:r>
            <a:r>
              <a:rPr lang="en-US" dirty="0">
                <a:ea typeface="+mn-lt"/>
                <a:cs typeface="+mn-lt"/>
              </a:rPr>
              <a:t> do </a:t>
            </a:r>
            <a:r>
              <a:rPr lang="en-US" dirty="0" err="1">
                <a:ea typeface="+mn-lt"/>
                <a:cs typeface="+mn-lt"/>
              </a:rPr>
              <a:t>khá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mới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mẻ</a:t>
            </a:r>
            <a:r>
              <a:rPr lang="en-US" dirty="0">
                <a:ea typeface="+mn-lt"/>
                <a:cs typeface="+mn-lt"/>
              </a:rPr>
              <a:t>.</a:t>
            </a:r>
          </a:p>
          <a:p>
            <a:endParaRPr lang="en-US" dirty="0">
              <a:ea typeface="+mn-lt"/>
              <a:cs typeface="+mn-lt"/>
            </a:endParaRPr>
          </a:p>
          <a:p>
            <a:endParaRPr lang="en-US" dirty="0"/>
          </a:p>
          <a:p>
            <a:pPr>
              <a:buFont typeface="Calibri" panose="020B0604020202020204" pitchFamily="34" charset="0"/>
              <a:buChar char="-"/>
            </a:pP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47135CB-870A-5BCC-D19B-E635846239B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1542913"/>
            <a:ext cx="4579408" cy="4326075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400" dirty="0"/>
              <a:t>Các </a:t>
            </a:r>
            <a:r>
              <a:rPr lang="en-US" sz="2400" err="1"/>
              <a:t>thư</a:t>
            </a:r>
            <a:r>
              <a:rPr lang="en-US" sz="2400" dirty="0"/>
              <a:t> </a:t>
            </a:r>
            <a:r>
              <a:rPr lang="en-US" sz="2400" err="1"/>
              <a:t>viện</a:t>
            </a:r>
            <a:r>
              <a:rPr lang="en-US" sz="2400" dirty="0"/>
              <a:t> </a:t>
            </a:r>
            <a:r>
              <a:rPr lang="en-US" sz="2400" err="1"/>
              <a:t>phổ</a:t>
            </a:r>
            <a:r>
              <a:rPr lang="en-US" sz="2400" dirty="0"/>
              <a:t> </a:t>
            </a:r>
            <a:r>
              <a:rPr lang="en-US" sz="2400" err="1"/>
              <a:t>biến</a:t>
            </a:r>
            <a:r>
              <a:rPr lang="en-US" sz="2400" dirty="0"/>
              <a:t>:</a:t>
            </a:r>
          </a:p>
          <a:p>
            <a:pPr marL="285750" indent="-285750">
              <a:buFont typeface="Calibri" panose="020B0604020202020204" pitchFamily="34" charset="0"/>
              <a:buChar char="-"/>
            </a:pPr>
            <a:r>
              <a:rPr lang="en-US" sz="2400" dirty="0"/>
              <a:t>NumPy</a:t>
            </a:r>
          </a:p>
          <a:p>
            <a:pPr marL="285750" indent="-285750">
              <a:buFont typeface="Calibri" panose="020B0604020202020204" pitchFamily="34" charset="0"/>
              <a:buChar char="-"/>
            </a:pPr>
            <a:r>
              <a:rPr lang="en-US" sz="2400" dirty="0"/>
              <a:t>Pandas</a:t>
            </a:r>
          </a:p>
          <a:p>
            <a:pPr marL="285750" indent="-285750">
              <a:buFont typeface="Calibri" panose="020B0604020202020204" pitchFamily="34" charset="0"/>
              <a:buChar char="-"/>
            </a:pPr>
            <a:r>
              <a:rPr lang="en-US" sz="2400" dirty="0" err="1"/>
              <a:t>Matloblib</a:t>
            </a:r>
            <a:endParaRPr lang="en-US" sz="2400"/>
          </a:p>
          <a:p>
            <a:pPr marL="285750" indent="-285750">
              <a:buFont typeface="Calibri" panose="020B0604020202020204" pitchFamily="34" charset="0"/>
              <a:buChar char="-"/>
            </a:pPr>
            <a:r>
              <a:rPr lang="en-US" sz="2400" b="1" dirty="0" err="1"/>
              <a:t>Pytorch</a:t>
            </a:r>
            <a:endParaRPr lang="en-US" sz="2400" b="1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84EC829-5AC7-3651-108A-0C9481B636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BB9884-6B0A-472D-AE65-3CF47CC3AD3F}" type="datetime1">
              <a:t>11/28/2025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37C6D24-F36A-E779-B85A-A7F761E9D0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1CA61EC-84F9-F9FE-41D5-4D1B109292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DE196-8A13-4FF7-A07E-102851959EAB}" type="slidenum">
              <a:rPr lang="en-US" dirty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49006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EAFCC7-88CE-24A6-6CDC-006C3EE24B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1108" y="588245"/>
            <a:ext cx="10449784" cy="656328"/>
          </a:xfrm>
        </p:spPr>
        <p:txBody>
          <a:bodyPr/>
          <a:lstStyle/>
          <a:p>
            <a:r>
              <a:rPr lang="en-US" b="1" err="1">
                <a:latin typeface="Aptos"/>
              </a:rPr>
              <a:t>Nguồn</a:t>
            </a:r>
            <a:r>
              <a:rPr lang="en-US" b="1" dirty="0">
                <a:latin typeface="Aptos"/>
              </a:rPr>
              <a:t> </a:t>
            </a:r>
            <a:r>
              <a:rPr lang="en-US" b="1" err="1">
                <a:latin typeface="Aptos"/>
              </a:rPr>
              <a:t>dữ</a:t>
            </a:r>
            <a:r>
              <a:rPr lang="en-US" b="1" dirty="0">
                <a:latin typeface="Aptos"/>
              </a:rPr>
              <a:t> </a:t>
            </a:r>
            <a:r>
              <a:rPr lang="en-US" b="1" err="1">
                <a:latin typeface="Aptos"/>
              </a:rPr>
              <a:t>liệu</a:t>
            </a:r>
            <a:r>
              <a:rPr lang="en-US" b="1" dirty="0">
                <a:latin typeface="Aptos"/>
              </a:rPr>
              <a:t> (Data Sources)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28F96F-3F90-1F0F-24F0-EE25CA0B9A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77824" y="1493956"/>
            <a:ext cx="10442448" cy="3751419"/>
          </a:xfrm>
        </p:spPr>
        <p:txBody>
          <a:bodyPr vert="horz" lIns="91440" tIns="45720" rIns="91440" bIns="45720" rtlCol="0" anchor="t">
            <a:normAutofit fontScale="92500" lnSpcReduction="10000"/>
          </a:bodyPr>
          <a:lstStyle/>
          <a:p>
            <a:pPr marL="0" indent="0">
              <a:buNone/>
            </a:pPr>
            <a:r>
              <a:rPr lang="en-US" sz="2800" dirty="0"/>
              <a:t>Kaggle</a:t>
            </a:r>
          </a:p>
          <a:p>
            <a:r>
              <a:rPr lang="en-US" sz="2000" b="1" dirty="0" err="1">
                <a:ea typeface="+mn-lt"/>
                <a:cs typeface="+mn-lt"/>
              </a:rPr>
              <a:t>Khái</a:t>
            </a:r>
            <a:r>
              <a:rPr lang="en-US" sz="2000" b="1" dirty="0">
                <a:ea typeface="+mn-lt"/>
                <a:cs typeface="+mn-lt"/>
              </a:rPr>
              <a:t> </a:t>
            </a:r>
            <a:r>
              <a:rPr lang="en-US" sz="2000" b="1" dirty="0" err="1">
                <a:ea typeface="+mn-lt"/>
                <a:cs typeface="+mn-lt"/>
              </a:rPr>
              <a:t>niệm</a:t>
            </a:r>
            <a:r>
              <a:rPr lang="en-US" sz="2000" b="1" dirty="0">
                <a:ea typeface="+mn-lt"/>
                <a:cs typeface="+mn-lt"/>
              </a:rPr>
              <a:t>:</a:t>
            </a:r>
            <a:r>
              <a:rPr lang="en-US" sz="2000" dirty="0">
                <a:ea typeface="+mn-lt"/>
                <a:cs typeface="+mn-lt"/>
              </a:rPr>
              <a:t> </a:t>
            </a:r>
            <a:r>
              <a:rPr lang="en-US" sz="2000" dirty="0" err="1">
                <a:ea typeface="+mn-lt"/>
                <a:cs typeface="+mn-lt"/>
              </a:rPr>
              <a:t>Một</a:t>
            </a:r>
            <a:r>
              <a:rPr lang="en-US" sz="2000" dirty="0">
                <a:ea typeface="+mn-lt"/>
                <a:cs typeface="+mn-lt"/>
              </a:rPr>
              <a:t> </a:t>
            </a:r>
            <a:r>
              <a:rPr lang="en-US" sz="2000" dirty="0" err="1">
                <a:ea typeface="+mn-lt"/>
                <a:cs typeface="+mn-lt"/>
              </a:rPr>
              <a:t>nền</a:t>
            </a:r>
            <a:r>
              <a:rPr lang="en-US" sz="2000" dirty="0">
                <a:ea typeface="+mn-lt"/>
                <a:cs typeface="+mn-lt"/>
              </a:rPr>
              <a:t> </a:t>
            </a:r>
            <a:r>
              <a:rPr lang="en-US" sz="2000" dirty="0" err="1">
                <a:ea typeface="+mn-lt"/>
                <a:cs typeface="+mn-lt"/>
              </a:rPr>
              <a:t>tảng</a:t>
            </a:r>
            <a:r>
              <a:rPr lang="en-US" sz="2000" dirty="0">
                <a:ea typeface="+mn-lt"/>
                <a:cs typeface="+mn-lt"/>
              </a:rPr>
              <a:t> </a:t>
            </a:r>
            <a:r>
              <a:rPr lang="en-US" sz="2000" dirty="0" err="1">
                <a:ea typeface="+mn-lt"/>
                <a:cs typeface="+mn-lt"/>
              </a:rPr>
              <a:t>trực</a:t>
            </a:r>
            <a:r>
              <a:rPr lang="en-US" sz="2000" dirty="0">
                <a:ea typeface="+mn-lt"/>
                <a:cs typeface="+mn-lt"/>
              </a:rPr>
              <a:t> </a:t>
            </a:r>
            <a:r>
              <a:rPr lang="en-US" sz="2000" dirty="0" err="1">
                <a:ea typeface="+mn-lt"/>
                <a:cs typeface="+mn-lt"/>
              </a:rPr>
              <a:t>tuyến</a:t>
            </a:r>
            <a:r>
              <a:rPr lang="en-US" sz="2000" dirty="0">
                <a:ea typeface="+mn-lt"/>
                <a:cs typeface="+mn-lt"/>
              </a:rPr>
              <a:t> </a:t>
            </a:r>
            <a:r>
              <a:rPr lang="en-US" sz="2000" dirty="0" err="1">
                <a:ea typeface="+mn-lt"/>
                <a:cs typeface="+mn-lt"/>
              </a:rPr>
              <a:t>lớn</a:t>
            </a:r>
            <a:r>
              <a:rPr lang="en-US" sz="2000" dirty="0">
                <a:ea typeface="+mn-lt"/>
                <a:cs typeface="+mn-lt"/>
              </a:rPr>
              <a:t> </a:t>
            </a:r>
            <a:r>
              <a:rPr lang="en-US" sz="2000" dirty="0" err="1">
                <a:ea typeface="+mn-lt"/>
                <a:cs typeface="+mn-lt"/>
              </a:rPr>
              <a:t>dành</a:t>
            </a:r>
            <a:r>
              <a:rPr lang="en-US" sz="2000" dirty="0">
                <a:ea typeface="+mn-lt"/>
                <a:cs typeface="+mn-lt"/>
              </a:rPr>
              <a:t> </a:t>
            </a:r>
            <a:r>
              <a:rPr lang="en-US" sz="2000" dirty="0" err="1">
                <a:ea typeface="+mn-lt"/>
                <a:cs typeface="+mn-lt"/>
              </a:rPr>
              <a:t>cho</a:t>
            </a:r>
            <a:r>
              <a:rPr lang="en-US" sz="2000" dirty="0">
                <a:ea typeface="+mn-lt"/>
                <a:cs typeface="+mn-lt"/>
              </a:rPr>
              <a:t> </a:t>
            </a:r>
            <a:r>
              <a:rPr lang="en-US" sz="2000" dirty="0" err="1">
                <a:ea typeface="+mn-lt"/>
                <a:cs typeface="+mn-lt"/>
              </a:rPr>
              <a:t>cộng</a:t>
            </a:r>
            <a:r>
              <a:rPr lang="en-US" sz="2000" dirty="0">
                <a:ea typeface="+mn-lt"/>
                <a:cs typeface="+mn-lt"/>
              </a:rPr>
              <a:t> </a:t>
            </a:r>
            <a:r>
              <a:rPr lang="en-US" sz="2000" dirty="0" err="1">
                <a:ea typeface="+mn-lt"/>
                <a:cs typeface="+mn-lt"/>
              </a:rPr>
              <a:t>đồng</a:t>
            </a:r>
            <a:r>
              <a:rPr lang="en-US" sz="2000" dirty="0">
                <a:ea typeface="+mn-lt"/>
                <a:cs typeface="+mn-lt"/>
              </a:rPr>
              <a:t> </a:t>
            </a:r>
            <a:r>
              <a:rPr lang="en-US" sz="2000" b="1" dirty="0">
                <a:ea typeface="+mn-lt"/>
                <a:cs typeface="+mn-lt"/>
              </a:rPr>
              <a:t>Khoa </a:t>
            </a:r>
            <a:r>
              <a:rPr lang="en-US" sz="2000" b="1" dirty="0" err="1">
                <a:ea typeface="+mn-lt"/>
                <a:cs typeface="+mn-lt"/>
              </a:rPr>
              <a:t>học</a:t>
            </a:r>
            <a:r>
              <a:rPr lang="en-US" sz="2000" b="1" dirty="0">
                <a:ea typeface="+mn-lt"/>
                <a:cs typeface="+mn-lt"/>
              </a:rPr>
              <a:t> </a:t>
            </a:r>
            <a:r>
              <a:rPr lang="en-US" sz="2000" b="1" dirty="0" err="1">
                <a:ea typeface="+mn-lt"/>
                <a:cs typeface="+mn-lt"/>
              </a:rPr>
              <a:t>Dữ</a:t>
            </a:r>
            <a:r>
              <a:rPr lang="en-US" sz="2000" b="1" dirty="0">
                <a:ea typeface="+mn-lt"/>
                <a:cs typeface="+mn-lt"/>
              </a:rPr>
              <a:t> </a:t>
            </a:r>
            <a:r>
              <a:rPr lang="en-US" sz="2000" b="1" dirty="0" err="1">
                <a:ea typeface="+mn-lt"/>
                <a:cs typeface="+mn-lt"/>
              </a:rPr>
              <a:t>liệu</a:t>
            </a:r>
            <a:r>
              <a:rPr lang="en-US" sz="2000" b="1" dirty="0">
                <a:ea typeface="+mn-lt"/>
                <a:cs typeface="+mn-lt"/>
              </a:rPr>
              <a:t> </a:t>
            </a:r>
            <a:r>
              <a:rPr lang="en-US" sz="2000" b="1" dirty="0" err="1">
                <a:ea typeface="+mn-lt"/>
                <a:cs typeface="+mn-lt"/>
              </a:rPr>
              <a:t>và</a:t>
            </a:r>
            <a:r>
              <a:rPr lang="en-US" sz="2000" b="1" dirty="0">
                <a:ea typeface="+mn-lt"/>
                <a:cs typeface="+mn-lt"/>
              </a:rPr>
              <a:t> Học </a:t>
            </a:r>
            <a:r>
              <a:rPr lang="en-US" sz="2000" b="1" dirty="0" err="1">
                <a:ea typeface="+mn-lt"/>
                <a:cs typeface="+mn-lt"/>
              </a:rPr>
              <a:t>máy</a:t>
            </a:r>
            <a:r>
              <a:rPr lang="en-US" sz="2000" dirty="0">
                <a:ea typeface="+mn-lt"/>
                <a:cs typeface="+mn-lt"/>
              </a:rPr>
              <a:t>.</a:t>
            </a:r>
            <a:endParaRPr lang="en-US" sz="2000" dirty="0"/>
          </a:p>
          <a:p>
            <a:r>
              <a:rPr lang="en-US" sz="2000" b="1" err="1">
                <a:ea typeface="+mn-lt"/>
                <a:cs typeface="+mn-lt"/>
              </a:rPr>
              <a:t>Mục</a:t>
            </a:r>
            <a:r>
              <a:rPr lang="en-US" sz="2000" b="1" dirty="0">
                <a:ea typeface="+mn-lt"/>
                <a:cs typeface="+mn-lt"/>
              </a:rPr>
              <a:t> </a:t>
            </a:r>
            <a:r>
              <a:rPr lang="en-US" sz="2000" b="1" err="1">
                <a:ea typeface="+mn-lt"/>
                <a:cs typeface="+mn-lt"/>
              </a:rPr>
              <a:t>đích</a:t>
            </a:r>
            <a:r>
              <a:rPr lang="en-US" sz="2000" b="1" dirty="0">
                <a:ea typeface="+mn-lt"/>
                <a:cs typeface="+mn-lt"/>
              </a:rPr>
              <a:t>:</a:t>
            </a:r>
            <a:r>
              <a:rPr lang="en-US" sz="2000" dirty="0">
                <a:ea typeface="+mn-lt"/>
                <a:cs typeface="+mn-lt"/>
              </a:rPr>
              <a:t> Cung </a:t>
            </a:r>
            <a:r>
              <a:rPr lang="en-US" sz="2000" err="1">
                <a:ea typeface="+mn-lt"/>
                <a:cs typeface="+mn-lt"/>
              </a:rPr>
              <a:t>cấp</a:t>
            </a:r>
            <a:r>
              <a:rPr lang="en-US" sz="2000" dirty="0">
                <a:ea typeface="+mn-lt"/>
                <a:cs typeface="+mn-lt"/>
              </a:rPr>
              <a:t> </a:t>
            </a:r>
            <a:r>
              <a:rPr lang="en-US" sz="2000" err="1">
                <a:ea typeface="+mn-lt"/>
                <a:cs typeface="+mn-lt"/>
              </a:rPr>
              <a:t>nơi</a:t>
            </a:r>
            <a:r>
              <a:rPr lang="en-US" sz="2000" dirty="0">
                <a:ea typeface="+mn-lt"/>
                <a:cs typeface="+mn-lt"/>
              </a:rPr>
              <a:t> </a:t>
            </a:r>
            <a:r>
              <a:rPr lang="en-US" sz="2000" err="1">
                <a:ea typeface="+mn-lt"/>
                <a:cs typeface="+mn-lt"/>
              </a:rPr>
              <a:t>để</a:t>
            </a:r>
            <a:r>
              <a:rPr lang="en-US" sz="2000" dirty="0">
                <a:ea typeface="+mn-lt"/>
                <a:cs typeface="+mn-lt"/>
              </a:rPr>
              <a:t> </a:t>
            </a:r>
            <a:r>
              <a:rPr lang="en-US" sz="2000" err="1">
                <a:ea typeface="+mn-lt"/>
                <a:cs typeface="+mn-lt"/>
              </a:rPr>
              <a:t>mọi</a:t>
            </a:r>
            <a:r>
              <a:rPr lang="en-US" sz="2000" dirty="0">
                <a:ea typeface="+mn-lt"/>
                <a:cs typeface="+mn-lt"/>
              </a:rPr>
              <a:t> </a:t>
            </a:r>
            <a:r>
              <a:rPr lang="en-US" sz="2000" err="1">
                <a:ea typeface="+mn-lt"/>
                <a:cs typeface="+mn-lt"/>
              </a:rPr>
              <a:t>người</a:t>
            </a:r>
            <a:r>
              <a:rPr lang="en-US" sz="2000" dirty="0">
                <a:ea typeface="+mn-lt"/>
                <a:cs typeface="+mn-lt"/>
              </a:rPr>
              <a:t> </a:t>
            </a:r>
            <a:r>
              <a:rPr lang="en-US" sz="2000" b="1" err="1">
                <a:ea typeface="+mn-lt"/>
                <a:cs typeface="+mn-lt"/>
              </a:rPr>
              <a:t>cộng</a:t>
            </a:r>
            <a:r>
              <a:rPr lang="en-US" sz="2000" b="1" dirty="0">
                <a:ea typeface="+mn-lt"/>
                <a:cs typeface="+mn-lt"/>
              </a:rPr>
              <a:t> </a:t>
            </a:r>
            <a:r>
              <a:rPr lang="en-US" sz="2000" b="1" err="1">
                <a:ea typeface="+mn-lt"/>
                <a:cs typeface="+mn-lt"/>
              </a:rPr>
              <a:t>tác</a:t>
            </a:r>
            <a:r>
              <a:rPr lang="en-US" sz="2000" b="1" dirty="0">
                <a:ea typeface="+mn-lt"/>
                <a:cs typeface="+mn-lt"/>
              </a:rPr>
              <a:t>, </a:t>
            </a:r>
            <a:r>
              <a:rPr lang="en-US" sz="2000" b="1" err="1">
                <a:ea typeface="+mn-lt"/>
                <a:cs typeface="+mn-lt"/>
              </a:rPr>
              <a:t>học</a:t>
            </a:r>
            <a:r>
              <a:rPr lang="en-US" sz="2000" b="1" dirty="0">
                <a:ea typeface="+mn-lt"/>
                <a:cs typeface="+mn-lt"/>
              </a:rPr>
              <a:t> </a:t>
            </a:r>
            <a:r>
              <a:rPr lang="en-US" sz="2000" b="1" err="1">
                <a:ea typeface="+mn-lt"/>
                <a:cs typeface="+mn-lt"/>
              </a:rPr>
              <a:t>tập</a:t>
            </a:r>
            <a:r>
              <a:rPr lang="en-US" sz="2000" dirty="0">
                <a:ea typeface="+mn-lt"/>
                <a:cs typeface="+mn-lt"/>
              </a:rPr>
              <a:t> </a:t>
            </a:r>
            <a:r>
              <a:rPr lang="en-US" sz="2000" err="1">
                <a:ea typeface="+mn-lt"/>
                <a:cs typeface="+mn-lt"/>
              </a:rPr>
              <a:t>và</a:t>
            </a:r>
            <a:r>
              <a:rPr lang="en-US" sz="2000" dirty="0">
                <a:ea typeface="+mn-lt"/>
                <a:cs typeface="+mn-lt"/>
              </a:rPr>
              <a:t> </a:t>
            </a:r>
            <a:r>
              <a:rPr lang="en-US" sz="2000" b="1" err="1">
                <a:ea typeface="+mn-lt"/>
                <a:cs typeface="+mn-lt"/>
              </a:rPr>
              <a:t>cạnh</a:t>
            </a:r>
            <a:r>
              <a:rPr lang="en-US" sz="2000" b="1" dirty="0">
                <a:ea typeface="+mn-lt"/>
                <a:cs typeface="+mn-lt"/>
              </a:rPr>
              <a:t> </a:t>
            </a:r>
            <a:r>
              <a:rPr lang="en-US" sz="2000" b="1" err="1">
                <a:ea typeface="+mn-lt"/>
                <a:cs typeface="+mn-lt"/>
              </a:rPr>
              <a:t>tranh</a:t>
            </a:r>
            <a:r>
              <a:rPr lang="en-US" sz="2000" dirty="0">
                <a:ea typeface="+mn-lt"/>
                <a:cs typeface="+mn-lt"/>
              </a:rPr>
              <a:t> </a:t>
            </a:r>
            <a:r>
              <a:rPr lang="en-US" sz="2000" err="1">
                <a:ea typeface="+mn-lt"/>
                <a:cs typeface="+mn-lt"/>
              </a:rPr>
              <a:t>trong</a:t>
            </a:r>
            <a:r>
              <a:rPr lang="en-US" sz="2000" dirty="0">
                <a:ea typeface="+mn-lt"/>
                <a:cs typeface="+mn-lt"/>
              </a:rPr>
              <a:t> </a:t>
            </a:r>
            <a:r>
              <a:rPr lang="en-US" sz="2000" err="1">
                <a:ea typeface="+mn-lt"/>
                <a:cs typeface="+mn-lt"/>
              </a:rPr>
              <a:t>các</a:t>
            </a:r>
            <a:r>
              <a:rPr lang="en-US" sz="2000" dirty="0">
                <a:ea typeface="+mn-lt"/>
                <a:cs typeface="+mn-lt"/>
              </a:rPr>
              <a:t> </a:t>
            </a:r>
            <a:r>
              <a:rPr lang="en-US" sz="2000" err="1">
                <a:ea typeface="+mn-lt"/>
                <a:cs typeface="+mn-lt"/>
              </a:rPr>
              <a:t>cuộc</a:t>
            </a:r>
            <a:r>
              <a:rPr lang="en-US" sz="2000" dirty="0">
                <a:ea typeface="+mn-lt"/>
                <a:cs typeface="+mn-lt"/>
              </a:rPr>
              <a:t> </a:t>
            </a:r>
            <a:r>
              <a:rPr lang="en-US" sz="2000" err="1">
                <a:ea typeface="+mn-lt"/>
                <a:cs typeface="+mn-lt"/>
              </a:rPr>
              <a:t>thi</a:t>
            </a:r>
            <a:r>
              <a:rPr lang="en-US" sz="2000" dirty="0">
                <a:ea typeface="+mn-lt"/>
                <a:cs typeface="+mn-lt"/>
              </a:rPr>
              <a:t> </a:t>
            </a:r>
            <a:r>
              <a:rPr lang="en-US" sz="2000" err="1">
                <a:ea typeface="+mn-lt"/>
                <a:cs typeface="+mn-lt"/>
              </a:rPr>
              <a:t>giải</a:t>
            </a:r>
            <a:r>
              <a:rPr lang="en-US" sz="2000" dirty="0">
                <a:ea typeface="+mn-lt"/>
                <a:cs typeface="+mn-lt"/>
              </a:rPr>
              <a:t> </a:t>
            </a:r>
            <a:r>
              <a:rPr lang="en-US" sz="2000" err="1">
                <a:ea typeface="+mn-lt"/>
                <a:cs typeface="+mn-lt"/>
              </a:rPr>
              <a:t>quyết</a:t>
            </a:r>
            <a:r>
              <a:rPr lang="en-US" sz="2000" dirty="0">
                <a:ea typeface="+mn-lt"/>
                <a:cs typeface="+mn-lt"/>
              </a:rPr>
              <a:t> </a:t>
            </a:r>
            <a:r>
              <a:rPr lang="en-US" sz="2000" err="1">
                <a:ea typeface="+mn-lt"/>
                <a:cs typeface="+mn-lt"/>
              </a:rPr>
              <a:t>vấn</a:t>
            </a:r>
            <a:r>
              <a:rPr lang="en-US" sz="2000" dirty="0">
                <a:ea typeface="+mn-lt"/>
                <a:cs typeface="+mn-lt"/>
              </a:rPr>
              <a:t> </a:t>
            </a:r>
            <a:r>
              <a:rPr lang="en-US" sz="2000" err="1">
                <a:ea typeface="+mn-lt"/>
                <a:cs typeface="+mn-lt"/>
              </a:rPr>
              <a:t>đề</a:t>
            </a:r>
            <a:r>
              <a:rPr lang="en-US" sz="2000" dirty="0">
                <a:ea typeface="+mn-lt"/>
                <a:cs typeface="+mn-lt"/>
              </a:rPr>
              <a:t> </a:t>
            </a:r>
            <a:r>
              <a:rPr lang="en-US" sz="2000" err="1">
                <a:ea typeface="+mn-lt"/>
                <a:cs typeface="+mn-lt"/>
              </a:rPr>
              <a:t>thực</a:t>
            </a:r>
            <a:r>
              <a:rPr lang="en-US" sz="2000" dirty="0">
                <a:ea typeface="+mn-lt"/>
                <a:cs typeface="+mn-lt"/>
              </a:rPr>
              <a:t> </a:t>
            </a:r>
            <a:r>
              <a:rPr lang="en-US" sz="2000" err="1">
                <a:ea typeface="+mn-lt"/>
                <a:cs typeface="+mn-lt"/>
              </a:rPr>
              <a:t>tế</a:t>
            </a:r>
            <a:r>
              <a:rPr lang="en-US" sz="2000" dirty="0">
                <a:ea typeface="+mn-lt"/>
                <a:cs typeface="+mn-lt"/>
              </a:rPr>
              <a:t>.</a:t>
            </a:r>
            <a:endParaRPr lang="en-US" sz="2000" dirty="0"/>
          </a:p>
          <a:p>
            <a:r>
              <a:rPr lang="en-US" sz="2000" b="1" dirty="0" err="1">
                <a:ea typeface="+mn-lt"/>
                <a:cs typeface="+mn-lt"/>
              </a:rPr>
              <a:t>Giá</a:t>
            </a:r>
            <a:r>
              <a:rPr lang="en-US" sz="2000" b="1" dirty="0">
                <a:ea typeface="+mn-lt"/>
                <a:cs typeface="+mn-lt"/>
              </a:rPr>
              <a:t> </a:t>
            </a:r>
            <a:r>
              <a:rPr lang="en-US" sz="2000" b="1" dirty="0" err="1">
                <a:ea typeface="+mn-lt"/>
                <a:cs typeface="+mn-lt"/>
              </a:rPr>
              <a:t>trị</a:t>
            </a:r>
            <a:r>
              <a:rPr lang="en-US" sz="2000" b="1" dirty="0">
                <a:ea typeface="+mn-lt"/>
                <a:cs typeface="+mn-lt"/>
              </a:rPr>
              <a:t> </a:t>
            </a:r>
            <a:r>
              <a:rPr lang="en-US" sz="2000" b="1" dirty="0" err="1">
                <a:ea typeface="+mn-lt"/>
                <a:cs typeface="+mn-lt"/>
              </a:rPr>
              <a:t>cốt</a:t>
            </a:r>
            <a:r>
              <a:rPr lang="en-US" sz="2000" b="1" dirty="0">
                <a:ea typeface="+mn-lt"/>
                <a:cs typeface="+mn-lt"/>
              </a:rPr>
              <a:t> </a:t>
            </a:r>
            <a:r>
              <a:rPr lang="en-US" sz="2000" b="1" dirty="0" err="1">
                <a:ea typeface="+mn-lt"/>
                <a:cs typeface="+mn-lt"/>
              </a:rPr>
              <a:t>lõi</a:t>
            </a:r>
            <a:r>
              <a:rPr lang="en-US" sz="2000" b="1" dirty="0">
                <a:ea typeface="+mn-lt"/>
                <a:cs typeface="+mn-lt"/>
              </a:rPr>
              <a:t>:</a:t>
            </a:r>
            <a:endParaRPr lang="en-US" sz="2000" dirty="0" err="1">
              <a:ea typeface="+mn-lt"/>
              <a:cs typeface="+mn-lt"/>
            </a:endParaRPr>
          </a:p>
          <a:p>
            <a:pPr lvl="1"/>
            <a:r>
              <a:rPr lang="en-US" sz="2000" dirty="0" err="1">
                <a:ea typeface="+mn-lt"/>
                <a:cs typeface="+mn-lt"/>
              </a:rPr>
              <a:t>Truy</a:t>
            </a:r>
            <a:r>
              <a:rPr lang="en-US" sz="2000" dirty="0">
                <a:ea typeface="+mn-lt"/>
                <a:cs typeface="+mn-lt"/>
              </a:rPr>
              <a:t> </a:t>
            </a:r>
            <a:r>
              <a:rPr lang="en-US" sz="2000" dirty="0" err="1">
                <a:ea typeface="+mn-lt"/>
                <a:cs typeface="+mn-lt"/>
              </a:rPr>
              <a:t>cập</a:t>
            </a:r>
            <a:r>
              <a:rPr lang="en-US" sz="2000" dirty="0">
                <a:ea typeface="+mn-lt"/>
                <a:cs typeface="+mn-lt"/>
              </a:rPr>
              <a:t> </a:t>
            </a:r>
            <a:r>
              <a:rPr lang="en-US" sz="2000" dirty="0" err="1">
                <a:ea typeface="+mn-lt"/>
                <a:cs typeface="+mn-lt"/>
              </a:rPr>
              <a:t>vào</a:t>
            </a:r>
            <a:r>
              <a:rPr lang="en-US" sz="2000" dirty="0">
                <a:ea typeface="+mn-lt"/>
                <a:cs typeface="+mn-lt"/>
              </a:rPr>
              <a:t> </a:t>
            </a:r>
            <a:r>
              <a:rPr lang="en-US" sz="2000" b="1" dirty="0" err="1">
                <a:ea typeface="+mn-lt"/>
                <a:cs typeface="+mn-lt"/>
              </a:rPr>
              <a:t>bộ</a:t>
            </a:r>
            <a:r>
              <a:rPr lang="en-US" sz="2000" b="1" dirty="0">
                <a:ea typeface="+mn-lt"/>
                <a:cs typeface="+mn-lt"/>
              </a:rPr>
              <a:t> </a:t>
            </a:r>
            <a:r>
              <a:rPr lang="en-US" sz="2000" b="1" dirty="0" err="1">
                <a:ea typeface="+mn-lt"/>
                <a:cs typeface="+mn-lt"/>
              </a:rPr>
              <a:t>dữ</a:t>
            </a:r>
            <a:r>
              <a:rPr lang="en-US" sz="2000" b="1" dirty="0">
                <a:ea typeface="+mn-lt"/>
                <a:cs typeface="+mn-lt"/>
              </a:rPr>
              <a:t> </a:t>
            </a:r>
            <a:r>
              <a:rPr lang="en-US" sz="2000" b="1" dirty="0" err="1">
                <a:ea typeface="+mn-lt"/>
                <a:cs typeface="+mn-lt"/>
              </a:rPr>
              <a:t>liệu</a:t>
            </a:r>
            <a:r>
              <a:rPr lang="en-US" sz="2000" b="1" dirty="0">
                <a:ea typeface="+mn-lt"/>
                <a:cs typeface="+mn-lt"/>
              </a:rPr>
              <a:t> </a:t>
            </a:r>
            <a:r>
              <a:rPr lang="en-US" sz="2000" b="1" dirty="0" err="1">
                <a:ea typeface="+mn-lt"/>
                <a:cs typeface="+mn-lt"/>
              </a:rPr>
              <a:t>khổng</a:t>
            </a:r>
            <a:r>
              <a:rPr lang="en-US" sz="2000" b="1" dirty="0">
                <a:ea typeface="+mn-lt"/>
                <a:cs typeface="+mn-lt"/>
              </a:rPr>
              <a:t> </a:t>
            </a:r>
            <a:r>
              <a:rPr lang="en-US" sz="2000" b="1" dirty="0" err="1">
                <a:ea typeface="+mn-lt"/>
                <a:cs typeface="+mn-lt"/>
              </a:rPr>
              <a:t>lồ</a:t>
            </a:r>
            <a:r>
              <a:rPr lang="en-US" sz="2000" dirty="0">
                <a:ea typeface="+mn-lt"/>
                <a:cs typeface="+mn-lt"/>
              </a:rPr>
              <a:t>.</a:t>
            </a:r>
            <a:endParaRPr lang="en-US" sz="2000"/>
          </a:p>
          <a:p>
            <a:pPr lvl="1"/>
            <a:r>
              <a:rPr lang="en-US" sz="2000" err="1">
                <a:ea typeface="+mn-lt"/>
                <a:cs typeface="+mn-lt"/>
              </a:rPr>
              <a:t>Xây</a:t>
            </a:r>
            <a:r>
              <a:rPr lang="en-US" sz="2000" dirty="0">
                <a:ea typeface="+mn-lt"/>
                <a:cs typeface="+mn-lt"/>
              </a:rPr>
              <a:t> </a:t>
            </a:r>
            <a:r>
              <a:rPr lang="en-US" sz="2000" err="1">
                <a:ea typeface="+mn-lt"/>
                <a:cs typeface="+mn-lt"/>
              </a:rPr>
              <a:t>dựng</a:t>
            </a:r>
            <a:r>
              <a:rPr lang="en-US" sz="2000" dirty="0">
                <a:ea typeface="+mn-lt"/>
                <a:cs typeface="+mn-lt"/>
              </a:rPr>
              <a:t> </a:t>
            </a:r>
            <a:r>
              <a:rPr lang="en-US" sz="2000" err="1">
                <a:ea typeface="+mn-lt"/>
                <a:cs typeface="+mn-lt"/>
              </a:rPr>
              <a:t>mô</a:t>
            </a:r>
            <a:r>
              <a:rPr lang="en-US" sz="2000" dirty="0">
                <a:ea typeface="+mn-lt"/>
                <a:cs typeface="+mn-lt"/>
              </a:rPr>
              <a:t> </a:t>
            </a:r>
            <a:r>
              <a:rPr lang="en-US" sz="2000" err="1">
                <a:ea typeface="+mn-lt"/>
                <a:cs typeface="+mn-lt"/>
              </a:rPr>
              <a:t>hình</a:t>
            </a:r>
            <a:r>
              <a:rPr lang="en-US" sz="2000" dirty="0">
                <a:ea typeface="+mn-lt"/>
                <a:cs typeface="+mn-lt"/>
              </a:rPr>
              <a:t> </a:t>
            </a:r>
            <a:r>
              <a:rPr lang="en-US" sz="2000" err="1">
                <a:ea typeface="+mn-lt"/>
                <a:cs typeface="+mn-lt"/>
              </a:rPr>
              <a:t>trên</a:t>
            </a:r>
            <a:r>
              <a:rPr lang="en-US" sz="2000" dirty="0">
                <a:ea typeface="+mn-lt"/>
                <a:cs typeface="+mn-lt"/>
              </a:rPr>
              <a:t> </a:t>
            </a:r>
            <a:r>
              <a:rPr lang="en-US" sz="2000" err="1">
                <a:ea typeface="+mn-lt"/>
                <a:cs typeface="+mn-lt"/>
              </a:rPr>
              <a:t>các</a:t>
            </a:r>
            <a:r>
              <a:rPr lang="en-US" sz="2000" dirty="0">
                <a:ea typeface="+mn-lt"/>
                <a:cs typeface="+mn-lt"/>
              </a:rPr>
              <a:t> </a:t>
            </a:r>
            <a:r>
              <a:rPr lang="en-US" sz="2000" b="1" err="1">
                <a:ea typeface="+mn-lt"/>
                <a:cs typeface="+mn-lt"/>
              </a:rPr>
              <a:t>sổ</a:t>
            </a:r>
            <a:r>
              <a:rPr lang="en-US" sz="2000" b="1" dirty="0">
                <a:ea typeface="+mn-lt"/>
                <a:cs typeface="+mn-lt"/>
              </a:rPr>
              <a:t> </a:t>
            </a:r>
            <a:r>
              <a:rPr lang="en-US" sz="2000" b="1" err="1">
                <a:ea typeface="+mn-lt"/>
                <a:cs typeface="+mn-lt"/>
              </a:rPr>
              <a:t>tay</a:t>
            </a:r>
            <a:r>
              <a:rPr lang="en-US" sz="2000" b="1" dirty="0">
                <a:ea typeface="+mn-lt"/>
                <a:cs typeface="+mn-lt"/>
              </a:rPr>
              <a:t> (notebooks)</a:t>
            </a:r>
            <a:r>
              <a:rPr lang="en-US" sz="2000" dirty="0">
                <a:ea typeface="+mn-lt"/>
                <a:cs typeface="+mn-lt"/>
              </a:rPr>
              <a:t> </a:t>
            </a:r>
            <a:r>
              <a:rPr lang="en-US" sz="2000" err="1">
                <a:ea typeface="+mn-lt"/>
                <a:cs typeface="+mn-lt"/>
              </a:rPr>
              <a:t>có</a:t>
            </a:r>
            <a:r>
              <a:rPr lang="en-US" sz="2000" dirty="0">
                <a:ea typeface="+mn-lt"/>
                <a:cs typeface="+mn-lt"/>
              </a:rPr>
              <a:t> </a:t>
            </a:r>
            <a:r>
              <a:rPr lang="en-US" sz="2000" err="1">
                <a:ea typeface="+mn-lt"/>
                <a:cs typeface="+mn-lt"/>
              </a:rPr>
              <a:t>sẵn</a:t>
            </a:r>
            <a:r>
              <a:rPr lang="en-US" sz="2000" dirty="0">
                <a:ea typeface="+mn-lt"/>
                <a:cs typeface="+mn-lt"/>
              </a:rPr>
              <a:t>.</a:t>
            </a:r>
            <a:endParaRPr lang="en-US" sz="2000" dirty="0"/>
          </a:p>
          <a:p>
            <a:pPr lvl="1"/>
            <a:r>
              <a:rPr lang="en-US" sz="2000" err="1">
                <a:ea typeface="+mn-lt"/>
                <a:cs typeface="+mn-lt"/>
              </a:rPr>
              <a:t>Có</a:t>
            </a:r>
            <a:r>
              <a:rPr lang="en-US" sz="2000" dirty="0">
                <a:ea typeface="+mn-lt"/>
                <a:cs typeface="+mn-lt"/>
              </a:rPr>
              <a:t> </a:t>
            </a:r>
            <a:r>
              <a:rPr lang="en-US" sz="2000" b="1" err="1">
                <a:ea typeface="+mn-lt"/>
                <a:cs typeface="+mn-lt"/>
              </a:rPr>
              <a:t>cộng</a:t>
            </a:r>
            <a:r>
              <a:rPr lang="en-US" sz="2000" b="1" dirty="0">
                <a:ea typeface="+mn-lt"/>
                <a:cs typeface="+mn-lt"/>
              </a:rPr>
              <a:t> </a:t>
            </a:r>
            <a:r>
              <a:rPr lang="en-US" sz="2000" b="1" err="1">
                <a:ea typeface="+mn-lt"/>
                <a:cs typeface="+mn-lt"/>
              </a:rPr>
              <a:t>đồng</a:t>
            </a:r>
            <a:r>
              <a:rPr lang="en-US" sz="2000" b="1" dirty="0">
                <a:ea typeface="+mn-lt"/>
                <a:cs typeface="+mn-lt"/>
              </a:rPr>
              <a:t> </a:t>
            </a:r>
            <a:r>
              <a:rPr lang="en-US" sz="2000" b="1" err="1">
                <a:ea typeface="+mn-lt"/>
                <a:cs typeface="+mn-lt"/>
              </a:rPr>
              <a:t>tích</a:t>
            </a:r>
            <a:r>
              <a:rPr lang="en-US" sz="2000" b="1" dirty="0">
                <a:ea typeface="+mn-lt"/>
                <a:cs typeface="+mn-lt"/>
              </a:rPr>
              <a:t> </a:t>
            </a:r>
            <a:r>
              <a:rPr lang="en-US" sz="2000" b="1" err="1">
                <a:ea typeface="+mn-lt"/>
                <a:cs typeface="+mn-lt"/>
              </a:rPr>
              <a:t>cực</a:t>
            </a:r>
            <a:r>
              <a:rPr lang="en-US" sz="2000" dirty="0">
                <a:ea typeface="+mn-lt"/>
                <a:cs typeface="+mn-lt"/>
              </a:rPr>
              <a:t>.</a:t>
            </a:r>
            <a:endParaRPr lang="en-US" sz="2000" dirty="0"/>
          </a:p>
          <a:p>
            <a:endParaRPr lang="en-US" sz="2000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5FB9F2C-0183-C6E0-72E2-A9F40B3CF0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9E07DD-E7D5-4200-88A6-589608E22EDB}" type="datetime1">
              <a:t>11/28/2025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CF0E0C4-80FE-A93A-1CC3-B10291ACE0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5EBAF0-0CDD-812B-F66F-5B1544D02D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DE196-8A13-4FF7-A07E-102851959EAB}" type="slidenum">
              <a:rPr lang="en-US" dirty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88545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48B206-8239-5309-1260-0671D70A57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94F72C-6ABB-1D94-C324-5086E7B44C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err="1">
                <a:latin typeface="Aptos"/>
              </a:rPr>
              <a:t>Nguồn</a:t>
            </a:r>
            <a:r>
              <a:rPr lang="en-US" b="1" dirty="0">
                <a:latin typeface="Aptos"/>
              </a:rPr>
              <a:t> </a:t>
            </a:r>
            <a:r>
              <a:rPr lang="en-US" b="1" err="1">
                <a:latin typeface="Aptos"/>
              </a:rPr>
              <a:t>dữ</a:t>
            </a:r>
            <a:r>
              <a:rPr lang="en-US" b="1" dirty="0">
                <a:latin typeface="Aptos"/>
              </a:rPr>
              <a:t> </a:t>
            </a:r>
            <a:r>
              <a:rPr lang="en-US" b="1" err="1">
                <a:latin typeface="Aptos"/>
              </a:rPr>
              <a:t>liệu</a:t>
            </a:r>
            <a:r>
              <a:rPr lang="en-US" b="1" dirty="0">
                <a:latin typeface="Aptos"/>
              </a:rPr>
              <a:t> (Data Sources)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BE84A3-627D-498B-3C65-008C8B8E63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>
              <a:buNone/>
            </a:pPr>
            <a:r>
              <a:rPr lang="en-US" sz="2400" dirty="0"/>
              <a:t>Các Dataset </a:t>
            </a:r>
            <a:r>
              <a:rPr lang="en-US" sz="2400" dirty="0" err="1"/>
              <a:t>Phổ</a:t>
            </a:r>
            <a:r>
              <a:rPr lang="en-US" sz="2400" dirty="0"/>
              <a:t> </a:t>
            </a:r>
            <a:r>
              <a:rPr lang="en-US" sz="2400" dirty="0" err="1"/>
              <a:t>biến</a:t>
            </a:r>
            <a:r>
              <a:rPr lang="en-US" sz="2400" dirty="0"/>
              <a:t>:</a:t>
            </a:r>
          </a:p>
          <a:p>
            <a:pPr>
              <a:buFont typeface="Arial"/>
            </a:pPr>
            <a:r>
              <a:rPr lang="en-US" sz="2400" b="1" dirty="0">
                <a:ea typeface="+mn-lt"/>
                <a:cs typeface="+mn-lt"/>
              </a:rPr>
              <a:t>Google Dataset:</a:t>
            </a:r>
            <a:r>
              <a:rPr lang="en-US" sz="2400" dirty="0">
                <a:ea typeface="+mn-lt"/>
                <a:cs typeface="+mn-lt"/>
              </a:rPr>
              <a:t> Phạm vi </a:t>
            </a:r>
            <a:r>
              <a:rPr lang="en-US" sz="2400" err="1">
                <a:ea typeface="+mn-lt"/>
                <a:cs typeface="+mn-lt"/>
              </a:rPr>
              <a:t>tìm</a:t>
            </a:r>
            <a:r>
              <a:rPr lang="en-US" sz="2400" dirty="0">
                <a:ea typeface="+mn-lt"/>
                <a:cs typeface="+mn-lt"/>
              </a:rPr>
              <a:t> </a:t>
            </a:r>
            <a:r>
              <a:rPr lang="en-US" sz="2400" err="1">
                <a:ea typeface="+mn-lt"/>
                <a:cs typeface="+mn-lt"/>
              </a:rPr>
              <a:t>kiếm</a:t>
            </a:r>
            <a:r>
              <a:rPr lang="en-US" sz="2400" dirty="0">
                <a:ea typeface="+mn-lt"/>
                <a:cs typeface="+mn-lt"/>
              </a:rPr>
              <a:t> </a:t>
            </a:r>
            <a:r>
              <a:rPr lang="en-US" sz="2400" err="1">
                <a:ea typeface="+mn-lt"/>
                <a:cs typeface="+mn-lt"/>
              </a:rPr>
              <a:t>rộng</a:t>
            </a:r>
            <a:r>
              <a:rPr lang="en-US" sz="2400" dirty="0">
                <a:ea typeface="+mn-lt"/>
                <a:cs typeface="+mn-lt"/>
              </a:rPr>
              <a:t> </a:t>
            </a:r>
            <a:r>
              <a:rPr lang="en-US" sz="2400" err="1">
                <a:ea typeface="+mn-lt"/>
                <a:cs typeface="+mn-lt"/>
              </a:rPr>
              <a:t>lớn</a:t>
            </a:r>
            <a:r>
              <a:rPr lang="en-US" sz="2400" dirty="0">
                <a:ea typeface="+mn-lt"/>
                <a:cs typeface="+mn-lt"/>
              </a:rPr>
              <a:t>, </a:t>
            </a:r>
            <a:r>
              <a:rPr lang="en-US" sz="2400" err="1">
                <a:ea typeface="+mn-lt"/>
                <a:cs typeface="+mn-lt"/>
              </a:rPr>
              <a:t>bộ</a:t>
            </a:r>
            <a:r>
              <a:rPr lang="en-US" sz="2400" dirty="0">
                <a:ea typeface="+mn-lt"/>
                <a:cs typeface="+mn-lt"/>
              </a:rPr>
              <a:t> </a:t>
            </a:r>
            <a:r>
              <a:rPr lang="en-US" sz="2400" err="1">
                <a:ea typeface="+mn-lt"/>
                <a:cs typeface="+mn-lt"/>
              </a:rPr>
              <a:t>lọc</a:t>
            </a:r>
            <a:r>
              <a:rPr lang="en-US" sz="2400" dirty="0">
                <a:ea typeface="+mn-lt"/>
                <a:cs typeface="+mn-lt"/>
              </a:rPr>
              <a:t> </a:t>
            </a:r>
            <a:r>
              <a:rPr lang="en-US" sz="2400" err="1">
                <a:ea typeface="+mn-lt"/>
                <a:cs typeface="+mn-lt"/>
              </a:rPr>
              <a:t>hữu</a:t>
            </a:r>
            <a:r>
              <a:rPr lang="en-US" sz="2400" dirty="0">
                <a:ea typeface="+mn-lt"/>
                <a:cs typeface="+mn-lt"/>
              </a:rPr>
              <a:t> </a:t>
            </a:r>
            <a:r>
              <a:rPr lang="en-US" sz="2400" err="1">
                <a:ea typeface="+mn-lt"/>
                <a:cs typeface="+mn-lt"/>
              </a:rPr>
              <a:t>ích</a:t>
            </a:r>
            <a:r>
              <a:rPr lang="en-US" sz="2400" dirty="0">
                <a:ea typeface="+mn-lt"/>
                <a:cs typeface="+mn-lt"/>
              </a:rPr>
              <a:t>.</a:t>
            </a:r>
          </a:p>
          <a:p>
            <a:pPr>
              <a:buFont typeface="Arial"/>
            </a:pPr>
            <a:r>
              <a:rPr lang="en-US" sz="2400" b="1" dirty="0">
                <a:ea typeface="+mn-lt"/>
                <a:cs typeface="+mn-lt"/>
              </a:rPr>
              <a:t>UCI Machine Learning Repository:</a:t>
            </a:r>
            <a:r>
              <a:rPr lang="en-US" sz="2400" dirty="0">
                <a:ea typeface="+mn-lt"/>
                <a:cs typeface="+mn-lt"/>
              </a:rPr>
              <a:t> </a:t>
            </a:r>
            <a:r>
              <a:rPr lang="en-US" sz="2400" err="1">
                <a:ea typeface="+mn-lt"/>
                <a:cs typeface="+mn-lt"/>
              </a:rPr>
              <a:t>Dễ</a:t>
            </a:r>
            <a:r>
              <a:rPr lang="en-US" sz="2400" dirty="0">
                <a:ea typeface="+mn-lt"/>
                <a:cs typeface="+mn-lt"/>
              </a:rPr>
              <a:t> </a:t>
            </a:r>
            <a:r>
              <a:rPr lang="en-US" sz="2400" err="1">
                <a:ea typeface="+mn-lt"/>
                <a:cs typeface="+mn-lt"/>
              </a:rPr>
              <a:t>tải</a:t>
            </a:r>
            <a:r>
              <a:rPr lang="en-US" sz="2400" dirty="0">
                <a:ea typeface="+mn-lt"/>
                <a:cs typeface="+mn-lt"/>
              </a:rPr>
              <a:t> </a:t>
            </a:r>
            <a:r>
              <a:rPr lang="en-US" sz="2400" err="1">
                <a:ea typeface="+mn-lt"/>
                <a:cs typeface="+mn-lt"/>
              </a:rPr>
              <a:t>về</a:t>
            </a:r>
            <a:r>
              <a:rPr lang="en-US" sz="2400" dirty="0">
                <a:ea typeface="+mn-lt"/>
                <a:cs typeface="+mn-lt"/>
              </a:rPr>
              <a:t>, </a:t>
            </a:r>
            <a:r>
              <a:rPr lang="en-US" sz="2400" err="1">
                <a:ea typeface="+mn-lt"/>
                <a:cs typeface="+mn-lt"/>
              </a:rPr>
              <a:t>ổn</a:t>
            </a:r>
            <a:r>
              <a:rPr lang="en-US" sz="2400" dirty="0">
                <a:ea typeface="+mn-lt"/>
                <a:cs typeface="+mn-lt"/>
              </a:rPr>
              <a:t> </a:t>
            </a:r>
            <a:r>
              <a:rPr lang="en-US" sz="2400" err="1">
                <a:ea typeface="+mn-lt"/>
                <a:cs typeface="+mn-lt"/>
              </a:rPr>
              <a:t>định</a:t>
            </a:r>
            <a:r>
              <a:rPr lang="en-US" sz="2400" dirty="0">
                <a:ea typeface="+mn-lt"/>
                <a:cs typeface="+mn-lt"/>
              </a:rPr>
              <a:t>, </a:t>
            </a:r>
            <a:r>
              <a:rPr lang="en-US" sz="2400" err="1">
                <a:ea typeface="+mn-lt"/>
                <a:cs typeface="+mn-lt"/>
              </a:rPr>
              <a:t>tài</a:t>
            </a:r>
            <a:r>
              <a:rPr lang="en-US" sz="2400" dirty="0">
                <a:ea typeface="+mn-lt"/>
                <a:cs typeface="+mn-lt"/>
              </a:rPr>
              <a:t> </a:t>
            </a:r>
            <a:r>
              <a:rPr lang="en-US" sz="2400" err="1">
                <a:ea typeface="+mn-lt"/>
                <a:cs typeface="+mn-lt"/>
              </a:rPr>
              <a:t>liệu</a:t>
            </a:r>
            <a:r>
              <a:rPr lang="en-US" sz="2400" dirty="0">
                <a:ea typeface="+mn-lt"/>
                <a:cs typeface="+mn-lt"/>
              </a:rPr>
              <a:t> </a:t>
            </a:r>
            <a:r>
              <a:rPr lang="en-US" sz="2400" err="1">
                <a:ea typeface="+mn-lt"/>
                <a:cs typeface="+mn-lt"/>
              </a:rPr>
              <a:t>đi</a:t>
            </a:r>
            <a:r>
              <a:rPr lang="en-US" sz="2400" dirty="0">
                <a:ea typeface="+mn-lt"/>
                <a:cs typeface="+mn-lt"/>
              </a:rPr>
              <a:t> </a:t>
            </a:r>
            <a:r>
              <a:rPr lang="en-US" sz="2400" err="1">
                <a:ea typeface="+mn-lt"/>
                <a:cs typeface="+mn-lt"/>
              </a:rPr>
              <a:t>kèm</a:t>
            </a:r>
            <a:r>
              <a:rPr lang="en-US" sz="2400" dirty="0">
                <a:ea typeface="+mn-lt"/>
                <a:cs typeface="+mn-lt"/>
              </a:rPr>
              <a:t> </a:t>
            </a:r>
            <a:r>
              <a:rPr lang="en-US" sz="2400" err="1">
                <a:ea typeface="+mn-lt"/>
                <a:cs typeface="+mn-lt"/>
              </a:rPr>
              <a:t>tốt</a:t>
            </a:r>
            <a:r>
              <a:rPr lang="en-US" sz="2400" dirty="0">
                <a:ea typeface="+mn-lt"/>
                <a:cs typeface="+mn-lt"/>
              </a:rPr>
              <a:t>.</a:t>
            </a:r>
          </a:p>
          <a:p>
            <a:pPr>
              <a:buFont typeface="Arial"/>
            </a:pPr>
            <a:r>
              <a:rPr lang="en-US" sz="2400" b="1" err="1">
                <a:ea typeface="+mn-lt"/>
                <a:cs typeface="+mn-lt"/>
              </a:rPr>
              <a:t>Dữ</a:t>
            </a:r>
            <a:r>
              <a:rPr lang="en-US" sz="2400" b="1" dirty="0">
                <a:ea typeface="+mn-lt"/>
                <a:cs typeface="+mn-lt"/>
              </a:rPr>
              <a:t> </a:t>
            </a:r>
            <a:r>
              <a:rPr lang="en-US" sz="2400" b="1" err="1">
                <a:ea typeface="+mn-lt"/>
                <a:cs typeface="+mn-lt"/>
              </a:rPr>
              <a:t>liệu</a:t>
            </a:r>
            <a:r>
              <a:rPr lang="en-US" sz="2400" b="1" dirty="0">
                <a:ea typeface="+mn-lt"/>
                <a:cs typeface="+mn-lt"/>
              </a:rPr>
              <a:t> </a:t>
            </a:r>
            <a:r>
              <a:rPr lang="en-US" sz="2400" b="1" err="1">
                <a:ea typeface="+mn-lt"/>
                <a:cs typeface="+mn-lt"/>
              </a:rPr>
              <a:t>từ</a:t>
            </a:r>
            <a:r>
              <a:rPr lang="en-US" sz="2400" b="1" dirty="0">
                <a:ea typeface="+mn-lt"/>
                <a:cs typeface="+mn-lt"/>
              </a:rPr>
              <a:t> </a:t>
            </a:r>
            <a:r>
              <a:rPr lang="en-US" sz="2400" b="1" err="1">
                <a:ea typeface="+mn-lt"/>
                <a:cs typeface="+mn-lt"/>
              </a:rPr>
              <a:t>chính</a:t>
            </a:r>
            <a:r>
              <a:rPr lang="en-US" sz="2400" b="1" dirty="0">
                <a:ea typeface="+mn-lt"/>
                <a:cs typeface="+mn-lt"/>
              </a:rPr>
              <a:t> </a:t>
            </a:r>
            <a:r>
              <a:rPr lang="en-US" sz="2400" b="1" err="1">
                <a:ea typeface="+mn-lt"/>
                <a:cs typeface="+mn-lt"/>
              </a:rPr>
              <a:t>phủ</a:t>
            </a:r>
            <a:r>
              <a:rPr lang="en-US" sz="2400" b="1" dirty="0">
                <a:ea typeface="+mn-lt"/>
                <a:cs typeface="+mn-lt"/>
              </a:rPr>
              <a:t> (Data.gov):</a:t>
            </a:r>
            <a:r>
              <a:rPr lang="en-US" sz="2400" dirty="0">
                <a:ea typeface="+mn-lt"/>
                <a:cs typeface="+mn-lt"/>
              </a:rPr>
              <a:t> </a:t>
            </a:r>
            <a:r>
              <a:rPr lang="en-US" sz="2400" err="1">
                <a:ea typeface="+mn-lt"/>
                <a:cs typeface="+mn-lt"/>
              </a:rPr>
              <a:t>Nguồn</a:t>
            </a:r>
            <a:r>
              <a:rPr lang="en-US" sz="2400" dirty="0">
                <a:ea typeface="+mn-lt"/>
                <a:cs typeface="+mn-lt"/>
              </a:rPr>
              <a:t> </a:t>
            </a:r>
            <a:r>
              <a:rPr lang="en-US" sz="2400" err="1">
                <a:ea typeface="+mn-lt"/>
                <a:cs typeface="+mn-lt"/>
              </a:rPr>
              <a:t>dữ</a:t>
            </a:r>
            <a:r>
              <a:rPr lang="en-US" sz="2400" dirty="0">
                <a:ea typeface="+mn-lt"/>
                <a:cs typeface="+mn-lt"/>
              </a:rPr>
              <a:t> </a:t>
            </a:r>
            <a:r>
              <a:rPr lang="en-US" sz="2400" err="1">
                <a:ea typeface="+mn-lt"/>
                <a:cs typeface="+mn-lt"/>
              </a:rPr>
              <a:t>liệu</a:t>
            </a:r>
            <a:r>
              <a:rPr lang="en-US" sz="2400" dirty="0">
                <a:ea typeface="+mn-lt"/>
                <a:cs typeface="+mn-lt"/>
              </a:rPr>
              <a:t> </a:t>
            </a:r>
            <a:r>
              <a:rPr lang="en-US" sz="2400" err="1">
                <a:ea typeface="+mn-lt"/>
                <a:cs typeface="+mn-lt"/>
              </a:rPr>
              <a:t>chính</a:t>
            </a:r>
            <a:r>
              <a:rPr lang="en-US" sz="2400" dirty="0">
                <a:ea typeface="+mn-lt"/>
                <a:cs typeface="+mn-lt"/>
              </a:rPr>
              <a:t> </a:t>
            </a:r>
            <a:r>
              <a:rPr lang="en-US" sz="2400" err="1">
                <a:ea typeface="+mn-lt"/>
                <a:cs typeface="+mn-lt"/>
              </a:rPr>
              <a:t>thống</a:t>
            </a:r>
            <a:r>
              <a:rPr lang="en-US" sz="2400" dirty="0">
                <a:ea typeface="+mn-lt"/>
                <a:cs typeface="+mn-lt"/>
              </a:rPr>
              <a:t>, </a:t>
            </a:r>
            <a:r>
              <a:rPr lang="en-US" sz="2400" err="1">
                <a:ea typeface="+mn-lt"/>
                <a:cs typeface="+mn-lt"/>
              </a:rPr>
              <a:t>minh</a:t>
            </a:r>
            <a:r>
              <a:rPr lang="en-US" sz="2400" dirty="0">
                <a:ea typeface="+mn-lt"/>
                <a:cs typeface="+mn-lt"/>
              </a:rPr>
              <a:t> </a:t>
            </a:r>
            <a:r>
              <a:rPr lang="en-US" sz="2400" err="1">
                <a:ea typeface="+mn-lt"/>
                <a:cs typeface="+mn-lt"/>
              </a:rPr>
              <a:t>bạch</a:t>
            </a:r>
            <a:r>
              <a:rPr lang="en-US" sz="2400" dirty="0">
                <a:ea typeface="+mn-lt"/>
                <a:cs typeface="+mn-lt"/>
              </a:rPr>
              <a:t>, </a:t>
            </a:r>
            <a:r>
              <a:rPr lang="en-US" sz="2400" err="1">
                <a:ea typeface="+mn-lt"/>
                <a:cs typeface="+mn-lt"/>
              </a:rPr>
              <a:t>phạm</a:t>
            </a:r>
            <a:r>
              <a:rPr lang="en-US" sz="2400" dirty="0">
                <a:ea typeface="+mn-lt"/>
                <a:cs typeface="+mn-lt"/>
              </a:rPr>
              <a:t> vi </a:t>
            </a:r>
            <a:r>
              <a:rPr lang="en-US" sz="2400" err="1">
                <a:ea typeface="+mn-lt"/>
                <a:cs typeface="+mn-lt"/>
              </a:rPr>
              <a:t>rộng</a:t>
            </a:r>
            <a:r>
              <a:rPr lang="en-US" sz="2400" dirty="0">
                <a:ea typeface="+mn-lt"/>
                <a:cs typeface="+mn-lt"/>
              </a:rPr>
              <a:t>.</a:t>
            </a:r>
          </a:p>
          <a:p>
            <a:pPr marL="0" indent="0">
              <a:buNone/>
            </a:pPr>
            <a:endParaRPr lang="en-US" sz="2800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57D16A9-ABFA-B03C-B612-C5E840974A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9E07DD-E7D5-4200-88A6-589608E22EDB}" type="datetime1">
              <a:t>11/28/2025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700BDF4-7FF4-FCC7-2824-C9F82DD68A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745AD24-C726-050F-ACDE-F42136BB5F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DE196-8A13-4FF7-A07E-102851959EAB}" type="slidenum">
              <a:rPr lang="en-US" dirty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33872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11172F-C252-A1DC-9F7B-645AAFD1AD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F4AAD6-0A65-ED64-01D4-C4F9F83C00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1881" y="98388"/>
            <a:ext cx="10449784" cy="601900"/>
          </a:xfrm>
        </p:spPr>
        <p:txBody>
          <a:bodyPr/>
          <a:lstStyle/>
          <a:p>
            <a:r>
              <a:rPr lang="en-US" b="1" dirty="0">
                <a:latin typeface="Aptos"/>
              </a:rPr>
              <a:t>Nguồn dữ liệu (Data Sources)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785DA6-1FD7-9586-2E75-A224F90B47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8332" y="770867"/>
            <a:ext cx="10453333" cy="5514902"/>
          </a:xfrm>
        </p:spPr>
        <p:txBody>
          <a:bodyPr vert="horz" lIns="91440" tIns="45720" rIns="91440" bIns="45720" rtlCol="0" anchor="t">
            <a:noAutofit/>
          </a:bodyPr>
          <a:lstStyle/>
          <a:p>
            <a:pPr>
              <a:buNone/>
            </a:pPr>
            <a:r>
              <a:rPr lang="en-US" sz="1800" dirty="0"/>
              <a:t>Hugging Face (GitHub </a:t>
            </a:r>
            <a:r>
              <a:rPr lang="en-US" sz="1800" dirty="0" err="1"/>
              <a:t>của</a:t>
            </a:r>
            <a:r>
              <a:rPr lang="en-US" sz="1800" dirty="0"/>
              <a:t> Machine Learning):</a:t>
            </a:r>
          </a:p>
          <a:p>
            <a:pPr>
              <a:buFont typeface="Arial"/>
              <a:buChar char="•"/>
            </a:pPr>
            <a:r>
              <a:rPr lang="en-US" sz="1800" b="1" dirty="0">
                <a:ea typeface="+mn-lt"/>
                <a:cs typeface="+mn-lt"/>
              </a:rPr>
              <a:t>Khái niệm:</a:t>
            </a:r>
            <a:r>
              <a:rPr lang="en-US" sz="1800" dirty="0">
                <a:ea typeface="+mn-lt"/>
                <a:cs typeface="+mn-lt"/>
              </a:rPr>
              <a:t> Một cộng đồng và nền tảng mã nguồn mở, tập trung mạnh mẽ vào </a:t>
            </a:r>
            <a:r>
              <a:rPr lang="en-US" sz="1800" b="1" dirty="0">
                <a:ea typeface="+mn-lt"/>
                <a:cs typeface="+mn-lt"/>
              </a:rPr>
              <a:t>Deep Learning</a:t>
            </a:r>
            <a:r>
              <a:rPr lang="en-US" sz="1800" dirty="0">
                <a:ea typeface="+mn-lt"/>
                <a:cs typeface="+mn-lt"/>
              </a:rPr>
              <a:t>, đặc biệt là </a:t>
            </a:r>
            <a:r>
              <a:rPr lang="en-US" sz="1800" b="1" dirty="0">
                <a:ea typeface="+mn-lt"/>
                <a:cs typeface="+mn-lt"/>
              </a:rPr>
              <a:t>Xử lý ngôn ngữ tự nhiên (NLP)</a:t>
            </a:r>
            <a:r>
              <a:rPr lang="en-US" sz="1800" dirty="0">
                <a:ea typeface="+mn-lt"/>
                <a:cs typeface="+mn-lt"/>
              </a:rPr>
              <a:t>, Âm thanh và Thị giác máy tính.</a:t>
            </a:r>
            <a:endParaRPr lang="en-US" sz="1800" dirty="0"/>
          </a:p>
          <a:p>
            <a:pPr>
              <a:buFont typeface="Arial"/>
            </a:pPr>
            <a:r>
              <a:rPr lang="en-US" sz="1800" b="1" dirty="0" err="1">
                <a:ea typeface="+mn-lt"/>
                <a:cs typeface="+mn-lt"/>
              </a:rPr>
              <a:t>Hệ</a:t>
            </a:r>
            <a:r>
              <a:rPr lang="en-US" sz="1800" b="1" dirty="0">
                <a:ea typeface="+mn-lt"/>
                <a:cs typeface="+mn-lt"/>
              </a:rPr>
              <a:t> </a:t>
            </a:r>
            <a:r>
              <a:rPr lang="en-US" sz="1800" b="1" dirty="0" err="1">
                <a:ea typeface="+mn-lt"/>
                <a:cs typeface="+mn-lt"/>
              </a:rPr>
              <a:t>sinh</a:t>
            </a:r>
            <a:r>
              <a:rPr lang="en-US" sz="1800" b="1" dirty="0">
                <a:ea typeface="+mn-lt"/>
                <a:cs typeface="+mn-lt"/>
              </a:rPr>
              <a:t> </a:t>
            </a:r>
            <a:r>
              <a:rPr lang="en-US" sz="1800" b="1" dirty="0" err="1">
                <a:ea typeface="+mn-lt"/>
                <a:cs typeface="+mn-lt"/>
              </a:rPr>
              <a:t>thái</a:t>
            </a:r>
            <a:r>
              <a:rPr lang="en-US" sz="1800" b="1" dirty="0">
                <a:ea typeface="+mn-lt"/>
                <a:cs typeface="+mn-lt"/>
              </a:rPr>
              <a:t> (Hugging Face Hub) </a:t>
            </a:r>
            <a:r>
              <a:rPr lang="en-US" sz="1800" b="1" dirty="0" err="1">
                <a:ea typeface="+mn-lt"/>
                <a:cs typeface="+mn-lt"/>
              </a:rPr>
              <a:t>gồm</a:t>
            </a:r>
            <a:r>
              <a:rPr lang="en-US" sz="1800" b="1" dirty="0">
                <a:ea typeface="+mn-lt"/>
                <a:cs typeface="+mn-lt"/>
              </a:rPr>
              <a:t> 3 </a:t>
            </a:r>
            <a:r>
              <a:rPr lang="en-US" sz="1800" b="1" dirty="0" err="1">
                <a:ea typeface="+mn-lt"/>
                <a:cs typeface="+mn-lt"/>
              </a:rPr>
              <a:t>Trụ</a:t>
            </a:r>
            <a:r>
              <a:rPr lang="en-US" sz="1800" b="1" dirty="0">
                <a:ea typeface="+mn-lt"/>
                <a:cs typeface="+mn-lt"/>
              </a:rPr>
              <a:t> </a:t>
            </a:r>
            <a:r>
              <a:rPr lang="en-US" sz="1800" b="1" dirty="0" err="1">
                <a:ea typeface="+mn-lt"/>
                <a:cs typeface="+mn-lt"/>
              </a:rPr>
              <a:t>cột</a:t>
            </a:r>
            <a:r>
              <a:rPr lang="en-US" sz="1800" b="1" dirty="0">
                <a:ea typeface="+mn-lt"/>
                <a:cs typeface="+mn-lt"/>
              </a:rPr>
              <a:t> </a:t>
            </a:r>
            <a:r>
              <a:rPr lang="en-US" sz="1800" b="1" dirty="0" err="1">
                <a:ea typeface="+mn-lt"/>
                <a:cs typeface="+mn-lt"/>
              </a:rPr>
              <a:t>chính</a:t>
            </a:r>
            <a:r>
              <a:rPr lang="en-US" sz="1800" b="1" dirty="0">
                <a:ea typeface="+mn-lt"/>
                <a:cs typeface="+mn-lt"/>
              </a:rPr>
              <a:t>:</a:t>
            </a:r>
            <a:endParaRPr lang="en-US" sz="1800" dirty="0">
              <a:ea typeface="+mn-lt"/>
              <a:cs typeface="+mn-lt"/>
            </a:endParaRPr>
          </a:p>
          <a:p>
            <a:pPr marL="742950" lvl="1" indent="-285750">
              <a:buFont typeface="Arial"/>
            </a:pPr>
            <a:r>
              <a:rPr lang="en-US" sz="1800" b="1" dirty="0">
                <a:ea typeface="+mn-lt"/>
                <a:cs typeface="+mn-lt"/>
              </a:rPr>
              <a:t>Models (</a:t>
            </a:r>
            <a:r>
              <a:rPr lang="en-US" sz="1800" b="1" dirty="0" err="1">
                <a:ea typeface="+mn-lt"/>
                <a:cs typeface="+mn-lt"/>
              </a:rPr>
              <a:t>Mô</a:t>
            </a:r>
            <a:r>
              <a:rPr lang="en-US" sz="1800" b="1" dirty="0">
                <a:ea typeface="+mn-lt"/>
                <a:cs typeface="+mn-lt"/>
              </a:rPr>
              <a:t> </a:t>
            </a:r>
            <a:r>
              <a:rPr lang="en-US" sz="1800" b="1" dirty="0" err="1">
                <a:ea typeface="+mn-lt"/>
                <a:cs typeface="+mn-lt"/>
              </a:rPr>
              <a:t>hình</a:t>
            </a:r>
            <a:r>
              <a:rPr lang="en-US" sz="1800" b="1" dirty="0">
                <a:ea typeface="+mn-lt"/>
                <a:cs typeface="+mn-lt"/>
              </a:rPr>
              <a:t>):</a:t>
            </a:r>
            <a:endParaRPr lang="en-US" sz="1800" dirty="0"/>
          </a:p>
          <a:p>
            <a:pPr marL="971550" lvl="2" indent="-285750">
              <a:buFont typeface="Arial"/>
            </a:pPr>
            <a:r>
              <a:rPr lang="en-US" sz="1800" dirty="0">
                <a:ea typeface="+mn-lt"/>
                <a:cs typeface="+mn-lt"/>
              </a:rPr>
              <a:t>Chứa hàng trăm nghìn </a:t>
            </a:r>
            <a:r>
              <a:rPr lang="en-US" sz="1800" b="1" dirty="0">
                <a:ea typeface="+mn-lt"/>
                <a:cs typeface="+mn-lt"/>
              </a:rPr>
              <a:t>mô hình đã được huấn luyện trước (Pre-trained models)</a:t>
            </a:r>
            <a:r>
              <a:rPr lang="en-US" sz="1800" dirty="0">
                <a:ea typeface="+mn-lt"/>
                <a:cs typeface="+mn-lt"/>
              </a:rPr>
              <a:t> như BERT, GPT-2.</a:t>
            </a:r>
          </a:p>
          <a:p>
            <a:pPr marL="971550" lvl="2" indent="-285750">
              <a:buFont typeface="Arial"/>
            </a:pPr>
            <a:r>
              <a:rPr lang="en-US" sz="1800" dirty="0">
                <a:ea typeface="+mn-lt"/>
                <a:cs typeface="+mn-lt"/>
              </a:rPr>
              <a:t>Người dùng có thể tải về hoặc tinh chỉnh lại.</a:t>
            </a:r>
          </a:p>
          <a:p>
            <a:pPr marL="742950" lvl="1" indent="-285750">
              <a:buFont typeface="Arial"/>
            </a:pPr>
            <a:r>
              <a:rPr lang="en-US" sz="1800" b="1" dirty="0">
                <a:ea typeface="+mn-lt"/>
                <a:cs typeface="+mn-lt"/>
              </a:rPr>
              <a:t>Datasets (</a:t>
            </a:r>
            <a:r>
              <a:rPr lang="en-US" sz="1800" b="1" dirty="0" err="1">
                <a:ea typeface="+mn-lt"/>
                <a:cs typeface="+mn-lt"/>
              </a:rPr>
              <a:t>Dữ</a:t>
            </a:r>
            <a:r>
              <a:rPr lang="en-US" sz="1800" b="1" dirty="0">
                <a:ea typeface="+mn-lt"/>
                <a:cs typeface="+mn-lt"/>
              </a:rPr>
              <a:t> </a:t>
            </a:r>
            <a:r>
              <a:rPr lang="en-US" sz="1800" b="1" dirty="0" err="1">
                <a:ea typeface="+mn-lt"/>
                <a:cs typeface="+mn-lt"/>
              </a:rPr>
              <a:t>liệu</a:t>
            </a:r>
            <a:r>
              <a:rPr lang="en-US" sz="1800" b="1" dirty="0">
                <a:ea typeface="+mn-lt"/>
                <a:cs typeface="+mn-lt"/>
              </a:rPr>
              <a:t>):</a:t>
            </a:r>
            <a:endParaRPr lang="en-US" sz="1800" dirty="0">
              <a:ea typeface="+mn-lt"/>
              <a:cs typeface="+mn-lt"/>
            </a:endParaRPr>
          </a:p>
          <a:p>
            <a:pPr marL="971550" lvl="2" indent="-285750">
              <a:buFont typeface="Arial"/>
            </a:pPr>
            <a:r>
              <a:rPr lang="en-US" sz="1800" dirty="0" err="1">
                <a:ea typeface="+mn-lt"/>
                <a:cs typeface="+mn-lt"/>
              </a:rPr>
              <a:t>Tập</a:t>
            </a:r>
            <a:r>
              <a:rPr lang="en-US" sz="1800" dirty="0">
                <a:ea typeface="+mn-lt"/>
                <a:cs typeface="+mn-lt"/>
              </a:rPr>
              <a:t> </a:t>
            </a:r>
            <a:r>
              <a:rPr lang="en-US" sz="1800" dirty="0" err="1">
                <a:ea typeface="+mn-lt"/>
                <a:cs typeface="+mn-lt"/>
              </a:rPr>
              <a:t>trung</a:t>
            </a:r>
            <a:r>
              <a:rPr lang="en-US" sz="1800" dirty="0">
                <a:ea typeface="+mn-lt"/>
                <a:cs typeface="+mn-lt"/>
              </a:rPr>
              <a:t> </a:t>
            </a:r>
            <a:r>
              <a:rPr lang="en-US" sz="1800" dirty="0" err="1">
                <a:ea typeface="+mn-lt"/>
                <a:cs typeface="+mn-lt"/>
              </a:rPr>
              <a:t>vào</a:t>
            </a:r>
            <a:r>
              <a:rPr lang="en-US" sz="1800" dirty="0">
                <a:ea typeface="+mn-lt"/>
                <a:cs typeface="+mn-lt"/>
              </a:rPr>
              <a:t> </a:t>
            </a:r>
            <a:r>
              <a:rPr lang="en-US" sz="1800" dirty="0" err="1">
                <a:ea typeface="+mn-lt"/>
                <a:cs typeface="+mn-lt"/>
              </a:rPr>
              <a:t>các</a:t>
            </a:r>
            <a:r>
              <a:rPr lang="en-US" sz="1800" dirty="0">
                <a:ea typeface="+mn-lt"/>
                <a:cs typeface="+mn-lt"/>
              </a:rPr>
              <a:t> </a:t>
            </a:r>
            <a:r>
              <a:rPr lang="en-US" sz="1800" b="1" dirty="0" err="1">
                <a:ea typeface="+mn-lt"/>
                <a:cs typeface="+mn-lt"/>
              </a:rPr>
              <a:t>dữ</a:t>
            </a:r>
            <a:r>
              <a:rPr lang="en-US" sz="1800" b="1" dirty="0">
                <a:ea typeface="+mn-lt"/>
                <a:cs typeface="+mn-lt"/>
              </a:rPr>
              <a:t> </a:t>
            </a:r>
            <a:r>
              <a:rPr lang="en-US" sz="1800" b="1" dirty="0" err="1">
                <a:ea typeface="+mn-lt"/>
                <a:cs typeface="+mn-lt"/>
              </a:rPr>
              <a:t>liệu</a:t>
            </a:r>
            <a:r>
              <a:rPr lang="en-US" sz="1800" b="1" dirty="0">
                <a:ea typeface="+mn-lt"/>
                <a:cs typeface="+mn-lt"/>
              </a:rPr>
              <a:t> </a:t>
            </a:r>
            <a:r>
              <a:rPr lang="en-US" sz="1800" b="1" dirty="0" err="1">
                <a:ea typeface="+mn-lt"/>
                <a:cs typeface="+mn-lt"/>
              </a:rPr>
              <a:t>phức</a:t>
            </a:r>
            <a:r>
              <a:rPr lang="en-US" sz="1800" b="1" dirty="0">
                <a:ea typeface="+mn-lt"/>
                <a:cs typeface="+mn-lt"/>
              </a:rPr>
              <a:t> </a:t>
            </a:r>
            <a:r>
              <a:rPr lang="en-US" sz="1800" b="1" dirty="0" err="1">
                <a:ea typeface="+mn-lt"/>
                <a:cs typeface="+mn-lt"/>
              </a:rPr>
              <a:t>tạp</a:t>
            </a:r>
            <a:r>
              <a:rPr lang="en-US" sz="1800" b="1" dirty="0">
                <a:ea typeface="+mn-lt"/>
                <a:cs typeface="+mn-lt"/>
              </a:rPr>
              <a:t>, phi </a:t>
            </a:r>
            <a:r>
              <a:rPr lang="en-US" sz="1800" b="1" dirty="0" err="1">
                <a:ea typeface="+mn-lt"/>
                <a:cs typeface="+mn-lt"/>
              </a:rPr>
              <a:t>cấu</a:t>
            </a:r>
            <a:r>
              <a:rPr lang="en-US" sz="1800" b="1" dirty="0">
                <a:ea typeface="+mn-lt"/>
                <a:cs typeface="+mn-lt"/>
              </a:rPr>
              <a:t> </a:t>
            </a:r>
            <a:r>
              <a:rPr lang="en-US" sz="1800" b="1" dirty="0" err="1">
                <a:ea typeface="+mn-lt"/>
                <a:cs typeface="+mn-lt"/>
              </a:rPr>
              <a:t>trúc</a:t>
            </a:r>
            <a:r>
              <a:rPr lang="en-US" sz="1800" dirty="0">
                <a:ea typeface="+mn-lt"/>
                <a:cs typeface="+mn-lt"/>
              </a:rPr>
              <a:t> </a:t>
            </a:r>
            <a:r>
              <a:rPr lang="en-US" sz="1800" dirty="0" err="1">
                <a:ea typeface="+mn-lt"/>
                <a:cs typeface="+mn-lt"/>
              </a:rPr>
              <a:t>như</a:t>
            </a:r>
            <a:r>
              <a:rPr lang="en-US" sz="1800" dirty="0">
                <a:ea typeface="+mn-lt"/>
                <a:cs typeface="+mn-lt"/>
              </a:rPr>
              <a:t> Văn </a:t>
            </a:r>
            <a:r>
              <a:rPr lang="en-US" sz="1800" dirty="0" err="1">
                <a:ea typeface="+mn-lt"/>
                <a:cs typeface="+mn-lt"/>
              </a:rPr>
              <a:t>bản</a:t>
            </a:r>
            <a:r>
              <a:rPr lang="en-US" sz="1800" dirty="0">
                <a:ea typeface="+mn-lt"/>
                <a:cs typeface="+mn-lt"/>
              </a:rPr>
              <a:t>, </a:t>
            </a:r>
            <a:r>
              <a:rPr lang="en-US" sz="1800" dirty="0" err="1">
                <a:ea typeface="+mn-lt"/>
                <a:cs typeface="+mn-lt"/>
              </a:rPr>
              <a:t>Hình</a:t>
            </a:r>
            <a:r>
              <a:rPr lang="en-US" sz="1800" dirty="0">
                <a:ea typeface="+mn-lt"/>
                <a:cs typeface="+mn-lt"/>
              </a:rPr>
              <a:t> </a:t>
            </a:r>
            <a:r>
              <a:rPr lang="en-US" sz="1800" dirty="0" err="1">
                <a:ea typeface="+mn-lt"/>
                <a:cs typeface="+mn-lt"/>
              </a:rPr>
              <a:t>ảnh</a:t>
            </a:r>
            <a:r>
              <a:rPr lang="en-US" sz="1800" dirty="0">
                <a:ea typeface="+mn-lt"/>
                <a:cs typeface="+mn-lt"/>
              </a:rPr>
              <a:t>, Audio.</a:t>
            </a:r>
            <a:endParaRPr lang="en-US" sz="1800" dirty="0"/>
          </a:p>
          <a:p>
            <a:pPr marL="971550" lvl="2" indent="-285750">
              <a:buFont typeface="Arial"/>
            </a:pPr>
            <a:r>
              <a:rPr lang="en-US" sz="1800" dirty="0" err="1">
                <a:ea typeface="+mn-lt"/>
                <a:cs typeface="+mn-lt"/>
              </a:rPr>
              <a:t>Dữ</a:t>
            </a:r>
            <a:r>
              <a:rPr lang="en-US" sz="1800" dirty="0">
                <a:ea typeface="+mn-lt"/>
                <a:cs typeface="+mn-lt"/>
              </a:rPr>
              <a:t> </a:t>
            </a:r>
            <a:r>
              <a:rPr lang="en-US" sz="1800" dirty="0" err="1">
                <a:ea typeface="+mn-lt"/>
                <a:cs typeface="+mn-lt"/>
              </a:rPr>
              <a:t>liệu</a:t>
            </a:r>
            <a:r>
              <a:rPr lang="en-US" sz="1800" dirty="0">
                <a:ea typeface="+mn-lt"/>
                <a:cs typeface="+mn-lt"/>
              </a:rPr>
              <a:t> </a:t>
            </a:r>
            <a:r>
              <a:rPr lang="en-US" sz="1800" dirty="0" err="1">
                <a:ea typeface="+mn-lt"/>
                <a:cs typeface="+mn-lt"/>
              </a:rPr>
              <a:t>được</a:t>
            </a:r>
            <a:r>
              <a:rPr lang="en-US" sz="1800" dirty="0">
                <a:ea typeface="+mn-lt"/>
                <a:cs typeface="+mn-lt"/>
              </a:rPr>
              <a:t> </a:t>
            </a:r>
            <a:r>
              <a:rPr lang="en-US" sz="1800" dirty="0" err="1">
                <a:ea typeface="+mn-lt"/>
                <a:cs typeface="+mn-lt"/>
              </a:rPr>
              <a:t>tổ</a:t>
            </a:r>
            <a:r>
              <a:rPr lang="en-US" sz="1800" dirty="0">
                <a:ea typeface="+mn-lt"/>
                <a:cs typeface="+mn-lt"/>
              </a:rPr>
              <a:t> </a:t>
            </a:r>
            <a:r>
              <a:rPr lang="en-US" sz="1800" dirty="0" err="1">
                <a:ea typeface="+mn-lt"/>
                <a:cs typeface="+mn-lt"/>
              </a:rPr>
              <a:t>chức</a:t>
            </a:r>
            <a:r>
              <a:rPr lang="en-US" sz="1800" dirty="0">
                <a:ea typeface="+mn-lt"/>
                <a:cs typeface="+mn-lt"/>
              </a:rPr>
              <a:t> </a:t>
            </a:r>
            <a:r>
              <a:rPr lang="en-US" sz="1800" dirty="0" err="1">
                <a:ea typeface="+mn-lt"/>
                <a:cs typeface="+mn-lt"/>
              </a:rPr>
              <a:t>để</a:t>
            </a:r>
            <a:r>
              <a:rPr lang="en-US" sz="1800" dirty="0">
                <a:ea typeface="+mn-lt"/>
                <a:cs typeface="+mn-lt"/>
              </a:rPr>
              <a:t> </a:t>
            </a:r>
            <a:r>
              <a:rPr lang="en-US" sz="1800" dirty="0" err="1">
                <a:ea typeface="+mn-lt"/>
                <a:cs typeface="+mn-lt"/>
              </a:rPr>
              <a:t>dễ</a:t>
            </a:r>
            <a:r>
              <a:rPr lang="en-US" sz="1800" dirty="0">
                <a:ea typeface="+mn-lt"/>
                <a:cs typeface="+mn-lt"/>
              </a:rPr>
              <a:t> </a:t>
            </a:r>
            <a:r>
              <a:rPr lang="en-US" sz="1800" dirty="0" err="1">
                <a:ea typeface="+mn-lt"/>
                <a:cs typeface="+mn-lt"/>
              </a:rPr>
              <a:t>dàng</a:t>
            </a:r>
            <a:r>
              <a:rPr lang="en-US" sz="1800" dirty="0">
                <a:ea typeface="+mn-lt"/>
                <a:cs typeface="+mn-lt"/>
              </a:rPr>
              <a:t> </a:t>
            </a:r>
            <a:r>
              <a:rPr lang="en-US" sz="1800" dirty="0" err="1">
                <a:ea typeface="+mn-lt"/>
                <a:cs typeface="+mn-lt"/>
              </a:rPr>
              <a:t>tải</a:t>
            </a:r>
            <a:r>
              <a:rPr lang="en-US" sz="1800" dirty="0">
                <a:ea typeface="+mn-lt"/>
                <a:cs typeface="+mn-lt"/>
              </a:rPr>
              <a:t> </a:t>
            </a:r>
            <a:r>
              <a:rPr lang="en-US" sz="1800" dirty="0" err="1">
                <a:ea typeface="+mn-lt"/>
                <a:cs typeface="+mn-lt"/>
              </a:rPr>
              <a:t>về</a:t>
            </a:r>
            <a:r>
              <a:rPr lang="en-US" sz="1800" dirty="0">
                <a:ea typeface="+mn-lt"/>
                <a:cs typeface="+mn-lt"/>
              </a:rPr>
              <a:t>.</a:t>
            </a:r>
            <a:endParaRPr lang="en-US" sz="1800" dirty="0"/>
          </a:p>
          <a:p>
            <a:pPr marL="742950" lvl="1" indent="-285750">
              <a:buFont typeface="Arial"/>
            </a:pPr>
            <a:r>
              <a:rPr lang="en-US" sz="1800" b="1" dirty="0">
                <a:ea typeface="+mn-lt"/>
                <a:cs typeface="+mn-lt"/>
              </a:rPr>
              <a:t>Spaces (</a:t>
            </a:r>
            <a:r>
              <a:rPr lang="en-US" sz="1800" b="1" dirty="0" err="1">
                <a:ea typeface="+mn-lt"/>
                <a:cs typeface="+mn-lt"/>
              </a:rPr>
              <a:t>Không</a:t>
            </a:r>
            <a:r>
              <a:rPr lang="en-US" sz="1800" b="1" dirty="0">
                <a:ea typeface="+mn-lt"/>
                <a:cs typeface="+mn-lt"/>
              </a:rPr>
              <a:t> </a:t>
            </a:r>
            <a:r>
              <a:rPr lang="en-US" sz="1800" b="1" dirty="0" err="1">
                <a:ea typeface="+mn-lt"/>
                <a:cs typeface="+mn-lt"/>
              </a:rPr>
              <a:t>gian</a:t>
            </a:r>
            <a:r>
              <a:rPr lang="en-US" sz="1800" b="1" dirty="0">
                <a:ea typeface="+mn-lt"/>
                <a:cs typeface="+mn-lt"/>
              </a:rPr>
              <a:t> Demo):</a:t>
            </a:r>
            <a:endParaRPr lang="en-US" sz="1800" dirty="0"/>
          </a:p>
          <a:p>
            <a:pPr marL="971550" lvl="2" indent="-285750">
              <a:buFont typeface="Arial"/>
            </a:pPr>
            <a:r>
              <a:rPr lang="en-US" sz="1800" dirty="0" err="1">
                <a:ea typeface="+mn-lt"/>
                <a:cs typeface="+mn-lt"/>
              </a:rPr>
              <a:t>Nơi</a:t>
            </a:r>
            <a:r>
              <a:rPr lang="en-US" sz="1800" dirty="0">
                <a:ea typeface="+mn-lt"/>
                <a:cs typeface="+mn-lt"/>
              </a:rPr>
              <a:t> </a:t>
            </a:r>
            <a:r>
              <a:rPr lang="en-US" sz="1800" dirty="0" err="1">
                <a:ea typeface="+mn-lt"/>
                <a:cs typeface="+mn-lt"/>
              </a:rPr>
              <a:t>người</a:t>
            </a:r>
            <a:r>
              <a:rPr lang="en-US" sz="1800" dirty="0">
                <a:ea typeface="+mn-lt"/>
                <a:cs typeface="+mn-lt"/>
              </a:rPr>
              <a:t> </a:t>
            </a:r>
            <a:r>
              <a:rPr lang="en-US" sz="1800" dirty="0" err="1">
                <a:ea typeface="+mn-lt"/>
                <a:cs typeface="+mn-lt"/>
              </a:rPr>
              <a:t>dùng</a:t>
            </a:r>
            <a:r>
              <a:rPr lang="en-US" sz="1800" dirty="0">
                <a:ea typeface="+mn-lt"/>
                <a:cs typeface="+mn-lt"/>
              </a:rPr>
              <a:t> </a:t>
            </a:r>
            <a:r>
              <a:rPr lang="en-US" sz="1800" dirty="0" err="1">
                <a:ea typeface="+mn-lt"/>
                <a:cs typeface="+mn-lt"/>
              </a:rPr>
              <a:t>triển</a:t>
            </a:r>
            <a:r>
              <a:rPr lang="en-US" sz="1800" dirty="0">
                <a:ea typeface="+mn-lt"/>
                <a:cs typeface="+mn-lt"/>
              </a:rPr>
              <a:t> </a:t>
            </a:r>
            <a:r>
              <a:rPr lang="en-US" sz="1800" dirty="0" err="1">
                <a:ea typeface="+mn-lt"/>
                <a:cs typeface="+mn-lt"/>
              </a:rPr>
              <a:t>khai</a:t>
            </a:r>
            <a:r>
              <a:rPr lang="en-US" sz="1800" dirty="0">
                <a:ea typeface="+mn-lt"/>
                <a:cs typeface="+mn-lt"/>
              </a:rPr>
              <a:t> </a:t>
            </a:r>
            <a:r>
              <a:rPr lang="en-US" sz="1800" dirty="0" err="1">
                <a:ea typeface="+mn-lt"/>
                <a:cs typeface="+mn-lt"/>
              </a:rPr>
              <a:t>các</a:t>
            </a:r>
            <a:r>
              <a:rPr lang="en-US" sz="1800" dirty="0">
                <a:ea typeface="+mn-lt"/>
                <a:cs typeface="+mn-lt"/>
              </a:rPr>
              <a:t> </a:t>
            </a:r>
            <a:r>
              <a:rPr lang="en-US" sz="1800" b="1" dirty="0" err="1">
                <a:ea typeface="+mn-lt"/>
                <a:cs typeface="+mn-lt"/>
              </a:rPr>
              <a:t>ứng</a:t>
            </a:r>
            <a:r>
              <a:rPr lang="en-US" sz="1800" b="1" dirty="0">
                <a:ea typeface="+mn-lt"/>
                <a:cs typeface="+mn-lt"/>
              </a:rPr>
              <a:t> </a:t>
            </a:r>
            <a:r>
              <a:rPr lang="en-US" sz="1800" b="1" dirty="0" err="1">
                <a:ea typeface="+mn-lt"/>
                <a:cs typeface="+mn-lt"/>
              </a:rPr>
              <a:t>dụng</a:t>
            </a:r>
            <a:r>
              <a:rPr lang="en-US" sz="1800" b="1" dirty="0">
                <a:ea typeface="+mn-lt"/>
                <a:cs typeface="+mn-lt"/>
              </a:rPr>
              <a:t> Demo</a:t>
            </a:r>
            <a:r>
              <a:rPr lang="en-US" sz="1800" dirty="0">
                <a:ea typeface="+mn-lt"/>
                <a:cs typeface="+mn-lt"/>
              </a:rPr>
              <a:t> (</a:t>
            </a:r>
            <a:r>
              <a:rPr lang="en-US" sz="1800" dirty="0" err="1">
                <a:ea typeface="+mn-lt"/>
                <a:cs typeface="+mn-lt"/>
              </a:rPr>
              <a:t>sử</a:t>
            </a:r>
            <a:r>
              <a:rPr lang="en-US" sz="1800" dirty="0">
                <a:ea typeface="+mn-lt"/>
                <a:cs typeface="+mn-lt"/>
              </a:rPr>
              <a:t> </a:t>
            </a:r>
            <a:r>
              <a:rPr lang="en-US" sz="1800" dirty="0" err="1">
                <a:ea typeface="+mn-lt"/>
                <a:cs typeface="+mn-lt"/>
              </a:rPr>
              <a:t>dụng</a:t>
            </a:r>
            <a:r>
              <a:rPr lang="en-US" sz="1800" dirty="0">
                <a:ea typeface="+mn-lt"/>
                <a:cs typeface="+mn-lt"/>
              </a:rPr>
              <a:t> </a:t>
            </a:r>
            <a:r>
              <a:rPr lang="en-US" sz="1800" dirty="0" err="1">
                <a:ea typeface="+mn-lt"/>
                <a:cs typeface="+mn-lt"/>
              </a:rPr>
              <a:t>Streamlit</a:t>
            </a:r>
            <a:r>
              <a:rPr lang="en-US" sz="1800" dirty="0">
                <a:ea typeface="+mn-lt"/>
                <a:cs typeface="+mn-lt"/>
              </a:rPr>
              <a:t> </a:t>
            </a:r>
            <a:r>
              <a:rPr lang="en-US" sz="1800" dirty="0" err="1">
                <a:ea typeface="+mn-lt"/>
                <a:cs typeface="+mn-lt"/>
              </a:rPr>
              <a:t>hoặc</a:t>
            </a:r>
            <a:r>
              <a:rPr lang="en-US" sz="1800" dirty="0">
                <a:ea typeface="+mn-lt"/>
                <a:cs typeface="+mn-lt"/>
              </a:rPr>
              <a:t> </a:t>
            </a:r>
            <a:r>
              <a:rPr lang="en-US" sz="1800" dirty="0" err="1">
                <a:ea typeface="+mn-lt"/>
                <a:cs typeface="+mn-lt"/>
              </a:rPr>
              <a:t>Gradio</a:t>
            </a:r>
            <a:r>
              <a:rPr lang="en-US" sz="1800" dirty="0">
                <a:ea typeface="+mn-lt"/>
                <a:cs typeface="+mn-lt"/>
              </a:rPr>
              <a:t>).</a:t>
            </a:r>
            <a:endParaRPr lang="en-US" sz="1800" dirty="0"/>
          </a:p>
          <a:p>
            <a:pPr marL="971550" lvl="2" indent="-285750">
              <a:buFont typeface="Arial"/>
            </a:pPr>
            <a:r>
              <a:rPr lang="en-US" sz="1800" dirty="0">
                <a:ea typeface="+mn-lt"/>
                <a:cs typeface="+mn-lt"/>
              </a:rPr>
              <a:t>Cho phép người khác </a:t>
            </a:r>
            <a:r>
              <a:rPr lang="en-US" sz="1800" b="1" dirty="0">
                <a:ea typeface="+mn-lt"/>
                <a:cs typeface="+mn-lt"/>
              </a:rPr>
              <a:t>tương tác trực tiếp</a:t>
            </a:r>
            <a:r>
              <a:rPr lang="en-US" sz="1800" dirty="0">
                <a:ea typeface="+mn-lt"/>
                <a:cs typeface="+mn-lt"/>
              </a:rPr>
              <a:t> với mô hình AI ngay trên trình duyệt mà không cần biết code.</a:t>
            </a:r>
          </a:p>
          <a:p>
            <a:pPr>
              <a:buNone/>
            </a:pPr>
            <a:endParaRPr lang="en-US" sz="1800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AEE54EB-E000-9F00-1968-8CBCD6FD2F7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3384" y="6356349"/>
            <a:ext cx="2743200" cy="365125"/>
          </a:xfrm>
        </p:spPr>
        <p:txBody>
          <a:bodyPr/>
          <a:lstStyle/>
          <a:p>
            <a:fld id="{499E07DD-E7D5-4200-88A6-589608E22EDB}" type="datetime1">
              <a:t>11/28/2025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40A820A-F0B7-3378-3FCF-23F26FAE62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9AEECC-0724-0D2D-821F-CE1B19DBDC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DE196-8A13-4FF7-A07E-102851959EAB}" type="slidenum">
              <a:rPr lang="en-US" dirty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72256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7D7A7C-681D-D0D8-4618-AA46476B0C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807868"/>
            <a:ext cx="3475061" cy="2062594"/>
          </a:xfrm>
        </p:spPr>
        <p:txBody>
          <a:bodyPr/>
          <a:lstStyle/>
          <a:p>
            <a:r>
              <a:rPr lang="en-US" sz="3200" b="1" dirty="0">
                <a:latin typeface="Aptos"/>
              </a:rPr>
              <a:t>Exploratory Data</a:t>
            </a:r>
            <a:br>
              <a:rPr lang="en-US" sz="3200" b="1" dirty="0">
                <a:latin typeface="Aptos"/>
              </a:rPr>
            </a:br>
            <a:r>
              <a:rPr lang="en-US" sz="3200" b="1" dirty="0">
                <a:latin typeface="Aptos"/>
              </a:rPr>
              <a:t>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02023B-C30E-55B0-1381-F79F60ED4A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02629" y="299868"/>
            <a:ext cx="7489371" cy="5559756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en-US" sz="1700" dirty="0" err="1">
                <a:ea typeface="+mn-lt"/>
                <a:cs typeface="+mn-lt"/>
              </a:rPr>
              <a:t>Hiểu</a:t>
            </a:r>
            <a:r>
              <a:rPr lang="en-US" sz="1700" dirty="0">
                <a:ea typeface="+mn-lt"/>
                <a:cs typeface="+mn-lt"/>
              </a:rPr>
              <a:t> </a:t>
            </a:r>
            <a:r>
              <a:rPr lang="en-US" sz="1700" dirty="0" err="1">
                <a:ea typeface="+mn-lt"/>
                <a:cs typeface="+mn-lt"/>
              </a:rPr>
              <a:t>Dữ</a:t>
            </a:r>
            <a:r>
              <a:rPr lang="en-US" sz="1700" dirty="0">
                <a:ea typeface="+mn-lt"/>
                <a:cs typeface="+mn-lt"/>
              </a:rPr>
              <a:t> Liệu (Data Understanding) :</a:t>
            </a:r>
            <a:endParaRPr lang="en-US" sz="1700" dirty="0"/>
          </a:p>
          <a:p>
            <a:r>
              <a:rPr lang="en-US" sz="1700" dirty="0">
                <a:ea typeface="+mn-lt"/>
                <a:cs typeface="+mn-lt"/>
              </a:rPr>
              <a:t>Đây là bước đầu tiên để làm quen dữ liệu, phân loại dữ liệu với mục tiêu là </a:t>
            </a:r>
            <a:r>
              <a:rPr lang="en-US" sz="1700" b="1" dirty="0">
                <a:ea typeface="+mn-lt"/>
                <a:cs typeface="+mn-lt"/>
              </a:rPr>
              <a:t>nắm bắt cấu trúc cơ bản và chất lượng</a:t>
            </a:r>
            <a:r>
              <a:rPr lang="en-US" sz="1700" dirty="0">
                <a:ea typeface="+mn-lt"/>
                <a:cs typeface="+mn-lt"/>
              </a:rPr>
              <a:t> của dữ liệu.</a:t>
            </a:r>
            <a:endParaRPr lang="en-US" sz="1700" dirty="0"/>
          </a:p>
          <a:p>
            <a:r>
              <a:rPr lang="en-US" sz="1700" b="1" dirty="0" err="1">
                <a:ea typeface="+mn-lt"/>
                <a:cs typeface="+mn-lt"/>
              </a:rPr>
              <a:t>Kiểm</a:t>
            </a:r>
            <a:r>
              <a:rPr lang="en-US" sz="1700" b="1" dirty="0">
                <a:ea typeface="+mn-lt"/>
                <a:cs typeface="+mn-lt"/>
              </a:rPr>
              <a:t> </a:t>
            </a:r>
            <a:r>
              <a:rPr lang="en-US" sz="1700" b="1" dirty="0" err="1">
                <a:ea typeface="+mn-lt"/>
                <a:cs typeface="+mn-lt"/>
              </a:rPr>
              <a:t>tra</a:t>
            </a:r>
            <a:r>
              <a:rPr lang="en-US" sz="1700" b="1" dirty="0">
                <a:ea typeface="+mn-lt"/>
                <a:cs typeface="+mn-lt"/>
              </a:rPr>
              <a:t> </a:t>
            </a:r>
            <a:r>
              <a:rPr lang="en-US" sz="1700" b="1" dirty="0" err="1">
                <a:ea typeface="+mn-lt"/>
                <a:cs typeface="+mn-lt"/>
              </a:rPr>
              <a:t>Kích</a:t>
            </a:r>
            <a:r>
              <a:rPr lang="en-US" sz="1700" b="1" dirty="0">
                <a:ea typeface="+mn-lt"/>
                <a:cs typeface="+mn-lt"/>
              </a:rPr>
              <a:t> </a:t>
            </a:r>
            <a:r>
              <a:rPr lang="en-US" sz="1700" b="1" dirty="0" err="1">
                <a:ea typeface="+mn-lt"/>
                <a:cs typeface="+mn-lt"/>
              </a:rPr>
              <a:t>thước</a:t>
            </a:r>
            <a:r>
              <a:rPr lang="en-US" sz="1700" b="1" dirty="0">
                <a:ea typeface="+mn-lt"/>
                <a:cs typeface="+mn-lt"/>
              </a:rPr>
              <a:t> </a:t>
            </a:r>
            <a:r>
              <a:rPr lang="en-US" sz="1700" b="1" dirty="0" err="1">
                <a:ea typeface="+mn-lt"/>
                <a:cs typeface="+mn-lt"/>
              </a:rPr>
              <a:t>dữ</a:t>
            </a:r>
            <a:r>
              <a:rPr lang="en-US" sz="1700" b="1" dirty="0">
                <a:ea typeface="+mn-lt"/>
                <a:cs typeface="+mn-lt"/>
              </a:rPr>
              <a:t> </a:t>
            </a:r>
            <a:r>
              <a:rPr lang="en-US" sz="1700" b="1" dirty="0" err="1">
                <a:ea typeface="+mn-lt"/>
                <a:cs typeface="+mn-lt"/>
              </a:rPr>
              <a:t>liệu</a:t>
            </a:r>
            <a:r>
              <a:rPr lang="en-US" sz="1700" b="1" dirty="0">
                <a:ea typeface="+mn-lt"/>
                <a:cs typeface="+mn-lt"/>
              </a:rPr>
              <a:t> (Shape):</a:t>
            </a:r>
            <a:endParaRPr lang="en-US" sz="1700" dirty="0"/>
          </a:p>
          <a:p>
            <a:pPr lvl="1"/>
            <a:r>
              <a:rPr lang="en-US" sz="1700" dirty="0" err="1">
                <a:ea typeface="+mn-lt"/>
                <a:cs typeface="+mn-lt"/>
              </a:rPr>
              <a:t>Xác</a:t>
            </a:r>
            <a:r>
              <a:rPr lang="en-US" sz="1700" dirty="0">
                <a:ea typeface="+mn-lt"/>
                <a:cs typeface="+mn-lt"/>
              </a:rPr>
              <a:t> </a:t>
            </a:r>
            <a:r>
              <a:rPr lang="en-US" sz="1700" dirty="0" err="1">
                <a:ea typeface="+mn-lt"/>
                <a:cs typeface="+mn-lt"/>
              </a:rPr>
              <a:t>định</a:t>
            </a:r>
            <a:r>
              <a:rPr lang="en-US" sz="1700" dirty="0">
                <a:ea typeface="+mn-lt"/>
                <a:cs typeface="+mn-lt"/>
              </a:rPr>
              <a:t> </a:t>
            </a:r>
            <a:r>
              <a:rPr lang="en-US" sz="1700" dirty="0" err="1">
                <a:ea typeface="+mn-lt"/>
                <a:cs typeface="+mn-lt"/>
              </a:rPr>
              <a:t>số</a:t>
            </a:r>
            <a:r>
              <a:rPr lang="en-US" sz="1700" dirty="0">
                <a:ea typeface="+mn-lt"/>
                <a:cs typeface="+mn-lt"/>
              </a:rPr>
              <a:t> </a:t>
            </a:r>
            <a:r>
              <a:rPr lang="en-US" sz="1700" dirty="0" err="1">
                <a:ea typeface="+mn-lt"/>
                <a:cs typeface="+mn-lt"/>
              </a:rPr>
              <a:t>lượng</a:t>
            </a:r>
            <a:r>
              <a:rPr lang="en-US" sz="1700" dirty="0">
                <a:ea typeface="+mn-lt"/>
                <a:cs typeface="+mn-lt"/>
              </a:rPr>
              <a:t> </a:t>
            </a:r>
            <a:r>
              <a:rPr lang="en-US" sz="1700" dirty="0" err="1">
                <a:ea typeface="+mn-lt"/>
                <a:cs typeface="+mn-lt"/>
              </a:rPr>
              <a:t>dòng</a:t>
            </a:r>
            <a:r>
              <a:rPr lang="en-US" sz="1700" dirty="0">
                <a:ea typeface="+mn-lt"/>
                <a:cs typeface="+mn-lt"/>
              </a:rPr>
              <a:t> (</a:t>
            </a:r>
            <a:r>
              <a:rPr lang="en-US" sz="1700" dirty="0" err="1">
                <a:ea typeface="+mn-lt"/>
                <a:cs typeface="+mn-lt"/>
              </a:rPr>
              <a:t>bản</a:t>
            </a:r>
            <a:r>
              <a:rPr lang="en-US" sz="1700" dirty="0">
                <a:ea typeface="+mn-lt"/>
                <a:cs typeface="+mn-lt"/>
              </a:rPr>
              <a:t> </a:t>
            </a:r>
            <a:r>
              <a:rPr lang="en-US" sz="1700" dirty="0" err="1">
                <a:ea typeface="+mn-lt"/>
                <a:cs typeface="+mn-lt"/>
              </a:rPr>
              <a:t>ghi</a:t>
            </a:r>
            <a:r>
              <a:rPr lang="en-US" sz="1700" dirty="0">
                <a:ea typeface="+mn-lt"/>
                <a:cs typeface="+mn-lt"/>
              </a:rPr>
              <a:t>) </a:t>
            </a:r>
            <a:r>
              <a:rPr lang="en-US" sz="1700" dirty="0" err="1">
                <a:ea typeface="+mn-lt"/>
                <a:cs typeface="+mn-lt"/>
              </a:rPr>
              <a:t>và</a:t>
            </a:r>
            <a:r>
              <a:rPr lang="en-US" sz="1700" dirty="0">
                <a:ea typeface="+mn-lt"/>
                <a:cs typeface="+mn-lt"/>
              </a:rPr>
              <a:t> </a:t>
            </a:r>
            <a:r>
              <a:rPr lang="en-US" sz="1700" dirty="0" err="1">
                <a:ea typeface="+mn-lt"/>
                <a:cs typeface="+mn-lt"/>
              </a:rPr>
              <a:t>cột</a:t>
            </a:r>
            <a:r>
              <a:rPr lang="en-US" sz="1700" dirty="0">
                <a:ea typeface="+mn-lt"/>
                <a:cs typeface="+mn-lt"/>
              </a:rPr>
              <a:t> (</a:t>
            </a:r>
            <a:r>
              <a:rPr lang="en-US" sz="1700" dirty="0" err="1">
                <a:ea typeface="+mn-lt"/>
                <a:cs typeface="+mn-lt"/>
              </a:rPr>
              <a:t>đặc</a:t>
            </a:r>
            <a:r>
              <a:rPr lang="en-US" sz="1700" dirty="0">
                <a:ea typeface="+mn-lt"/>
                <a:cs typeface="+mn-lt"/>
              </a:rPr>
              <a:t> </a:t>
            </a:r>
            <a:r>
              <a:rPr lang="en-US" sz="1700" dirty="0" err="1">
                <a:ea typeface="+mn-lt"/>
                <a:cs typeface="+mn-lt"/>
              </a:rPr>
              <a:t>trưng</a:t>
            </a:r>
            <a:r>
              <a:rPr lang="en-US" sz="1700" dirty="0">
                <a:ea typeface="+mn-lt"/>
                <a:cs typeface="+mn-lt"/>
              </a:rPr>
              <a:t>).</a:t>
            </a:r>
            <a:endParaRPr lang="en-US" sz="1700" dirty="0"/>
          </a:p>
          <a:p>
            <a:pPr lvl="1"/>
            <a:r>
              <a:rPr lang="en-US" sz="1700" dirty="0" err="1">
                <a:ea typeface="+mn-lt"/>
                <a:cs typeface="+mn-lt"/>
              </a:rPr>
              <a:t>Kiểm</a:t>
            </a:r>
            <a:r>
              <a:rPr lang="en-US" sz="1700" dirty="0">
                <a:ea typeface="+mn-lt"/>
                <a:cs typeface="+mn-lt"/>
              </a:rPr>
              <a:t> </a:t>
            </a:r>
            <a:r>
              <a:rPr lang="en-US" sz="1700" dirty="0" err="1">
                <a:ea typeface="+mn-lt"/>
                <a:cs typeface="+mn-lt"/>
              </a:rPr>
              <a:t>tra</a:t>
            </a:r>
            <a:r>
              <a:rPr lang="en-US" sz="1700" dirty="0">
                <a:ea typeface="+mn-lt"/>
                <a:cs typeface="+mn-lt"/>
              </a:rPr>
              <a:t> </a:t>
            </a:r>
            <a:r>
              <a:rPr lang="en-US" sz="1700" dirty="0" err="1">
                <a:ea typeface="+mn-lt"/>
                <a:cs typeface="+mn-lt"/>
              </a:rPr>
              <a:t>xem</a:t>
            </a:r>
            <a:r>
              <a:rPr lang="en-US" sz="1700" dirty="0">
                <a:ea typeface="+mn-lt"/>
                <a:cs typeface="+mn-lt"/>
              </a:rPr>
              <a:t> </a:t>
            </a:r>
            <a:r>
              <a:rPr lang="en-US" sz="1700" dirty="0" err="1">
                <a:ea typeface="+mn-lt"/>
                <a:cs typeface="+mn-lt"/>
              </a:rPr>
              <a:t>dữ</a:t>
            </a:r>
            <a:r>
              <a:rPr lang="en-US" sz="1700" dirty="0">
                <a:ea typeface="+mn-lt"/>
                <a:cs typeface="+mn-lt"/>
              </a:rPr>
              <a:t> </a:t>
            </a:r>
            <a:r>
              <a:rPr lang="en-US" sz="1700" dirty="0" err="1">
                <a:ea typeface="+mn-lt"/>
                <a:cs typeface="+mn-lt"/>
              </a:rPr>
              <a:t>liệu</a:t>
            </a:r>
            <a:r>
              <a:rPr lang="en-US" sz="1700" dirty="0">
                <a:ea typeface="+mn-lt"/>
                <a:cs typeface="+mn-lt"/>
              </a:rPr>
              <a:t> </a:t>
            </a:r>
            <a:r>
              <a:rPr lang="en-US" sz="1700" dirty="0" err="1">
                <a:ea typeface="+mn-lt"/>
                <a:cs typeface="+mn-lt"/>
              </a:rPr>
              <a:t>có</a:t>
            </a:r>
            <a:r>
              <a:rPr lang="en-US" sz="1700" dirty="0">
                <a:ea typeface="+mn-lt"/>
                <a:cs typeface="+mn-lt"/>
              </a:rPr>
              <a:t> </a:t>
            </a:r>
            <a:r>
              <a:rPr lang="en-US" sz="1700" dirty="0" err="1">
                <a:ea typeface="+mn-lt"/>
                <a:cs typeface="+mn-lt"/>
              </a:rPr>
              <a:t>đủ</a:t>
            </a:r>
            <a:r>
              <a:rPr lang="en-US" sz="1700" dirty="0">
                <a:ea typeface="+mn-lt"/>
                <a:cs typeface="+mn-lt"/>
              </a:rPr>
              <a:t> </a:t>
            </a:r>
            <a:r>
              <a:rPr lang="en-US" sz="1700" dirty="0" err="1">
                <a:ea typeface="+mn-lt"/>
                <a:cs typeface="+mn-lt"/>
              </a:rPr>
              <a:t>lớn</a:t>
            </a:r>
            <a:r>
              <a:rPr lang="en-US" sz="1700" dirty="0">
                <a:ea typeface="+mn-lt"/>
                <a:cs typeface="+mn-lt"/>
              </a:rPr>
              <a:t> </a:t>
            </a:r>
            <a:r>
              <a:rPr lang="en-US" sz="1700" dirty="0" err="1">
                <a:ea typeface="+mn-lt"/>
                <a:cs typeface="+mn-lt"/>
              </a:rPr>
              <a:t>để</a:t>
            </a:r>
            <a:r>
              <a:rPr lang="en-US" sz="1700" dirty="0">
                <a:ea typeface="+mn-lt"/>
                <a:cs typeface="+mn-lt"/>
              </a:rPr>
              <a:t> </a:t>
            </a:r>
            <a:r>
              <a:rPr lang="en-US" sz="1700" dirty="0" err="1">
                <a:ea typeface="+mn-lt"/>
                <a:cs typeface="+mn-lt"/>
              </a:rPr>
              <a:t>huấn</a:t>
            </a:r>
            <a:r>
              <a:rPr lang="en-US" sz="1700" dirty="0">
                <a:ea typeface="+mn-lt"/>
                <a:cs typeface="+mn-lt"/>
              </a:rPr>
              <a:t> </a:t>
            </a:r>
            <a:r>
              <a:rPr lang="en-US" sz="1700" dirty="0" err="1">
                <a:ea typeface="+mn-lt"/>
                <a:cs typeface="+mn-lt"/>
              </a:rPr>
              <a:t>luyện</a:t>
            </a:r>
            <a:r>
              <a:rPr lang="en-US" sz="1700" dirty="0">
                <a:ea typeface="+mn-lt"/>
                <a:cs typeface="+mn-lt"/>
              </a:rPr>
              <a:t> </a:t>
            </a:r>
            <a:r>
              <a:rPr lang="en-US" sz="1700" dirty="0" err="1">
                <a:ea typeface="+mn-lt"/>
                <a:cs typeface="+mn-lt"/>
              </a:rPr>
              <a:t>mô</a:t>
            </a:r>
            <a:r>
              <a:rPr lang="en-US" sz="1700" dirty="0">
                <a:ea typeface="+mn-lt"/>
                <a:cs typeface="+mn-lt"/>
              </a:rPr>
              <a:t> </a:t>
            </a:r>
            <a:r>
              <a:rPr lang="en-US" sz="1700" dirty="0" err="1">
                <a:ea typeface="+mn-lt"/>
                <a:cs typeface="+mn-lt"/>
              </a:rPr>
              <a:t>hình</a:t>
            </a:r>
            <a:r>
              <a:rPr lang="en-US" sz="1700" dirty="0">
                <a:ea typeface="+mn-lt"/>
                <a:cs typeface="+mn-lt"/>
              </a:rPr>
              <a:t> </a:t>
            </a:r>
            <a:r>
              <a:rPr lang="en-US" sz="1700" dirty="0" err="1">
                <a:ea typeface="+mn-lt"/>
                <a:cs typeface="+mn-lt"/>
              </a:rPr>
              <a:t>không</a:t>
            </a:r>
            <a:r>
              <a:rPr lang="en-US" sz="1700" dirty="0">
                <a:ea typeface="+mn-lt"/>
                <a:cs typeface="+mn-lt"/>
              </a:rPr>
              <a:t>.</a:t>
            </a:r>
            <a:endParaRPr lang="en-US" sz="1700" dirty="0"/>
          </a:p>
          <a:p>
            <a:r>
              <a:rPr lang="en-US" sz="1700" b="1" dirty="0" err="1">
                <a:ea typeface="+mn-lt"/>
                <a:cs typeface="+mn-lt"/>
              </a:rPr>
              <a:t>Kiểm</a:t>
            </a:r>
            <a:r>
              <a:rPr lang="en-US" sz="1700" b="1" dirty="0">
                <a:ea typeface="+mn-lt"/>
                <a:cs typeface="+mn-lt"/>
              </a:rPr>
              <a:t> </a:t>
            </a:r>
            <a:r>
              <a:rPr lang="en-US" sz="1700" b="1" dirty="0" err="1">
                <a:ea typeface="+mn-lt"/>
                <a:cs typeface="+mn-lt"/>
              </a:rPr>
              <a:t>tra</a:t>
            </a:r>
            <a:r>
              <a:rPr lang="en-US" sz="1700" b="1" dirty="0">
                <a:ea typeface="+mn-lt"/>
                <a:cs typeface="+mn-lt"/>
              </a:rPr>
              <a:t> Định </a:t>
            </a:r>
            <a:r>
              <a:rPr lang="en-US" sz="1700" b="1" dirty="0" err="1">
                <a:ea typeface="+mn-lt"/>
                <a:cs typeface="+mn-lt"/>
              </a:rPr>
              <a:t>dạng</a:t>
            </a:r>
            <a:r>
              <a:rPr lang="en-US" sz="1700" b="1" dirty="0">
                <a:ea typeface="+mn-lt"/>
                <a:cs typeface="+mn-lt"/>
              </a:rPr>
              <a:t> (Data Types):</a:t>
            </a:r>
            <a:endParaRPr lang="en-US" sz="1700" dirty="0"/>
          </a:p>
          <a:p>
            <a:pPr lvl="1"/>
            <a:r>
              <a:rPr lang="en-US" sz="1700" dirty="0" err="1">
                <a:ea typeface="+mn-lt"/>
                <a:cs typeface="+mn-lt"/>
              </a:rPr>
              <a:t>Xác</a:t>
            </a:r>
            <a:r>
              <a:rPr lang="en-US" sz="1700" dirty="0">
                <a:ea typeface="+mn-lt"/>
                <a:cs typeface="+mn-lt"/>
              </a:rPr>
              <a:t> </a:t>
            </a:r>
            <a:r>
              <a:rPr lang="en-US" sz="1700" dirty="0" err="1">
                <a:ea typeface="+mn-lt"/>
                <a:cs typeface="+mn-lt"/>
              </a:rPr>
              <a:t>định</a:t>
            </a:r>
            <a:r>
              <a:rPr lang="en-US" sz="1700" dirty="0">
                <a:ea typeface="+mn-lt"/>
                <a:cs typeface="+mn-lt"/>
              </a:rPr>
              <a:t> </a:t>
            </a:r>
            <a:r>
              <a:rPr lang="en-US" sz="1700" dirty="0" err="1">
                <a:ea typeface="+mn-lt"/>
                <a:cs typeface="+mn-lt"/>
              </a:rPr>
              <a:t>cột</a:t>
            </a:r>
            <a:r>
              <a:rPr lang="en-US" sz="1700" dirty="0">
                <a:ea typeface="+mn-lt"/>
                <a:cs typeface="+mn-lt"/>
              </a:rPr>
              <a:t> </a:t>
            </a:r>
            <a:r>
              <a:rPr lang="en-US" sz="1700" dirty="0" err="1">
                <a:ea typeface="+mn-lt"/>
                <a:cs typeface="+mn-lt"/>
              </a:rPr>
              <a:t>nào</a:t>
            </a:r>
            <a:r>
              <a:rPr lang="en-US" sz="1700" dirty="0">
                <a:ea typeface="+mn-lt"/>
                <a:cs typeface="+mn-lt"/>
              </a:rPr>
              <a:t> </a:t>
            </a:r>
            <a:r>
              <a:rPr lang="en-US" sz="1700" dirty="0" err="1">
                <a:ea typeface="+mn-lt"/>
                <a:cs typeface="+mn-lt"/>
              </a:rPr>
              <a:t>là</a:t>
            </a:r>
            <a:r>
              <a:rPr lang="en-US" sz="1700" dirty="0">
                <a:ea typeface="+mn-lt"/>
                <a:cs typeface="+mn-lt"/>
              </a:rPr>
              <a:t> </a:t>
            </a:r>
            <a:r>
              <a:rPr lang="en-US" sz="1700" dirty="0" err="1">
                <a:ea typeface="+mn-lt"/>
                <a:cs typeface="+mn-lt"/>
              </a:rPr>
              <a:t>số</a:t>
            </a:r>
            <a:r>
              <a:rPr lang="en-US" sz="1700" dirty="0">
                <a:ea typeface="+mn-lt"/>
                <a:cs typeface="+mn-lt"/>
              </a:rPr>
              <a:t>, </a:t>
            </a:r>
            <a:r>
              <a:rPr lang="en-US" sz="1700" dirty="0" err="1">
                <a:ea typeface="+mn-lt"/>
                <a:cs typeface="+mn-lt"/>
              </a:rPr>
              <a:t>cột</a:t>
            </a:r>
            <a:r>
              <a:rPr lang="en-US" sz="1700" dirty="0">
                <a:ea typeface="+mn-lt"/>
                <a:cs typeface="+mn-lt"/>
              </a:rPr>
              <a:t> </a:t>
            </a:r>
            <a:r>
              <a:rPr lang="en-US" sz="1700" dirty="0" err="1">
                <a:ea typeface="+mn-lt"/>
                <a:cs typeface="+mn-lt"/>
              </a:rPr>
              <a:t>nào</a:t>
            </a:r>
            <a:r>
              <a:rPr lang="en-US" sz="1700" dirty="0">
                <a:ea typeface="+mn-lt"/>
                <a:cs typeface="+mn-lt"/>
              </a:rPr>
              <a:t> </a:t>
            </a:r>
            <a:r>
              <a:rPr lang="en-US" sz="1700" dirty="0" err="1">
                <a:ea typeface="+mn-lt"/>
                <a:cs typeface="+mn-lt"/>
              </a:rPr>
              <a:t>là</a:t>
            </a:r>
            <a:r>
              <a:rPr lang="en-US" sz="1700" dirty="0">
                <a:ea typeface="+mn-lt"/>
                <a:cs typeface="+mn-lt"/>
              </a:rPr>
              <a:t> </a:t>
            </a:r>
            <a:r>
              <a:rPr lang="en-US" sz="1700" dirty="0" err="1">
                <a:ea typeface="+mn-lt"/>
                <a:cs typeface="+mn-lt"/>
              </a:rPr>
              <a:t>phân</a:t>
            </a:r>
            <a:r>
              <a:rPr lang="en-US" sz="1700" dirty="0">
                <a:ea typeface="+mn-lt"/>
                <a:cs typeface="+mn-lt"/>
              </a:rPr>
              <a:t> </a:t>
            </a:r>
            <a:r>
              <a:rPr lang="en-US" sz="1700" dirty="0" err="1">
                <a:ea typeface="+mn-lt"/>
                <a:cs typeface="+mn-lt"/>
              </a:rPr>
              <a:t>loại</a:t>
            </a:r>
            <a:r>
              <a:rPr lang="en-US" sz="1700" dirty="0">
                <a:ea typeface="+mn-lt"/>
                <a:cs typeface="+mn-lt"/>
              </a:rPr>
              <a:t>.</a:t>
            </a:r>
            <a:endParaRPr lang="en-US" sz="1700" dirty="0"/>
          </a:p>
          <a:p>
            <a:pPr lvl="1"/>
            <a:r>
              <a:rPr lang="en-US" sz="1700" dirty="0" err="1">
                <a:ea typeface="+mn-lt"/>
                <a:cs typeface="+mn-lt"/>
              </a:rPr>
              <a:t>Kiểm</a:t>
            </a:r>
            <a:r>
              <a:rPr lang="en-US" sz="1700" dirty="0">
                <a:ea typeface="+mn-lt"/>
                <a:cs typeface="+mn-lt"/>
              </a:rPr>
              <a:t> </a:t>
            </a:r>
            <a:r>
              <a:rPr lang="en-US" sz="1700" dirty="0" err="1">
                <a:ea typeface="+mn-lt"/>
                <a:cs typeface="+mn-lt"/>
              </a:rPr>
              <a:t>tra</a:t>
            </a:r>
            <a:r>
              <a:rPr lang="en-US" sz="1700" dirty="0">
                <a:ea typeface="+mn-lt"/>
                <a:cs typeface="+mn-lt"/>
              </a:rPr>
              <a:t> </a:t>
            </a:r>
            <a:r>
              <a:rPr lang="en-US" sz="1700" dirty="0" err="1">
                <a:ea typeface="+mn-lt"/>
                <a:cs typeface="+mn-lt"/>
              </a:rPr>
              <a:t>định</a:t>
            </a:r>
            <a:r>
              <a:rPr lang="en-US" sz="1700" dirty="0">
                <a:ea typeface="+mn-lt"/>
                <a:cs typeface="+mn-lt"/>
              </a:rPr>
              <a:t> </a:t>
            </a:r>
            <a:r>
              <a:rPr lang="en-US" sz="1700" dirty="0" err="1">
                <a:ea typeface="+mn-lt"/>
                <a:cs typeface="+mn-lt"/>
              </a:rPr>
              <a:t>dạng</a:t>
            </a:r>
            <a:r>
              <a:rPr lang="en-US" sz="1700" dirty="0">
                <a:ea typeface="+mn-lt"/>
                <a:cs typeface="+mn-lt"/>
              </a:rPr>
              <a:t> </a:t>
            </a:r>
            <a:r>
              <a:rPr lang="en-US" sz="1700" dirty="0" err="1">
                <a:ea typeface="+mn-lt"/>
                <a:cs typeface="+mn-lt"/>
              </a:rPr>
              <a:t>có</a:t>
            </a:r>
            <a:r>
              <a:rPr lang="en-US" sz="1700" dirty="0">
                <a:ea typeface="+mn-lt"/>
                <a:cs typeface="+mn-lt"/>
              </a:rPr>
              <a:t> </a:t>
            </a:r>
            <a:r>
              <a:rPr lang="en-US" sz="1700" dirty="0" err="1">
                <a:ea typeface="+mn-lt"/>
                <a:cs typeface="+mn-lt"/>
              </a:rPr>
              <a:t>bị</a:t>
            </a:r>
            <a:r>
              <a:rPr lang="en-US" sz="1700" dirty="0">
                <a:ea typeface="+mn-lt"/>
                <a:cs typeface="+mn-lt"/>
              </a:rPr>
              <a:t> </a:t>
            </a:r>
            <a:r>
              <a:rPr lang="en-US" sz="1700" dirty="0" err="1">
                <a:ea typeface="+mn-lt"/>
                <a:cs typeface="+mn-lt"/>
              </a:rPr>
              <a:t>sai</a:t>
            </a:r>
            <a:r>
              <a:rPr lang="en-US" sz="1700" dirty="0">
                <a:ea typeface="+mn-lt"/>
                <a:cs typeface="+mn-lt"/>
              </a:rPr>
              <a:t> </a:t>
            </a:r>
            <a:r>
              <a:rPr lang="en-US" sz="1700" dirty="0" err="1">
                <a:ea typeface="+mn-lt"/>
                <a:cs typeface="+mn-lt"/>
              </a:rPr>
              <a:t>không</a:t>
            </a:r>
            <a:r>
              <a:rPr lang="en-US" sz="1700" dirty="0">
                <a:ea typeface="+mn-lt"/>
                <a:cs typeface="+mn-lt"/>
              </a:rPr>
              <a:t>?</a:t>
            </a:r>
            <a:endParaRPr lang="en-US" sz="1700" dirty="0"/>
          </a:p>
          <a:p>
            <a:r>
              <a:rPr lang="en-US" sz="1700" b="1" dirty="0" err="1">
                <a:ea typeface="+mn-lt"/>
                <a:cs typeface="+mn-lt"/>
              </a:rPr>
              <a:t>Kiểm</a:t>
            </a:r>
            <a:r>
              <a:rPr lang="en-US" sz="1700" b="1" dirty="0">
                <a:ea typeface="+mn-lt"/>
                <a:cs typeface="+mn-lt"/>
              </a:rPr>
              <a:t> </a:t>
            </a:r>
            <a:r>
              <a:rPr lang="en-US" sz="1700" b="1" dirty="0" err="1">
                <a:ea typeface="+mn-lt"/>
                <a:cs typeface="+mn-lt"/>
              </a:rPr>
              <a:t>tra</a:t>
            </a:r>
            <a:r>
              <a:rPr lang="en-US" sz="1700" b="1" dirty="0">
                <a:ea typeface="+mn-lt"/>
                <a:cs typeface="+mn-lt"/>
              </a:rPr>
              <a:t> </a:t>
            </a:r>
            <a:r>
              <a:rPr lang="en-US" sz="1700" b="1" dirty="0" err="1">
                <a:ea typeface="+mn-lt"/>
                <a:cs typeface="+mn-lt"/>
              </a:rPr>
              <a:t>Chất</a:t>
            </a:r>
            <a:r>
              <a:rPr lang="en-US" sz="1700" b="1" dirty="0">
                <a:ea typeface="+mn-lt"/>
                <a:cs typeface="+mn-lt"/>
              </a:rPr>
              <a:t> </a:t>
            </a:r>
            <a:r>
              <a:rPr lang="en-US" sz="1700" b="1" dirty="0" err="1">
                <a:ea typeface="+mn-lt"/>
                <a:cs typeface="+mn-lt"/>
              </a:rPr>
              <a:t>lượng</a:t>
            </a:r>
            <a:r>
              <a:rPr lang="en-US" sz="1700" b="1" dirty="0">
                <a:ea typeface="+mn-lt"/>
                <a:cs typeface="+mn-lt"/>
              </a:rPr>
              <a:t> </a:t>
            </a:r>
            <a:r>
              <a:rPr lang="en-US" sz="1700" b="1" dirty="0" err="1">
                <a:ea typeface="+mn-lt"/>
                <a:cs typeface="+mn-lt"/>
              </a:rPr>
              <a:t>dữ</a:t>
            </a:r>
            <a:r>
              <a:rPr lang="en-US" sz="1700" b="1" dirty="0">
                <a:ea typeface="+mn-lt"/>
                <a:cs typeface="+mn-lt"/>
              </a:rPr>
              <a:t> </a:t>
            </a:r>
            <a:r>
              <a:rPr lang="en-US" sz="1700" b="1" dirty="0" err="1">
                <a:ea typeface="+mn-lt"/>
                <a:cs typeface="+mn-lt"/>
              </a:rPr>
              <a:t>liệu</a:t>
            </a:r>
            <a:r>
              <a:rPr lang="en-US" sz="1700" b="1" dirty="0">
                <a:ea typeface="+mn-lt"/>
                <a:cs typeface="+mn-lt"/>
              </a:rPr>
              <a:t> (Data Quality):</a:t>
            </a:r>
            <a:endParaRPr lang="en-US" sz="1700" dirty="0"/>
          </a:p>
          <a:p>
            <a:pPr lvl="1"/>
            <a:r>
              <a:rPr lang="en-US" sz="1700" b="1" dirty="0">
                <a:ea typeface="+mn-lt"/>
                <a:cs typeface="+mn-lt"/>
              </a:rPr>
              <a:t>Giá trị bị thiếu (Missing Values):</a:t>
            </a:r>
            <a:r>
              <a:rPr lang="en-US" sz="1700" dirty="0">
                <a:ea typeface="+mn-lt"/>
                <a:cs typeface="+mn-lt"/>
              </a:rPr>
              <a:t> Kiểm tra có bao nhiêu ô trống và chúng nằm ở cột nào.</a:t>
            </a:r>
            <a:endParaRPr lang="en-US" sz="1700" dirty="0"/>
          </a:p>
          <a:p>
            <a:pPr lvl="1"/>
            <a:r>
              <a:rPr lang="en-US" sz="1700" b="1" dirty="0">
                <a:ea typeface="+mn-lt"/>
                <a:cs typeface="+mn-lt"/>
              </a:rPr>
              <a:t>Dữ liệu trùng lặp (Duplicates):</a:t>
            </a:r>
            <a:r>
              <a:rPr lang="en-US" sz="1700" dirty="0">
                <a:ea typeface="+mn-lt"/>
                <a:cs typeface="+mn-lt"/>
              </a:rPr>
              <a:t> Kiểm tra có các dòng nào bị lặp lại hoàn toàn không?</a:t>
            </a:r>
            <a:endParaRPr lang="en-US" sz="1700" dirty="0"/>
          </a:p>
          <a:p>
            <a:r>
              <a:rPr lang="en-US" sz="1700" b="1" dirty="0">
                <a:ea typeface="+mn-lt"/>
                <a:cs typeface="+mn-lt"/>
              </a:rPr>
              <a:t>Mục tiêu của bước này:</a:t>
            </a:r>
            <a:r>
              <a:rPr lang="en-US" sz="1700" dirty="0">
                <a:ea typeface="+mn-lt"/>
                <a:cs typeface="+mn-lt"/>
              </a:rPr>
              <a:t> Đảm bảo dữ liệu "</a:t>
            </a:r>
            <a:r>
              <a:rPr lang="en-US" sz="1700" b="1" dirty="0">
                <a:ea typeface="+mn-lt"/>
                <a:cs typeface="+mn-lt"/>
              </a:rPr>
              <a:t>sạch</a:t>
            </a:r>
            <a:r>
              <a:rPr lang="en-US" sz="1700" dirty="0">
                <a:ea typeface="+mn-lt"/>
                <a:cs typeface="+mn-lt"/>
              </a:rPr>
              <a:t>" và </a:t>
            </a:r>
            <a:r>
              <a:rPr lang="en-US" sz="1700" b="1" dirty="0">
                <a:ea typeface="+mn-lt"/>
                <a:cs typeface="+mn-lt"/>
              </a:rPr>
              <a:t>đúng định dạng</a:t>
            </a:r>
            <a:r>
              <a:rPr lang="en-US" sz="1700" dirty="0">
                <a:ea typeface="+mn-lt"/>
                <a:cs typeface="+mn-lt"/>
              </a:rPr>
              <a:t> trước khi đi sâu vào phân tích.</a:t>
            </a:r>
            <a:r>
              <a:rPr lang="en-US" sz="1700" dirty="0"/>
              <a:t/>
            </a:r>
            <a:br>
              <a:rPr lang="en-US" sz="1700" dirty="0"/>
            </a:br>
            <a:endParaRPr lang="en-US" sz="1700" dirty="0"/>
          </a:p>
          <a:p>
            <a:endParaRPr lang="en-US" sz="1800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9B3975AC-515C-6FBC-0AF8-62553A013FA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1631261"/>
            <a:ext cx="4005147" cy="3409466"/>
          </a:xfrm>
        </p:spPr>
        <p:txBody>
          <a:bodyPr/>
          <a:lstStyle/>
          <a:p>
            <a:pPr marL="285750" indent="-285750">
              <a:buFont typeface="Arial,Sans-Serif"/>
              <a:buChar char="•"/>
            </a:pPr>
            <a:r>
              <a:rPr lang="en-US" sz="2000" b="1" dirty="0" err="1"/>
              <a:t>Khái</a:t>
            </a:r>
            <a:r>
              <a:rPr lang="en-US" sz="2000" b="1" dirty="0"/>
              <a:t> </a:t>
            </a:r>
            <a:r>
              <a:rPr lang="en-US" sz="2000" b="1" dirty="0" err="1"/>
              <a:t>niệm</a:t>
            </a:r>
            <a:r>
              <a:rPr lang="en-US" sz="2000" b="1" dirty="0"/>
              <a:t>:</a:t>
            </a:r>
            <a:r>
              <a:rPr lang="en-US" sz="2000" dirty="0"/>
              <a:t> </a:t>
            </a:r>
            <a:r>
              <a:rPr lang="en-US" sz="2000" dirty="0" err="1"/>
              <a:t>Là</a:t>
            </a:r>
            <a:r>
              <a:rPr lang="en-US" sz="2000" dirty="0"/>
              <a:t> </a:t>
            </a:r>
            <a:r>
              <a:rPr lang="en-US" sz="2000" dirty="0" err="1"/>
              <a:t>bước</a:t>
            </a:r>
            <a:r>
              <a:rPr lang="en-US" sz="2000" dirty="0"/>
              <a:t> </a:t>
            </a:r>
            <a:r>
              <a:rPr lang="en-US" sz="2000" dirty="0" err="1"/>
              <a:t>quan</a:t>
            </a:r>
            <a:r>
              <a:rPr lang="en-US" sz="2000" dirty="0"/>
              <a:t> </a:t>
            </a:r>
            <a:r>
              <a:rPr lang="en-US" sz="2000" dirty="0" err="1"/>
              <a:t>trọng</a:t>
            </a:r>
            <a:r>
              <a:rPr lang="en-US" sz="2000" dirty="0"/>
              <a:t> </a:t>
            </a:r>
            <a:r>
              <a:rPr lang="en-US" sz="2000" dirty="0" err="1"/>
              <a:t>nhất</a:t>
            </a:r>
            <a:r>
              <a:rPr lang="en-US" sz="2000" dirty="0"/>
              <a:t> </a:t>
            </a:r>
            <a:r>
              <a:rPr lang="en-US" sz="2000" b="1" dirty="0" err="1"/>
              <a:t>trước</a:t>
            </a:r>
            <a:r>
              <a:rPr lang="en-US" sz="2000" b="1" dirty="0"/>
              <a:t> </a:t>
            </a:r>
            <a:r>
              <a:rPr lang="en-US" sz="2000" b="1" dirty="0" err="1"/>
              <a:t>khi</a:t>
            </a:r>
            <a:r>
              <a:rPr lang="en-US" sz="2000" b="1" dirty="0"/>
              <a:t> </a:t>
            </a:r>
            <a:r>
              <a:rPr lang="en-US" sz="2000" b="1" dirty="0" err="1"/>
              <a:t>xây</a:t>
            </a:r>
            <a:r>
              <a:rPr lang="en-US" sz="2000" b="1" dirty="0"/>
              <a:t> </a:t>
            </a:r>
            <a:r>
              <a:rPr lang="en-US" sz="2000" b="1" dirty="0" err="1"/>
              <a:t>dựng</a:t>
            </a:r>
            <a:r>
              <a:rPr lang="en-US" sz="2000" b="1" dirty="0"/>
              <a:t> </a:t>
            </a:r>
            <a:r>
              <a:rPr lang="en-US" sz="2000" b="1" dirty="0" err="1"/>
              <a:t>mô</a:t>
            </a:r>
            <a:r>
              <a:rPr lang="en-US" sz="2000" b="1" dirty="0"/>
              <a:t> </a:t>
            </a:r>
            <a:r>
              <a:rPr lang="en-US" sz="2000" b="1" dirty="0" err="1"/>
              <a:t>hình</a:t>
            </a:r>
            <a:r>
              <a:rPr lang="en-US" sz="2000" dirty="0"/>
              <a:t> Machine Learning.</a:t>
            </a:r>
            <a:endParaRPr lang="en-US" sz="2000" dirty="0">
              <a:solidFill>
                <a:srgbClr val="000000"/>
              </a:solidFill>
            </a:endParaRPr>
          </a:p>
          <a:p>
            <a:pPr marL="285750" indent="-285750">
              <a:buFont typeface="Arial,Sans-Serif"/>
              <a:buChar char="•"/>
            </a:pPr>
            <a:r>
              <a:rPr lang="en-US" sz="2000" b="1" dirty="0" err="1"/>
              <a:t>Mục</a:t>
            </a:r>
            <a:r>
              <a:rPr lang="en-US" sz="2000" b="1" dirty="0"/>
              <a:t> </a:t>
            </a:r>
            <a:r>
              <a:rPr lang="en-US" sz="2000" b="1" dirty="0" err="1"/>
              <a:t>tiêu</a:t>
            </a:r>
            <a:r>
              <a:rPr lang="en-US" sz="2000" b="1" dirty="0"/>
              <a:t>:</a:t>
            </a:r>
            <a:r>
              <a:rPr lang="en-US" sz="2000" dirty="0"/>
              <a:t> </a:t>
            </a:r>
            <a:r>
              <a:rPr lang="en-US" sz="2000" dirty="0" err="1"/>
              <a:t>Giống</a:t>
            </a:r>
            <a:r>
              <a:rPr lang="en-US" sz="2000" dirty="0"/>
              <a:t> </a:t>
            </a:r>
            <a:r>
              <a:rPr lang="en-US" sz="2000" dirty="0" err="1"/>
              <a:t>như</a:t>
            </a:r>
            <a:r>
              <a:rPr lang="en-US" sz="2000" dirty="0"/>
              <a:t> "</a:t>
            </a:r>
            <a:r>
              <a:rPr lang="en-US" sz="2000" dirty="0" err="1"/>
              <a:t>khám</a:t>
            </a:r>
            <a:r>
              <a:rPr lang="en-US" sz="2000" dirty="0"/>
              <a:t> </a:t>
            </a:r>
            <a:r>
              <a:rPr lang="en-US" sz="2000" dirty="0" err="1"/>
              <a:t>sức</a:t>
            </a:r>
            <a:r>
              <a:rPr lang="en-US" sz="2000" dirty="0"/>
              <a:t> </a:t>
            </a:r>
            <a:r>
              <a:rPr lang="en-US" sz="2000" dirty="0" err="1"/>
              <a:t>khỏe</a:t>
            </a:r>
            <a:r>
              <a:rPr lang="en-US" sz="2000" dirty="0"/>
              <a:t> </a:t>
            </a:r>
            <a:r>
              <a:rPr lang="en-US" sz="2000" dirty="0" err="1"/>
              <a:t>tổng</a:t>
            </a:r>
            <a:r>
              <a:rPr lang="en-US" sz="2000" dirty="0"/>
              <a:t> </a:t>
            </a:r>
            <a:r>
              <a:rPr lang="en-US" sz="2000" dirty="0" err="1"/>
              <a:t>quát</a:t>
            </a:r>
            <a:r>
              <a:rPr lang="en-US" sz="2000" dirty="0"/>
              <a:t>" </a:t>
            </a:r>
            <a:r>
              <a:rPr lang="en-US" sz="2000" dirty="0" err="1"/>
              <a:t>cho</a:t>
            </a:r>
            <a:r>
              <a:rPr lang="en-US" sz="2000" dirty="0"/>
              <a:t> </a:t>
            </a:r>
            <a:r>
              <a:rPr lang="en-US" sz="2000" dirty="0" err="1"/>
              <a:t>dữ</a:t>
            </a:r>
            <a:r>
              <a:rPr lang="en-US" sz="2000" dirty="0"/>
              <a:t> </a:t>
            </a:r>
            <a:r>
              <a:rPr lang="en-US" sz="2000" dirty="0" err="1"/>
              <a:t>liệu</a:t>
            </a:r>
            <a:r>
              <a:rPr lang="en-US" sz="2000" dirty="0"/>
              <a:t> </a:t>
            </a:r>
            <a:r>
              <a:rPr lang="en-US" sz="2000" dirty="0" err="1"/>
              <a:t>để</a:t>
            </a:r>
            <a:r>
              <a:rPr lang="en-US" sz="2000" dirty="0"/>
              <a:t> "</a:t>
            </a:r>
            <a:r>
              <a:rPr lang="en-US" sz="2000" dirty="0" err="1"/>
              <a:t>bắt</a:t>
            </a:r>
            <a:r>
              <a:rPr lang="en-US" sz="2000" dirty="0"/>
              <a:t> </a:t>
            </a:r>
            <a:r>
              <a:rPr lang="en-US" sz="2000" dirty="0" err="1"/>
              <a:t>bệnh</a:t>
            </a:r>
            <a:r>
              <a:rPr lang="en-US" sz="2000" dirty="0"/>
              <a:t>" </a:t>
            </a:r>
            <a:r>
              <a:rPr lang="en-US" sz="2000" dirty="0" err="1"/>
              <a:t>và</a:t>
            </a:r>
            <a:r>
              <a:rPr lang="en-US" sz="2000" dirty="0"/>
              <a:t> </a:t>
            </a:r>
            <a:r>
              <a:rPr lang="en-US" sz="2000" dirty="0" err="1"/>
              <a:t>hiểu</a:t>
            </a:r>
            <a:r>
              <a:rPr lang="en-US" sz="2000" dirty="0"/>
              <a:t> </a:t>
            </a:r>
            <a:r>
              <a:rPr lang="en-US" sz="2000" dirty="0" err="1"/>
              <a:t>rõ</a:t>
            </a:r>
            <a:r>
              <a:rPr lang="en-US" sz="2000" dirty="0"/>
              <a:t> </a:t>
            </a:r>
            <a:r>
              <a:rPr lang="en-US" sz="2000" dirty="0" err="1"/>
              <a:t>thể</a:t>
            </a:r>
            <a:r>
              <a:rPr lang="en-US" sz="2000" dirty="0"/>
              <a:t> </a:t>
            </a:r>
            <a:r>
              <a:rPr lang="en-US" sz="2000" dirty="0" err="1"/>
              <a:t>trạng</a:t>
            </a:r>
            <a:r>
              <a:rPr lang="en-US" sz="2000" dirty="0"/>
              <a:t> </a:t>
            </a:r>
            <a:r>
              <a:rPr lang="en-US" sz="2000" dirty="0" err="1"/>
              <a:t>của</a:t>
            </a:r>
            <a:r>
              <a:rPr lang="en-US" sz="2000" dirty="0"/>
              <a:t> </a:t>
            </a:r>
            <a:r>
              <a:rPr lang="en-US" sz="2000" dirty="0" err="1"/>
              <a:t>nó</a:t>
            </a:r>
            <a:r>
              <a:rPr lang="en-US" sz="2000" dirty="0"/>
              <a:t>.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1C9CDF-9EFA-78FD-74D3-81DA929C21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46FB69-2343-4D94-A9F0-F45FEF74DFF3}" type="datetime1">
              <a:t>11/28/2025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F8224A-3A32-1CEB-9915-74F2662C4B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4C3083-C393-2D15-31E0-42F29142AD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DE196-8A13-4FF7-A07E-102851959EAB}" type="slidenum">
              <a:rPr lang="en-US" dirty="0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23624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89CF90-6495-F48E-1637-66F3533AAD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B1D02B-7F6E-151C-9D83-7A4B39B508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807868"/>
            <a:ext cx="3475061" cy="2062594"/>
          </a:xfrm>
        </p:spPr>
        <p:txBody>
          <a:bodyPr/>
          <a:lstStyle/>
          <a:p>
            <a:r>
              <a:rPr lang="en-US" sz="3200" b="1" dirty="0">
                <a:latin typeface="Aptos"/>
              </a:rPr>
              <a:t>Exploratory Data</a:t>
            </a:r>
            <a:br>
              <a:rPr lang="en-US" sz="3200" b="1" dirty="0">
                <a:latin typeface="Aptos"/>
              </a:rPr>
            </a:br>
            <a:r>
              <a:rPr lang="en-US" sz="3200" b="1" dirty="0">
                <a:latin typeface="Aptos"/>
              </a:rPr>
              <a:t>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DD7889-53D3-035A-A841-8904215117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77500" y="303848"/>
            <a:ext cx="7013102" cy="6064292"/>
          </a:xfrm>
        </p:spPr>
        <p:txBody>
          <a:bodyPr vert="horz" lIns="91440" tIns="45720" rIns="91440" bIns="45720" rtlCol="0" anchor="t">
            <a:noAutofit/>
          </a:bodyPr>
          <a:lstStyle/>
          <a:p>
            <a:pPr>
              <a:buNone/>
            </a:pPr>
            <a:r>
              <a:rPr lang="en-US" sz="1800" dirty="0">
                <a:ea typeface="+mn-lt"/>
                <a:cs typeface="+mn-lt"/>
              </a:rPr>
              <a:t>Phân Tích Dữ Liệu (Data Analysis):</a:t>
            </a:r>
            <a:endParaRPr lang="en-US" sz="1800" dirty="0"/>
          </a:p>
          <a:p>
            <a:pPr marL="285750" indent="-285750">
              <a:buFont typeface="Calibri" panose="020B0604020202020204" pitchFamily="34" charset="0"/>
              <a:buChar char="-"/>
            </a:pPr>
            <a:r>
              <a:rPr lang="en-US" sz="1800" dirty="0">
                <a:ea typeface="+mn-lt"/>
                <a:cs typeface="+mn-lt"/>
              </a:rPr>
              <a:t>Sau khi đã làm sạch và hiểu cấu trúc, bước này đi sâu vào các con số thống kê để tìm ra quy luật. Thường sử dụng </a:t>
            </a:r>
            <a:r>
              <a:rPr lang="en-US" sz="1800" b="1" dirty="0">
                <a:ea typeface="+mn-lt"/>
                <a:cs typeface="+mn-lt"/>
              </a:rPr>
              <a:t>Thống kê mô tả (Descriptive Statistics)</a:t>
            </a:r>
            <a:r>
              <a:rPr lang="en-US" sz="1800" dirty="0">
                <a:ea typeface="+mn-lt"/>
                <a:cs typeface="+mn-lt"/>
              </a:rPr>
              <a:t>.</a:t>
            </a:r>
            <a:endParaRPr lang="en-US" sz="1800" dirty="0"/>
          </a:p>
          <a:p>
            <a:pPr>
              <a:buFont typeface="Calibri"/>
              <a:buChar char="-"/>
            </a:pPr>
            <a:r>
              <a:rPr lang="en-US" sz="1800" b="1" dirty="0">
                <a:ea typeface="+mn-lt"/>
                <a:cs typeface="+mn-lt"/>
              </a:rPr>
              <a:t>Phân tích đơn biến (Univariate Analysis):</a:t>
            </a:r>
            <a:r>
              <a:rPr lang="en-US" sz="1800" dirty="0">
                <a:ea typeface="+mn-lt"/>
                <a:cs typeface="+mn-lt"/>
              </a:rPr>
              <a:t> Xem xét từng biến một cách </a:t>
            </a:r>
            <a:r>
              <a:rPr lang="en-US" sz="1800" b="1" dirty="0">
                <a:ea typeface="+mn-lt"/>
                <a:cs typeface="+mn-lt"/>
              </a:rPr>
              <a:t>độc lập</a:t>
            </a:r>
            <a:r>
              <a:rPr lang="en-US" sz="1800" dirty="0">
                <a:ea typeface="+mn-lt"/>
                <a:cs typeface="+mn-lt"/>
              </a:rPr>
              <a:t>.</a:t>
            </a:r>
            <a:endParaRPr lang="en-US" sz="1800" dirty="0"/>
          </a:p>
          <a:p>
            <a:pPr marL="742950" lvl="1" indent="-285750">
              <a:buFont typeface="Arial"/>
              <a:buChar char="•"/>
            </a:pPr>
            <a:r>
              <a:rPr lang="en-US" sz="1800" b="1" dirty="0">
                <a:ea typeface="+mn-lt"/>
                <a:cs typeface="+mn-lt"/>
              </a:rPr>
              <a:t>Với biến số:</a:t>
            </a:r>
            <a:r>
              <a:rPr lang="en-US" sz="1800" dirty="0">
                <a:ea typeface="+mn-lt"/>
                <a:cs typeface="+mn-lt"/>
              </a:rPr>
              <a:t> Tính toán </a:t>
            </a:r>
            <a:r>
              <a:rPr lang="en-US" sz="1800" b="1" dirty="0">
                <a:ea typeface="+mn-lt"/>
                <a:cs typeface="+mn-lt"/>
              </a:rPr>
              <a:t>Trung bình (Mean), Trung vị (Median), Độ lệch chuẩn (Standard Deviation), Min, Max</a:t>
            </a:r>
            <a:r>
              <a:rPr lang="en-US" sz="1800" dirty="0">
                <a:ea typeface="+mn-lt"/>
                <a:cs typeface="+mn-lt"/>
              </a:rPr>
              <a:t>.</a:t>
            </a:r>
            <a:endParaRPr lang="en-US" sz="1800" dirty="0"/>
          </a:p>
          <a:p>
            <a:pPr marL="742950" lvl="1" indent="-285750">
              <a:buFont typeface="Arial"/>
              <a:buChar char="•"/>
            </a:pPr>
            <a:r>
              <a:rPr lang="en-US" sz="1800" b="1" dirty="0">
                <a:ea typeface="+mn-lt"/>
                <a:cs typeface="+mn-lt"/>
              </a:rPr>
              <a:t>Với biến phân loại:</a:t>
            </a:r>
            <a:r>
              <a:rPr lang="en-US" sz="1800" dirty="0">
                <a:ea typeface="+mn-lt"/>
                <a:cs typeface="+mn-lt"/>
              </a:rPr>
              <a:t> Đếm tần suất xuất hiện của từng nhóm.</a:t>
            </a:r>
            <a:endParaRPr lang="en-US" sz="1800" dirty="0"/>
          </a:p>
          <a:p>
            <a:pPr>
              <a:buFont typeface="Calibri"/>
              <a:buChar char="-"/>
            </a:pPr>
            <a:r>
              <a:rPr lang="en-US" sz="1800" b="1" dirty="0">
                <a:ea typeface="+mn-lt"/>
                <a:cs typeface="+mn-lt"/>
              </a:rPr>
              <a:t>Phân tích đa biến (Bivariate/Multivariate Analysis):</a:t>
            </a:r>
            <a:endParaRPr lang="en-US" sz="1800" dirty="0"/>
          </a:p>
          <a:p>
            <a:pPr marL="742950" lvl="1" indent="-285750">
              <a:buFont typeface="Arial"/>
              <a:buChar char="•"/>
            </a:pPr>
            <a:r>
              <a:rPr lang="en-US" sz="1800" dirty="0">
                <a:ea typeface="+mn-lt"/>
                <a:cs typeface="+mn-lt"/>
              </a:rPr>
              <a:t>Xem xét </a:t>
            </a:r>
            <a:r>
              <a:rPr lang="en-US" sz="1800" b="1" dirty="0">
                <a:ea typeface="+mn-lt"/>
                <a:cs typeface="+mn-lt"/>
              </a:rPr>
              <a:t>mối quan hệ</a:t>
            </a:r>
            <a:r>
              <a:rPr lang="en-US" sz="1800" dirty="0">
                <a:ea typeface="+mn-lt"/>
                <a:cs typeface="+mn-lt"/>
              </a:rPr>
              <a:t> giữa hai hoặc nhiều biến với nhau.</a:t>
            </a:r>
            <a:endParaRPr lang="en-US" sz="1800" dirty="0"/>
          </a:p>
          <a:p>
            <a:pPr>
              <a:buFont typeface="Calibri"/>
              <a:buChar char="-"/>
            </a:pPr>
            <a:r>
              <a:rPr lang="en-US" sz="1800" b="1" dirty="0">
                <a:ea typeface="+mn-lt"/>
                <a:cs typeface="+mn-lt"/>
              </a:rPr>
              <a:t>Phát hiện ngoại lai (Outlier Detection):</a:t>
            </a:r>
            <a:endParaRPr lang="en-US" sz="1800" dirty="0"/>
          </a:p>
          <a:p>
            <a:pPr marL="742950" lvl="1" indent="-285750">
              <a:buFont typeface="Arial"/>
              <a:buChar char="•"/>
            </a:pPr>
            <a:r>
              <a:rPr lang="en-US" sz="1800" dirty="0">
                <a:ea typeface="+mn-lt"/>
                <a:cs typeface="+mn-lt"/>
              </a:rPr>
              <a:t>Tìm kiếm các điểm dữ liệu </a:t>
            </a:r>
            <a:r>
              <a:rPr lang="en-US" sz="1800" b="1" dirty="0">
                <a:ea typeface="+mn-lt"/>
                <a:cs typeface="+mn-lt"/>
              </a:rPr>
              <a:t>bất thường</a:t>
            </a:r>
            <a:r>
              <a:rPr lang="en-US" sz="1800" dirty="0">
                <a:ea typeface="+mn-lt"/>
                <a:cs typeface="+mn-lt"/>
              </a:rPr>
              <a:t>, khác biệt quá xa so với phần còn lại.</a:t>
            </a:r>
            <a:endParaRPr lang="en-US" sz="1800" dirty="0"/>
          </a:p>
          <a:p>
            <a:pPr marL="742950" lvl="1" indent="-285750">
              <a:buFont typeface="Arial"/>
              <a:buChar char="•"/>
            </a:pPr>
            <a:r>
              <a:rPr lang="en-US" sz="1800" b="1" dirty="0">
                <a:ea typeface="+mn-lt"/>
                <a:cs typeface="+mn-lt"/>
              </a:rPr>
              <a:t>Lưu ý:</a:t>
            </a:r>
            <a:r>
              <a:rPr lang="en-US" sz="1800" dirty="0">
                <a:ea typeface="+mn-lt"/>
                <a:cs typeface="+mn-lt"/>
              </a:rPr>
              <a:t> Ngoại lai có thể làm sai lệch mô hình dự đoán.</a:t>
            </a: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>
              <a:buFont typeface="Calibri" panose="020B0604020202020204" pitchFamily="34" charset="0"/>
              <a:buChar char="-"/>
            </a:pPr>
            <a:endParaRPr lang="en-US" sz="1800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877E846D-9B95-D047-EF5B-4BF4DA0A1A9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1631261"/>
            <a:ext cx="4005147" cy="3409466"/>
          </a:xfrm>
        </p:spPr>
        <p:txBody>
          <a:bodyPr/>
          <a:lstStyle/>
          <a:p>
            <a:pPr marL="285750" indent="-285750">
              <a:buFont typeface="Arial,Sans-Serif"/>
              <a:buChar char="•"/>
            </a:pPr>
            <a:r>
              <a:rPr lang="en-US" sz="2000" b="1" dirty="0" err="1"/>
              <a:t>Khái</a:t>
            </a:r>
            <a:r>
              <a:rPr lang="en-US" sz="2000" b="1" dirty="0"/>
              <a:t> </a:t>
            </a:r>
            <a:r>
              <a:rPr lang="en-US" sz="2000" b="1" dirty="0" err="1"/>
              <a:t>niệm</a:t>
            </a:r>
            <a:r>
              <a:rPr lang="en-US" sz="2000" b="1" dirty="0"/>
              <a:t>:</a:t>
            </a:r>
            <a:r>
              <a:rPr lang="en-US" sz="2000" dirty="0"/>
              <a:t> </a:t>
            </a:r>
            <a:r>
              <a:rPr lang="en-US" sz="2000" dirty="0" err="1"/>
              <a:t>Là</a:t>
            </a:r>
            <a:r>
              <a:rPr lang="en-US" sz="2000" dirty="0"/>
              <a:t> </a:t>
            </a:r>
            <a:r>
              <a:rPr lang="en-US" sz="2000" dirty="0" err="1"/>
              <a:t>bước</a:t>
            </a:r>
            <a:r>
              <a:rPr lang="en-US" sz="2000" dirty="0"/>
              <a:t> </a:t>
            </a:r>
            <a:r>
              <a:rPr lang="en-US" sz="2000" dirty="0" err="1"/>
              <a:t>quan</a:t>
            </a:r>
            <a:r>
              <a:rPr lang="en-US" sz="2000" dirty="0"/>
              <a:t> </a:t>
            </a:r>
            <a:r>
              <a:rPr lang="en-US" sz="2000" dirty="0" err="1"/>
              <a:t>trọng</a:t>
            </a:r>
            <a:r>
              <a:rPr lang="en-US" sz="2000" dirty="0"/>
              <a:t> </a:t>
            </a:r>
            <a:r>
              <a:rPr lang="en-US" sz="2000" dirty="0" err="1"/>
              <a:t>nhất</a:t>
            </a:r>
            <a:r>
              <a:rPr lang="en-US" sz="2000" dirty="0"/>
              <a:t> </a:t>
            </a:r>
            <a:r>
              <a:rPr lang="en-US" sz="2000" b="1" dirty="0" err="1"/>
              <a:t>trước</a:t>
            </a:r>
            <a:r>
              <a:rPr lang="en-US" sz="2000" b="1" dirty="0"/>
              <a:t> </a:t>
            </a:r>
            <a:r>
              <a:rPr lang="en-US" sz="2000" b="1" dirty="0" err="1"/>
              <a:t>khi</a:t>
            </a:r>
            <a:r>
              <a:rPr lang="en-US" sz="2000" b="1" dirty="0"/>
              <a:t> </a:t>
            </a:r>
            <a:r>
              <a:rPr lang="en-US" sz="2000" b="1" dirty="0" err="1"/>
              <a:t>xây</a:t>
            </a:r>
            <a:r>
              <a:rPr lang="en-US" sz="2000" b="1" dirty="0"/>
              <a:t> </a:t>
            </a:r>
            <a:r>
              <a:rPr lang="en-US" sz="2000" b="1" dirty="0" err="1"/>
              <a:t>dựng</a:t>
            </a:r>
            <a:r>
              <a:rPr lang="en-US" sz="2000" b="1" dirty="0"/>
              <a:t> </a:t>
            </a:r>
            <a:r>
              <a:rPr lang="en-US" sz="2000" b="1" dirty="0" err="1"/>
              <a:t>mô</a:t>
            </a:r>
            <a:r>
              <a:rPr lang="en-US" sz="2000" b="1" dirty="0"/>
              <a:t> </a:t>
            </a:r>
            <a:r>
              <a:rPr lang="en-US" sz="2000" b="1" dirty="0" err="1"/>
              <a:t>hình</a:t>
            </a:r>
            <a:r>
              <a:rPr lang="en-US" sz="2000" dirty="0"/>
              <a:t> Machine Learning.</a:t>
            </a:r>
            <a:endParaRPr lang="en-US" sz="2000" dirty="0">
              <a:solidFill>
                <a:srgbClr val="000000"/>
              </a:solidFill>
            </a:endParaRPr>
          </a:p>
          <a:p>
            <a:pPr marL="285750" indent="-285750">
              <a:buFont typeface="Arial,Sans-Serif"/>
              <a:buChar char="•"/>
            </a:pPr>
            <a:r>
              <a:rPr lang="en-US" sz="2000" b="1" dirty="0" err="1"/>
              <a:t>Mục</a:t>
            </a:r>
            <a:r>
              <a:rPr lang="en-US" sz="2000" b="1" dirty="0"/>
              <a:t> </a:t>
            </a:r>
            <a:r>
              <a:rPr lang="en-US" sz="2000" b="1" dirty="0" err="1"/>
              <a:t>tiêu</a:t>
            </a:r>
            <a:r>
              <a:rPr lang="en-US" sz="2000" b="1" dirty="0"/>
              <a:t>:</a:t>
            </a:r>
            <a:r>
              <a:rPr lang="en-US" sz="2000" dirty="0"/>
              <a:t> </a:t>
            </a:r>
            <a:r>
              <a:rPr lang="en-US" sz="2000" dirty="0" err="1"/>
              <a:t>Giống</a:t>
            </a:r>
            <a:r>
              <a:rPr lang="en-US" sz="2000" dirty="0"/>
              <a:t> </a:t>
            </a:r>
            <a:r>
              <a:rPr lang="en-US" sz="2000" dirty="0" err="1"/>
              <a:t>như</a:t>
            </a:r>
            <a:r>
              <a:rPr lang="en-US" sz="2000" dirty="0"/>
              <a:t> "</a:t>
            </a:r>
            <a:r>
              <a:rPr lang="en-US" sz="2000" dirty="0" err="1"/>
              <a:t>khám</a:t>
            </a:r>
            <a:r>
              <a:rPr lang="en-US" sz="2000" dirty="0"/>
              <a:t> </a:t>
            </a:r>
            <a:r>
              <a:rPr lang="en-US" sz="2000" dirty="0" err="1"/>
              <a:t>sức</a:t>
            </a:r>
            <a:r>
              <a:rPr lang="en-US" sz="2000" dirty="0"/>
              <a:t> </a:t>
            </a:r>
            <a:r>
              <a:rPr lang="en-US" sz="2000" dirty="0" err="1"/>
              <a:t>khỏe</a:t>
            </a:r>
            <a:r>
              <a:rPr lang="en-US" sz="2000" dirty="0"/>
              <a:t> </a:t>
            </a:r>
            <a:r>
              <a:rPr lang="en-US" sz="2000" dirty="0" err="1"/>
              <a:t>tổng</a:t>
            </a:r>
            <a:r>
              <a:rPr lang="en-US" sz="2000" dirty="0"/>
              <a:t> </a:t>
            </a:r>
            <a:r>
              <a:rPr lang="en-US" sz="2000" dirty="0" err="1"/>
              <a:t>quát</a:t>
            </a:r>
            <a:r>
              <a:rPr lang="en-US" sz="2000" dirty="0"/>
              <a:t>" </a:t>
            </a:r>
            <a:r>
              <a:rPr lang="en-US" sz="2000" dirty="0" err="1"/>
              <a:t>cho</a:t>
            </a:r>
            <a:r>
              <a:rPr lang="en-US" sz="2000" dirty="0"/>
              <a:t> </a:t>
            </a:r>
            <a:r>
              <a:rPr lang="en-US" sz="2000" dirty="0" err="1"/>
              <a:t>dữ</a:t>
            </a:r>
            <a:r>
              <a:rPr lang="en-US" sz="2000" dirty="0"/>
              <a:t> </a:t>
            </a:r>
            <a:r>
              <a:rPr lang="en-US" sz="2000" dirty="0" err="1"/>
              <a:t>liệu</a:t>
            </a:r>
            <a:r>
              <a:rPr lang="en-US" sz="2000" dirty="0"/>
              <a:t> </a:t>
            </a:r>
            <a:r>
              <a:rPr lang="en-US" sz="2000" dirty="0" err="1"/>
              <a:t>để</a:t>
            </a:r>
            <a:r>
              <a:rPr lang="en-US" sz="2000" dirty="0"/>
              <a:t> "</a:t>
            </a:r>
            <a:r>
              <a:rPr lang="en-US" sz="2000" dirty="0" err="1"/>
              <a:t>bắt</a:t>
            </a:r>
            <a:r>
              <a:rPr lang="en-US" sz="2000" dirty="0"/>
              <a:t> </a:t>
            </a:r>
            <a:r>
              <a:rPr lang="en-US" sz="2000" dirty="0" err="1"/>
              <a:t>bệnh</a:t>
            </a:r>
            <a:r>
              <a:rPr lang="en-US" sz="2000" dirty="0"/>
              <a:t>" </a:t>
            </a:r>
            <a:r>
              <a:rPr lang="en-US" sz="2000" dirty="0" err="1"/>
              <a:t>và</a:t>
            </a:r>
            <a:r>
              <a:rPr lang="en-US" sz="2000" dirty="0"/>
              <a:t> </a:t>
            </a:r>
            <a:r>
              <a:rPr lang="en-US" sz="2000" dirty="0" err="1"/>
              <a:t>hiểu</a:t>
            </a:r>
            <a:r>
              <a:rPr lang="en-US" sz="2000" dirty="0"/>
              <a:t> </a:t>
            </a:r>
            <a:r>
              <a:rPr lang="en-US" sz="2000" dirty="0" err="1"/>
              <a:t>rõ</a:t>
            </a:r>
            <a:r>
              <a:rPr lang="en-US" sz="2000" dirty="0"/>
              <a:t> </a:t>
            </a:r>
            <a:r>
              <a:rPr lang="en-US" sz="2000" dirty="0" err="1"/>
              <a:t>thể</a:t>
            </a:r>
            <a:r>
              <a:rPr lang="en-US" sz="2000" dirty="0"/>
              <a:t> </a:t>
            </a:r>
            <a:r>
              <a:rPr lang="en-US" sz="2000" dirty="0" err="1"/>
              <a:t>trạng</a:t>
            </a:r>
            <a:r>
              <a:rPr lang="en-US" sz="2000" dirty="0"/>
              <a:t> </a:t>
            </a:r>
            <a:r>
              <a:rPr lang="en-US" sz="2000" dirty="0" err="1"/>
              <a:t>của</a:t>
            </a:r>
            <a:r>
              <a:rPr lang="en-US" sz="2000" dirty="0"/>
              <a:t> </a:t>
            </a:r>
            <a:r>
              <a:rPr lang="en-US" sz="2000" dirty="0" err="1"/>
              <a:t>nó</a:t>
            </a:r>
            <a:r>
              <a:rPr lang="en-US" sz="2000" dirty="0"/>
              <a:t>.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CD169A-7A34-326A-2D55-983C2C9400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46FB69-2343-4D94-A9F0-F45FEF74DFF3}" type="datetime1">
              <a:t>11/28/2025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2BF42C-97E5-4970-E73F-E989D677BA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938411-3131-F470-2592-3F925FC414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 smtClean="0"/>
              <a:t>14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733499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557A91-6149-675F-A884-8238477EFA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D4069C-EE52-4962-64B6-30F705617C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807868"/>
            <a:ext cx="3475061" cy="2062594"/>
          </a:xfrm>
        </p:spPr>
        <p:txBody>
          <a:bodyPr/>
          <a:lstStyle/>
          <a:p>
            <a:r>
              <a:rPr lang="en-US" sz="3200" b="1" dirty="0">
                <a:latin typeface="Aptos"/>
              </a:rPr>
              <a:t>Exploratory Data</a:t>
            </a:r>
            <a:br>
              <a:rPr lang="en-US" sz="3200" b="1" dirty="0">
                <a:latin typeface="Aptos"/>
              </a:rPr>
            </a:br>
            <a:r>
              <a:rPr lang="en-US" sz="3200" b="1" dirty="0">
                <a:latin typeface="Aptos"/>
              </a:rPr>
              <a:t>Analysis</a:t>
            </a:r>
          </a:p>
        </p:txBody>
      </p:sp>
      <p:graphicFrame>
        <p:nvGraphicFramePr>
          <p:cNvPr id="11" name="Content Placeholder 10">
            <a:extLst>
              <a:ext uri="{FF2B5EF4-FFF2-40B4-BE49-F238E27FC236}">
                <a16:creationId xmlns:a16="http://schemas.microsoft.com/office/drawing/2014/main" id="{FFA6D25B-69CB-4E38-E612-985286E1254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81075778"/>
              </p:ext>
            </p:extLst>
          </p:nvPr>
        </p:nvGraphicFramePr>
        <p:xfrm>
          <a:off x="5250832" y="57953"/>
          <a:ext cx="6439770" cy="6678288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146590">
                  <a:extLst>
                    <a:ext uri="{9D8B030D-6E8A-4147-A177-3AD203B41FA5}">
                      <a16:colId xmlns:a16="http://schemas.microsoft.com/office/drawing/2014/main" val="3775591402"/>
                    </a:ext>
                  </a:extLst>
                </a:gridCol>
                <a:gridCol w="2146590">
                  <a:extLst>
                    <a:ext uri="{9D8B030D-6E8A-4147-A177-3AD203B41FA5}">
                      <a16:colId xmlns:a16="http://schemas.microsoft.com/office/drawing/2014/main" val="331055106"/>
                    </a:ext>
                  </a:extLst>
                </a:gridCol>
                <a:gridCol w="2146590">
                  <a:extLst>
                    <a:ext uri="{9D8B030D-6E8A-4147-A177-3AD203B41FA5}">
                      <a16:colId xmlns:a16="http://schemas.microsoft.com/office/drawing/2014/main" val="2535928216"/>
                    </a:ext>
                  </a:extLst>
                </a:gridCol>
              </a:tblGrid>
              <a:tr h="623533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600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Loại biểu đồ</a:t>
                      </a:r>
                      <a:endParaRPr lang="en-US" sz="16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01965" marR="101965" marT="67977" marB="67977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6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Mục đích sử dụng</a:t>
                      </a:r>
                      <a:endParaRPr lang="en-US" sz="16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01965" marR="101965" marT="67977" marB="67977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6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Ví dụ áp dụng</a:t>
                      </a:r>
                      <a:endParaRPr lang="en-US" sz="16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01965" marR="101965" marT="67977" marB="67977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35187753"/>
                  </a:ext>
                </a:extLst>
              </a:tr>
              <a:tr h="1355509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600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Histogram</a:t>
                      </a:r>
                      <a:r>
                        <a:rPr lang="en-US" sz="16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 (Biểu đồ </a:t>
                      </a:r>
                      <a:r>
                        <a:rPr lang="en-US" sz="16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tần suất)</a:t>
                      </a:r>
                      <a:endParaRPr lang="en-US" sz="1600" baseline="30000">
                        <a:solidFill>
                          <a:srgbClr val="444746"/>
                        </a:solidFill>
                        <a:effectLst/>
                        <a:latin typeface="Google Sans Text"/>
                      </a:endParaRPr>
                    </a:p>
                  </a:txBody>
                  <a:tcPr marL="101965" marR="101965" marT="67977" marB="67977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6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Xem </a:t>
                      </a:r>
                      <a:r>
                        <a:rPr lang="en-US" sz="1600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phân phối</a:t>
                      </a:r>
                      <a:r>
                        <a:rPr lang="en-US" sz="16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 của </a:t>
                      </a:r>
                      <a:r>
                        <a:rPr lang="en-US" sz="16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một biến số.</a:t>
                      </a:r>
                    </a:p>
                  </a:txBody>
                  <a:tcPr marL="101965" marR="101965" marT="67977" marB="67977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6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Xem điểm thi tập trung chủ yếu ở mức nào (phân phối </a:t>
                      </a:r>
                      <a:r>
                        <a:rPr lang="en-US" sz="16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chuẩn hay lệch).</a:t>
                      </a:r>
                    </a:p>
                  </a:txBody>
                  <a:tcPr marL="101965" marR="101965" marT="67977" marB="67977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90896856"/>
                  </a:ext>
                </a:extLst>
              </a:tr>
              <a:tr h="1359538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600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Box Plot</a:t>
                      </a:r>
                      <a:r>
                        <a:rPr lang="en-US" sz="16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 (Biểu đồ </a:t>
                      </a:r>
                      <a:r>
                        <a:rPr lang="en-US" sz="16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hộp)</a:t>
                      </a:r>
                      <a:endParaRPr lang="en-US" sz="1600" baseline="30000">
                        <a:solidFill>
                          <a:srgbClr val="444746"/>
                        </a:solidFill>
                        <a:effectLst/>
                        <a:latin typeface="Google Sans Text"/>
                      </a:endParaRPr>
                    </a:p>
                  </a:txBody>
                  <a:tcPr marL="101965" marR="101965" marT="67977" marB="67977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600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Phát hiện ngoại lai (Outliers)</a:t>
                      </a:r>
                      <a:r>
                        <a:rPr lang="en-US" sz="16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 và xem độ </a:t>
                      </a:r>
                      <a:r>
                        <a:rPr lang="en-US" sz="16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phân tán.</a:t>
                      </a:r>
                    </a:p>
                  </a:txBody>
                  <a:tcPr marL="101965" marR="101965" marT="67977" marB="67977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vi-VN" sz="16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So sánh mức lương giữa các phòng ban và tìm người có lương cao bất </a:t>
                      </a:r>
                      <a:r>
                        <a:rPr lang="vi-VN" sz="16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thường.</a:t>
                      </a:r>
                    </a:p>
                  </a:txBody>
                  <a:tcPr marL="101965" marR="101965" marT="67977" marB="67977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05996354"/>
                  </a:ext>
                </a:extLst>
              </a:tr>
              <a:tr h="870104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600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Scatter Plot</a:t>
                      </a:r>
                      <a:r>
                        <a:rPr lang="en-US" sz="16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 (Biểu đồ </a:t>
                      </a:r>
                      <a:r>
                        <a:rPr lang="en-US" sz="16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tản).</a:t>
                      </a:r>
                      <a:endParaRPr lang="en-US" sz="1600" baseline="30000">
                        <a:solidFill>
                          <a:srgbClr val="444746"/>
                        </a:solidFill>
                        <a:effectLst/>
                        <a:latin typeface="Google Sans Text"/>
                      </a:endParaRPr>
                    </a:p>
                  </a:txBody>
                  <a:tcPr marL="101965" marR="101965" marT="67977" marB="67977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vi-VN" sz="16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Xem </a:t>
                      </a:r>
                      <a:r>
                        <a:rPr lang="vi-VN" sz="1600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mối tương quan</a:t>
                      </a:r>
                      <a:r>
                        <a:rPr lang="vi-VN" sz="16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 giữa 2 biến số </a:t>
                      </a:r>
                      <a:r>
                        <a:rPr lang="vi-VN" sz="16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liên tục.</a:t>
                      </a:r>
                    </a:p>
                  </a:txBody>
                  <a:tcPr marL="101965" marR="101965" marT="67977" marB="67977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6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Xem mối liên hệ giữa diện tích nhà và giá nhà</a:t>
                      </a:r>
                      <a:r>
                        <a:rPr lang="en-US" sz="1600" baseline="30000">
                          <a:solidFill>
                            <a:srgbClr val="444746"/>
                          </a:solidFill>
                          <a:effectLst/>
                          <a:latin typeface="Google Sans Text"/>
                        </a:rPr>
                        <a:t>12</a:t>
                      </a:r>
                      <a:r>
                        <a:rPr lang="en-US" sz="16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.</a:t>
                      </a:r>
                    </a:p>
                  </a:txBody>
                  <a:tcPr marL="101965" marR="101965" marT="67977" marB="67977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86875703"/>
                  </a:ext>
                </a:extLst>
              </a:tr>
              <a:tr h="159950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600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Heatmap</a:t>
                      </a:r>
                      <a:r>
                        <a:rPr lang="en-US" sz="16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 (Biểu đồ nhiệt)</a:t>
                      </a:r>
                      <a:endParaRPr lang="en-US" sz="1600" baseline="30000" dirty="0">
                        <a:solidFill>
                          <a:srgbClr val="444746"/>
                        </a:solidFill>
                        <a:effectLst/>
                        <a:latin typeface="Google Sans Text"/>
                      </a:endParaRPr>
                    </a:p>
                  </a:txBody>
                  <a:tcPr marL="101965" marR="101965" marT="67977" marB="67977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vi-VN" sz="16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Xem mức độ </a:t>
                      </a:r>
                      <a:r>
                        <a:rPr lang="vi-VN" sz="1600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tương quan (Correlation </a:t>
                      </a:r>
                      <a:r>
                        <a:rPr lang="vi-VN" sz="16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Matrix)</a:t>
                      </a:r>
                      <a:r>
                        <a:rPr lang="vi-VN" sz="16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.</a:t>
                      </a:r>
                    </a:p>
                  </a:txBody>
                  <a:tcPr marL="101965" marR="101965" marT="67977" marB="67977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vi-VN" sz="16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Biến nào ảnh hưởng mạnh nhất đến kết quả dự báo (màu càng đậm tương </a:t>
                      </a:r>
                      <a:r>
                        <a:rPr lang="vi-VN" sz="16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quan càng cao).</a:t>
                      </a:r>
                    </a:p>
                  </a:txBody>
                  <a:tcPr marL="101965" marR="101965" marT="67977" marB="67977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32410283"/>
                  </a:ext>
                </a:extLst>
              </a:tr>
              <a:tr h="870104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600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Bar Chart</a:t>
                      </a:r>
                      <a:r>
                        <a:rPr lang="en-US" sz="16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 (Biểu đồ </a:t>
                      </a:r>
                      <a:r>
                        <a:rPr lang="en-US" sz="16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cột).</a:t>
                      </a:r>
                      <a:endParaRPr lang="en-US" sz="1600" baseline="30000">
                        <a:solidFill>
                          <a:srgbClr val="444746"/>
                        </a:solidFill>
                        <a:effectLst/>
                        <a:latin typeface="Google Sans Text"/>
                      </a:endParaRPr>
                    </a:p>
                  </a:txBody>
                  <a:tcPr marL="101965" marR="101965" marT="67977" marB="67977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vi-VN" sz="1600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So sánh số lượng</a:t>
                      </a:r>
                      <a:r>
                        <a:rPr lang="vi-VN" sz="16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 giữa các nhóm phân </a:t>
                      </a:r>
                      <a:r>
                        <a:rPr lang="vi-VN" sz="16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loại.</a:t>
                      </a:r>
                      <a:endParaRPr lang="en-US" sz="1600"/>
                    </a:p>
                  </a:txBody>
                  <a:tcPr marL="101965" marR="101965" marT="67977" marB="67977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vi-VN" sz="16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Số lượng sinh viên của từng khoa.</a:t>
                      </a:r>
                    </a:p>
                  </a:txBody>
                  <a:tcPr marL="101965" marR="101965" marT="67977" marB="67977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49232082"/>
                  </a:ext>
                </a:extLst>
              </a:tr>
            </a:tbl>
          </a:graphicData>
        </a:graphic>
      </p:graphicFrame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A249D98-9AD5-B2AE-8E2A-195AAAA48A0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36376" y="1844174"/>
            <a:ext cx="4744735" cy="4104230"/>
          </a:xfrm>
        </p:spPr>
        <p:txBody>
          <a:bodyPr/>
          <a:lstStyle/>
          <a:p>
            <a:r>
              <a:rPr lang="en-US" sz="2000"/>
              <a:t>Trực Quan Hoá Dữ Liệu (Data Visualization):</a:t>
            </a:r>
            <a:endParaRPr lang="en-US" sz="2000">
              <a:solidFill>
                <a:srgbClr val="000000"/>
              </a:solidFill>
            </a:endParaRPr>
          </a:p>
          <a:p>
            <a:pPr marL="342900" indent="-342900">
              <a:buFont typeface="Calibri" panose="020B0604020202020204" pitchFamily="34" charset="0"/>
              <a:buChar char="-"/>
            </a:pPr>
            <a:r>
              <a:rPr lang="en-US" sz="2000" b="1">
                <a:ea typeface="+mn-lt"/>
                <a:cs typeface="+mn-lt"/>
              </a:rPr>
              <a:t>Tầm quan trọng:</a:t>
            </a:r>
            <a:endParaRPr lang="en-US" sz="2000"/>
          </a:p>
          <a:p>
            <a:pPr lvl="1">
              <a:buFont typeface="Arial"/>
              <a:buChar char="•"/>
            </a:pPr>
            <a:r>
              <a:rPr lang="en-US" sz="2000">
                <a:ea typeface="+mn-lt"/>
                <a:cs typeface="+mn-lt"/>
              </a:rPr>
              <a:t> Con người xử lý </a:t>
            </a:r>
            <a:r>
              <a:rPr lang="en-US" sz="2000" b="1">
                <a:ea typeface="+mn-lt"/>
                <a:cs typeface="+mn-lt"/>
              </a:rPr>
              <a:t>hình ảnh tốt hơn con số</a:t>
            </a:r>
            <a:r>
              <a:rPr lang="en-US" sz="2000" dirty="0">
                <a:ea typeface="+mn-lt"/>
                <a:cs typeface="+mn-lt"/>
              </a:rPr>
              <a:t>.</a:t>
            </a:r>
          </a:p>
          <a:p>
            <a:pPr lvl="1">
              <a:buFont typeface="Arial"/>
              <a:buChar char="•"/>
            </a:pPr>
            <a:r>
              <a:rPr lang="en-US" sz="2000">
                <a:ea typeface="+mn-lt"/>
                <a:cs typeface="+mn-lt"/>
              </a:rPr>
              <a:t>Trực quan hóa giúp bạn "</a:t>
            </a:r>
            <a:r>
              <a:rPr lang="en-US" sz="2000" b="1">
                <a:ea typeface="+mn-lt"/>
                <a:cs typeface="+mn-lt"/>
              </a:rPr>
              <a:t>nhìn thấy</a:t>
            </a:r>
            <a:r>
              <a:rPr lang="en-US" sz="2000">
                <a:ea typeface="+mn-lt"/>
                <a:cs typeface="+mn-lt"/>
              </a:rPr>
              <a:t>" những xu hướng mà các bảng số liệu thống kê có thể bỏ sót.</a:t>
            </a:r>
          </a:p>
          <a:p>
            <a:pPr marL="285750" indent="-285750">
              <a:buFont typeface="Calibri"/>
              <a:buChar char="-"/>
            </a:pPr>
            <a:endParaRPr lang="en-US" sz="20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72500F-E015-81F2-0482-3E4F13C718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46FB69-2343-4D94-A9F0-F45FEF74DFF3}" type="datetime1">
              <a:t>11/28/2025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E75104-CF76-0F7A-EE68-525BE6640F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573A8C-D319-CAE2-C396-2976D0B12C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12993" y="6371116"/>
            <a:ext cx="615821" cy="365125"/>
          </a:xfrm>
        </p:spPr>
        <p:txBody>
          <a:bodyPr/>
          <a:lstStyle/>
          <a:p>
            <a:fld id="{5E4DE196-8A13-4FF7-A07E-102851959EAB}" type="slidenum">
              <a:rPr lang="en-US" dirty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531164"/>
      </p:ext>
    </p:extLst>
  </p:cSld>
  <p:clrMapOvr>
    <a:masterClrMapping/>
  </p:clrMapOvr>
</p:sld>
</file>

<file path=ppt/theme/theme1.xml><?xml version="1.0" encoding="utf-8"?>
<a:theme xmlns:a="http://schemas.openxmlformats.org/drawingml/2006/main" name="BohoVogueVTI">
  <a:themeElements>
    <a:clrScheme name="BohoVogueVTI">
      <a:dk1>
        <a:sysClr val="windowText" lastClr="000000"/>
      </a:dk1>
      <a:lt1>
        <a:sysClr val="window" lastClr="FFFFFF"/>
      </a:lt1>
      <a:dk2>
        <a:srgbClr val="35403A"/>
      </a:dk2>
      <a:lt2>
        <a:srgbClr val="F1EFEB"/>
      </a:lt2>
      <a:accent1>
        <a:srgbClr val="9E8B50"/>
      </a:accent1>
      <a:accent2>
        <a:srgbClr val="D5966B"/>
      </a:accent2>
      <a:accent3>
        <a:srgbClr val="9BA6BB"/>
      </a:accent3>
      <a:accent4>
        <a:srgbClr val="869880"/>
      </a:accent4>
      <a:accent5>
        <a:srgbClr val="588267"/>
      </a:accent5>
      <a:accent6>
        <a:srgbClr val="B89C46"/>
      </a:accent6>
      <a:hlink>
        <a:srgbClr val="C77138"/>
      </a:hlink>
      <a:folHlink>
        <a:srgbClr val="589374"/>
      </a:folHlink>
    </a:clrScheme>
    <a:fontScheme name="BohoVogueVTI">
      <a:majorFont>
        <a:latin typeface="Walbaum Display"/>
        <a:ea typeface=""/>
        <a:cs typeface=""/>
      </a:majorFont>
      <a:minorFont>
        <a:latin typeface="Aptos Light"/>
        <a:ea typeface=""/>
        <a:cs typeface=""/>
      </a:minorFont>
    </a:fontScheme>
    <a:fmtScheme name="BohoVogueVTI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BohoVogueVTI" id="{587E0025-A466-4551-A341-1A9F570FDF06}" vid="{F615CBBD-D1BB-4663-887F-92A47C7C6AB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1747</Words>
  <Application>Microsoft Office PowerPoint</Application>
  <PresentationFormat>Widescreen</PresentationFormat>
  <Paragraphs>268</Paragraphs>
  <Slides>15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7" baseType="lpstr">
      <vt:lpstr>Aptos</vt:lpstr>
      <vt:lpstr>Aptos Light</vt:lpstr>
      <vt:lpstr>Arial</vt:lpstr>
      <vt:lpstr>Arial,Sans-Serif</vt:lpstr>
      <vt:lpstr>Calibri</vt:lpstr>
      <vt:lpstr>Courier New</vt:lpstr>
      <vt:lpstr>Courier New,monospace</vt:lpstr>
      <vt:lpstr>Google Sans Text</vt:lpstr>
      <vt:lpstr>Times New Roman</vt:lpstr>
      <vt:lpstr>Walbaum Display</vt:lpstr>
      <vt:lpstr>Wingdings</vt:lpstr>
      <vt:lpstr>BohoVogueVTI</vt:lpstr>
      <vt:lpstr>Kiến thức về AI, Data</vt:lpstr>
      <vt:lpstr>Danh Mục</vt:lpstr>
      <vt:lpstr>1, Nội dung về AI:</vt:lpstr>
      <vt:lpstr>1, Nội dung về AI:</vt:lpstr>
      <vt:lpstr>3 loại bài toán chính trong Machine Learning </vt:lpstr>
      <vt:lpstr>Các thư viện phổ biến</vt:lpstr>
      <vt:lpstr>Các thư viện phổ biến</vt:lpstr>
      <vt:lpstr>Các thư viện phổ biến</vt:lpstr>
      <vt:lpstr>Các thư viện phổ biến</vt:lpstr>
      <vt:lpstr>Nguồn dữ liệu (Data Sources)</vt:lpstr>
      <vt:lpstr>Nguồn dữ liệu (Data Sources)</vt:lpstr>
      <vt:lpstr>Nguồn dữ liệu (Data Sources)</vt:lpstr>
      <vt:lpstr>Exploratory Data Analysis</vt:lpstr>
      <vt:lpstr>Exploratory Data Analysis</vt:lpstr>
      <vt:lpstr>Exploratory Data Analysis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Kiến thức về AI, Data</dc:title>
  <dc:creator/>
  <cp:lastModifiedBy>Admin</cp:lastModifiedBy>
  <cp:revision>390</cp:revision>
  <dcterms:created xsi:type="dcterms:W3CDTF">2025-11-27T07:07:24Z</dcterms:created>
  <dcterms:modified xsi:type="dcterms:W3CDTF">2025-11-28T03:50:40Z</dcterms:modified>
</cp:coreProperties>
</file>