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4FDC6-C830-F493-2967-5D76FAA0DBCA}" v="69" dt="2025-11-28T02:42:40.804"/>
    <p1510:client id="{B476901D-FB66-6B5E-820D-100FCE4AA0B5}" v="16" dt="2025-11-27T07:07:59.620"/>
    <p1510:client id="{D148332A-1510-C136-9360-81D5D8DEB720}" v="483" dt="2025-11-28T02:36:25.749"/>
    <p1510:client id="{D65D76B3-4CA5-2ECD-D100-F9F9B8FEA691}" v="1450" dt="2025-11-27T14:56:45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56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9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8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2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0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3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0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9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0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1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4400" b="1" dirty="0">
                <a:latin typeface="Aptos"/>
                <a:cs typeface="Times New Roman"/>
              </a:rPr>
              <a:t>Kiến thức về AI, </a:t>
            </a:r>
            <a:r>
              <a:rPr lang="vi-VN" sz="4400" b="1" err="1">
                <a:latin typeface="Aptos"/>
                <a:cs typeface="Times New Roman"/>
              </a:rPr>
              <a:t>Data</a:t>
            </a:r>
            <a:endParaRPr lang="vi-VN" sz="4400" b="1" err="1">
              <a:latin typeface="Aptos"/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1800" dirty="0">
                <a:latin typeface="Arial"/>
                <a:cs typeface="Arial"/>
              </a:rPr>
              <a:t>Đào Duy Hiếu Anh – B25DCTV005</a:t>
            </a:r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BCCA-F139-1A86-FB1A-161B462D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dirty="0">
                <a:latin typeface="Aptos"/>
              </a:rPr>
              <a:t>Danh </a:t>
            </a:r>
            <a:r>
              <a:rPr lang="en-US" sz="6600" b="1" err="1">
                <a:latin typeface="Aptos"/>
              </a:rPr>
              <a:t>Mục</a:t>
            </a:r>
            <a:endParaRPr lang="en-US" sz="6600" b="1">
              <a:latin typeface="Apto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E335-7209-0D52-2494-8B6A21F3A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2157984"/>
            <a:ext cx="10823447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dirty="0"/>
              <a:t>AI</a:t>
            </a:r>
            <a:endParaRPr lang="en-US"/>
          </a:p>
          <a:p>
            <a:pPr marL="685800" lvl="1">
              <a:lnSpc>
                <a:spcPct val="100000"/>
              </a:lnSpc>
            </a:pPr>
            <a:r>
              <a:rPr lang="en-US" sz="1800" err="1"/>
              <a:t>Khái</a:t>
            </a:r>
            <a:r>
              <a:rPr lang="en-US" sz="1800" dirty="0"/>
              <a:t> </a:t>
            </a:r>
            <a:r>
              <a:rPr lang="en-US" sz="1800" err="1"/>
              <a:t>niệm</a:t>
            </a:r>
            <a:r>
              <a:rPr lang="en-US" sz="1800" dirty="0"/>
              <a:t> </a:t>
            </a:r>
            <a:r>
              <a:rPr lang="en-US" sz="1800" err="1"/>
              <a:t>về</a:t>
            </a:r>
            <a:r>
              <a:rPr lang="en-US" sz="1800" dirty="0"/>
              <a:t> AI</a:t>
            </a:r>
          </a:p>
          <a:p>
            <a:pPr marL="685800" lvl="1">
              <a:lnSpc>
                <a:spcPct val="100000"/>
              </a:lnSpc>
            </a:pPr>
            <a:r>
              <a:rPr lang="en-US" sz="1800" dirty="0"/>
              <a:t>Các </a:t>
            </a:r>
            <a:r>
              <a:rPr lang="en-US" sz="1800" err="1"/>
              <a:t>lĩnh</a:t>
            </a:r>
            <a:r>
              <a:rPr lang="en-US" sz="1800" dirty="0"/>
              <a:t> </a:t>
            </a:r>
            <a:r>
              <a:rPr lang="en-US" sz="1800" err="1"/>
              <a:t>vực</a:t>
            </a:r>
            <a:r>
              <a:rPr lang="en-US" sz="1800" dirty="0"/>
              <a:t> </a:t>
            </a:r>
            <a:r>
              <a:rPr lang="en-US" sz="1800" err="1"/>
              <a:t>trong</a:t>
            </a:r>
            <a:r>
              <a:rPr lang="en-US" sz="1800" dirty="0"/>
              <a:t> AI</a:t>
            </a:r>
          </a:p>
          <a:p>
            <a:pPr marL="685800" lvl="1">
              <a:lnSpc>
                <a:spcPct val="100000"/>
              </a:lnSpc>
            </a:pPr>
            <a:r>
              <a:rPr lang="en-US" sz="1800" dirty="0"/>
              <a:t>…</a:t>
            </a:r>
          </a:p>
          <a:p>
            <a:pPr indent="-457200">
              <a:lnSpc>
                <a:spcPct val="100000"/>
              </a:lnSpc>
              <a:buAutoNum type="arabicPeriod"/>
            </a:pPr>
            <a:r>
              <a:rPr lang="en-US" sz="2000" dirty="0"/>
              <a:t>Các </a:t>
            </a:r>
            <a:r>
              <a:rPr lang="en-US" sz="2000" err="1"/>
              <a:t>thư</a:t>
            </a:r>
            <a:r>
              <a:rPr lang="en-US" sz="2000" dirty="0"/>
              <a:t> </a:t>
            </a:r>
            <a:r>
              <a:rPr lang="en-US" sz="2000" err="1"/>
              <a:t>viện</a:t>
            </a:r>
            <a:r>
              <a:rPr lang="en-US" sz="2000" dirty="0"/>
              <a:t> </a:t>
            </a:r>
            <a:r>
              <a:rPr lang="en-US" sz="2000" err="1"/>
              <a:t>phổ</a:t>
            </a:r>
            <a:r>
              <a:rPr lang="en-US" sz="2000" dirty="0"/>
              <a:t> </a:t>
            </a:r>
            <a:r>
              <a:rPr lang="en-US" sz="2000" err="1"/>
              <a:t>biến</a:t>
            </a:r>
            <a:endParaRPr lang="en-US" sz="2000"/>
          </a:p>
          <a:p>
            <a:pPr lvl="1">
              <a:lnSpc>
                <a:spcPct val="100000"/>
              </a:lnSpc>
            </a:pPr>
            <a:r>
              <a:rPr lang="en-US" sz="1800" dirty="0" err="1"/>
              <a:t>Khái</a:t>
            </a:r>
            <a:r>
              <a:rPr lang="en-US" sz="1800" dirty="0"/>
              <a:t> </a:t>
            </a:r>
            <a:r>
              <a:rPr lang="en-US" sz="1800" dirty="0" err="1"/>
              <a:t>niệm</a:t>
            </a:r>
            <a:r>
              <a:rPr lang="en-US" sz="1800" dirty="0"/>
              <a:t>,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mắt</a:t>
            </a:r>
            <a:r>
              <a:rPr lang="en-US" sz="1800" dirty="0"/>
              <a:t>, so </a:t>
            </a:r>
            <a:r>
              <a:rPr lang="en-US" sz="1800" dirty="0" err="1"/>
              <a:t>sánh</a:t>
            </a:r>
            <a:r>
              <a:rPr lang="en-US" sz="1800" dirty="0"/>
              <a:t> </a:t>
            </a:r>
            <a:r>
              <a:rPr lang="en-US" sz="1800" dirty="0" err="1"/>
              <a:t>giữa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thư</a:t>
            </a:r>
            <a:r>
              <a:rPr lang="en-US" sz="1800" dirty="0"/>
              <a:t> </a:t>
            </a:r>
            <a:r>
              <a:rPr lang="en-US" sz="1800" dirty="0" err="1"/>
              <a:t>viện</a:t>
            </a:r>
            <a:r>
              <a:rPr lang="en-US" sz="1800" dirty="0"/>
              <a:t>,.. </a:t>
            </a:r>
          </a:p>
          <a:p>
            <a:pPr indent="-457200">
              <a:lnSpc>
                <a:spcPct val="100000"/>
              </a:lnSpc>
              <a:buAutoNum type="arabicPeriod"/>
            </a:pPr>
            <a:r>
              <a:rPr lang="en-US" sz="2000" dirty="0"/>
              <a:t>Notebook </a:t>
            </a:r>
            <a:r>
              <a:rPr lang="en-US" sz="2000" err="1"/>
              <a:t>và</a:t>
            </a:r>
            <a:r>
              <a:rPr lang="en-US" sz="2000" dirty="0"/>
              <a:t> </a:t>
            </a:r>
            <a:r>
              <a:rPr lang="en-US" sz="2000" err="1"/>
              <a:t>nguồn</a:t>
            </a:r>
            <a:r>
              <a:rPr lang="en-US" sz="2000" dirty="0"/>
              <a:t> </a:t>
            </a:r>
            <a:r>
              <a:rPr lang="en-US" sz="2000" err="1"/>
              <a:t>dữ</a:t>
            </a:r>
            <a:r>
              <a:rPr lang="en-US" sz="2000" dirty="0"/>
              <a:t> </a:t>
            </a:r>
            <a:r>
              <a:rPr lang="en-US" sz="2000" err="1"/>
              <a:t>liệu</a:t>
            </a:r>
            <a:r>
              <a:rPr lang="en-US" sz="2000" dirty="0"/>
              <a:t> </a:t>
            </a:r>
          </a:p>
          <a:p>
            <a:pPr lvl="1">
              <a:lnSpc>
                <a:spcPct val="100000"/>
              </a:lnSpc>
            </a:pPr>
            <a:r>
              <a:rPr lang="en-US" sz="1800" err="1"/>
              <a:t>Làm</a:t>
            </a:r>
            <a:r>
              <a:rPr lang="en-US" sz="1800" dirty="0"/>
              <a:t> </a:t>
            </a:r>
            <a:r>
              <a:rPr lang="en-US" sz="1800" err="1"/>
              <a:t>quen</a:t>
            </a:r>
            <a:r>
              <a:rPr lang="en-US" sz="1800" dirty="0"/>
              <a:t> </a:t>
            </a:r>
            <a:r>
              <a:rPr lang="en-US" sz="1800" err="1"/>
              <a:t>với</a:t>
            </a:r>
            <a:r>
              <a:rPr lang="en-US" sz="1800" dirty="0"/>
              <a:t> </a:t>
            </a:r>
            <a:r>
              <a:rPr lang="en-US" sz="1800" err="1"/>
              <a:t>Jupyter</a:t>
            </a:r>
            <a:r>
              <a:rPr lang="en-US" sz="1800" dirty="0"/>
              <a:t> Notebooks, Google Colab,…</a:t>
            </a:r>
          </a:p>
          <a:p>
            <a:pPr indent="-457200">
              <a:buAutoNum type="arabicPeriod"/>
            </a:pPr>
            <a:r>
              <a:rPr lang="en-US" sz="2000" dirty="0"/>
              <a:t>Exploratory Data Analysis</a:t>
            </a:r>
          </a:p>
          <a:p>
            <a:pPr lvl="1"/>
            <a:r>
              <a:rPr lang="en-US" sz="1800" dirty="0"/>
              <a:t>EDA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gì</a:t>
            </a:r>
            <a:r>
              <a:rPr lang="en-US" sz="1800" dirty="0"/>
              <a:t>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F26A2-9277-724F-4E14-FCB544CC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86971-C254-4B24-9F87-0E63E5AFFA36}" type="datetime1"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7BF42-FF1C-C39B-E8BA-BD6BFF8C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F150F-B592-BD8B-F53E-EC6EC667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5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F3D1-E2B7-214F-E98C-9BE00BB1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636450"/>
          </a:xfrm>
        </p:spPr>
        <p:txBody>
          <a:bodyPr/>
          <a:lstStyle/>
          <a:p>
            <a:r>
              <a:rPr lang="en-US" b="1" dirty="0">
                <a:latin typeface="Aptos"/>
              </a:rPr>
              <a:t>1, </a:t>
            </a:r>
            <a:r>
              <a:rPr lang="en-US" b="1" err="1">
                <a:latin typeface="Aptos"/>
              </a:rPr>
              <a:t>Nội</a:t>
            </a:r>
            <a:r>
              <a:rPr lang="en-US" b="1" dirty="0">
                <a:latin typeface="Aptos"/>
              </a:rPr>
              <a:t> dung </a:t>
            </a:r>
            <a:r>
              <a:rPr lang="en-US" b="1" err="1">
                <a:latin typeface="Aptos"/>
              </a:rPr>
              <a:t>về</a:t>
            </a:r>
            <a:r>
              <a:rPr lang="en-US" b="1" dirty="0">
                <a:latin typeface="Aptos"/>
              </a:rPr>
              <a:t> AI: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3D33-A6E5-559C-E4FA-0AC1D839B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1375089"/>
            <a:ext cx="4977453" cy="28803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60000"/>
              </a:lnSpc>
              <a:buFont typeface="Calibri" panose="020B0604020202020204" pitchFamily="34" charset="0"/>
              <a:buChar char="-"/>
            </a:pPr>
            <a:r>
              <a:rPr lang="en-US" sz="2000" err="1"/>
              <a:t>Khái</a:t>
            </a:r>
            <a:r>
              <a:rPr lang="en-US" sz="2000" dirty="0"/>
              <a:t> </a:t>
            </a:r>
            <a:r>
              <a:rPr lang="en-US" sz="2000" err="1"/>
              <a:t>niệm</a:t>
            </a:r>
            <a:r>
              <a:rPr lang="en-US" sz="2000" dirty="0"/>
              <a:t> </a:t>
            </a:r>
            <a:r>
              <a:rPr lang="en-US" sz="2000" err="1"/>
              <a:t>về</a:t>
            </a:r>
            <a:r>
              <a:rPr lang="en-US" sz="2000" dirty="0"/>
              <a:t> AI:</a:t>
            </a:r>
            <a:endParaRPr lang="en-US" sz="2000"/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err="1"/>
              <a:t>Là</a:t>
            </a:r>
            <a:r>
              <a:rPr lang="en-US" sz="2000" dirty="0"/>
              <a:t> </a:t>
            </a:r>
            <a:r>
              <a:rPr lang="en-US" sz="2000" err="1"/>
              <a:t>một</a:t>
            </a:r>
            <a:r>
              <a:rPr lang="en-US" sz="2000" dirty="0"/>
              <a:t> </a:t>
            </a:r>
            <a:r>
              <a:rPr lang="en-US" sz="2000" err="1"/>
              <a:t>lính</a:t>
            </a:r>
            <a:r>
              <a:rPr lang="en-US" sz="2000" dirty="0"/>
              <a:t> </a:t>
            </a:r>
            <a:r>
              <a:rPr lang="en-US" sz="2000" err="1"/>
              <a:t>vực</a:t>
            </a:r>
            <a:r>
              <a:rPr lang="en-US" sz="2000" dirty="0"/>
              <a:t> </a:t>
            </a:r>
            <a:r>
              <a:rPr lang="en-US" sz="2000" err="1"/>
              <a:t>trong</a:t>
            </a:r>
            <a:r>
              <a:rPr lang="en-US" sz="2000" dirty="0"/>
              <a:t> Khoa </a:t>
            </a:r>
            <a:r>
              <a:rPr lang="en-US" sz="2000" err="1"/>
              <a:t>học</a:t>
            </a:r>
            <a:r>
              <a:rPr lang="en-US" sz="2000" dirty="0"/>
              <a:t> </a:t>
            </a:r>
            <a:r>
              <a:rPr lang="en-US" sz="2000" err="1"/>
              <a:t>máy</a:t>
            </a:r>
            <a:r>
              <a:rPr lang="en-US" sz="2000" dirty="0"/>
              <a:t> </a:t>
            </a:r>
            <a:r>
              <a:rPr lang="en-US" sz="2000" err="1"/>
              <a:t>tính</a:t>
            </a:r>
            <a:endParaRPr lang="en-US" sz="2000"/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err="1"/>
              <a:t>Tạo</a:t>
            </a:r>
            <a:r>
              <a:rPr lang="en-US" sz="2000" dirty="0"/>
              <a:t> </a:t>
            </a:r>
            <a:r>
              <a:rPr lang="en-US" sz="2000" err="1"/>
              <a:t>ra</a:t>
            </a:r>
            <a:r>
              <a:rPr lang="en-US" sz="2000" dirty="0"/>
              <a:t> </a:t>
            </a:r>
            <a:r>
              <a:rPr lang="en-US" sz="2000" err="1"/>
              <a:t>những</a:t>
            </a:r>
            <a:r>
              <a:rPr lang="en-US" sz="2000" dirty="0"/>
              <a:t> </a:t>
            </a:r>
            <a:r>
              <a:rPr lang="en-US" sz="2000" err="1"/>
              <a:t>hệ</a:t>
            </a:r>
            <a:r>
              <a:rPr lang="en-US" sz="2000" dirty="0"/>
              <a:t> </a:t>
            </a:r>
            <a:r>
              <a:rPr lang="en-US" sz="2000" err="1"/>
              <a:t>thông</a:t>
            </a:r>
            <a:r>
              <a:rPr lang="en-US" sz="2000" dirty="0"/>
              <a:t> </a:t>
            </a:r>
            <a:r>
              <a:rPr lang="en-US" sz="2000" err="1"/>
              <a:t>hoặc</a:t>
            </a:r>
            <a:r>
              <a:rPr lang="en-US" sz="2000" dirty="0"/>
              <a:t> </a:t>
            </a:r>
            <a:r>
              <a:rPr lang="en-US" sz="2000" err="1"/>
              <a:t>máy</a:t>
            </a:r>
            <a:r>
              <a:rPr lang="en-US" sz="2000" dirty="0"/>
              <a:t> </a:t>
            </a:r>
            <a:r>
              <a:rPr lang="en-US" sz="2000" err="1"/>
              <a:t>móc</a:t>
            </a:r>
            <a:r>
              <a:rPr lang="en-US" sz="2000" dirty="0"/>
              <a:t> </a:t>
            </a:r>
            <a:r>
              <a:rPr lang="en-US" sz="2000" err="1"/>
              <a:t>mô</a:t>
            </a:r>
            <a:r>
              <a:rPr lang="en-US" sz="2000" dirty="0"/>
              <a:t> </a:t>
            </a:r>
            <a:r>
              <a:rPr lang="en-US" sz="2000" err="1"/>
              <a:t>phỏng</a:t>
            </a:r>
            <a:r>
              <a:rPr lang="en-US" sz="2000" dirty="0"/>
              <a:t> </a:t>
            </a:r>
            <a:r>
              <a:rPr lang="en-US" sz="2000" err="1"/>
              <a:t>trí</a:t>
            </a:r>
            <a:r>
              <a:rPr lang="en-US" sz="2000" dirty="0"/>
              <a:t> </a:t>
            </a:r>
            <a:r>
              <a:rPr lang="en-US" sz="2000" err="1"/>
              <a:t>thông</a:t>
            </a:r>
            <a:r>
              <a:rPr lang="en-US" sz="2000" dirty="0"/>
              <a:t> </a:t>
            </a:r>
            <a:r>
              <a:rPr lang="en-US" sz="2000" err="1"/>
              <a:t>minh</a:t>
            </a:r>
            <a:r>
              <a:rPr lang="en-US" sz="2000" dirty="0"/>
              <a:t> con </a:t>
            </a:r>
            <a:r>
              <a:rPr lang="en-US" sz="2000" err="1"/>
              <a:t>người</a:t>
            </a:r>
            <a:r>
              <a:rPr lang="en-US" sz="2000" dirty="0"/>
              <a:t> </a:t>
            </a:r>
            <a:r>
              <a:rPr lang="en-US" sz="2000" err="1"/>
              <a:t>nhằm</a:t>
            </a:r>
            <a:r>
              <a:rPr lang="en-US" sz="2000" dirty="0"/>
              <a:t> </a:t>
            </a:r>
            <a:r>
              <a:rPr lang="en-US" sz="2000" err="1"/>
              <a:t>thực</a:t>
            </a:r>
            <a:r>
              <a:rPr lang="en-US" sz="2000" dirty="0"/>
              <a:t> </a:t>
            </a:r>
            <a:r>
              <a:rPr lang="en-US" sz="2000" err="1"/>
              <a:t>hiện</a:t>
            </a:r>
            <a:r>
              <a:rPr lang="en-US" sz="2000" dirty="0"/>
              <a:t> </a:t>
            </a:r>
            <a:r>
              <a:rPr lang="en-US" sz="2000" err="1"/>
              <a:t>các</a:t>
            </a:r>
            <a:r>
              <a:rPr lang="en-US" sz="2000" dirty="0"/>
              <a:t> </a:t>
            </a:r>
            <a:r>
              <a:rPr lang="en-US" sz="2000" err="1"/>
              <a:t>tác</a:t>
            </a:r>
            <a:r>
              <a:rPr lang="en-US" sz="2000" dirty="0"/>
              <a:t> </a:t>
            </a:r>
            <a:r>
              <a:rPr lang="en-US" sz="2000" err="1"/>
              <a:t>vụ</a:t>
            </a:r>
            <a:r>
              <a:rPr lang="en-US" sz="2000" dirty="0"/>
              <a:t> </a:t>
            </a:r>
            <a:r>
              <a:rPr lang="en-US" sz="2000" err="1"/>
              <a:t>hằng</a:t>
            </a:r>
            <a:r>
              <a:rPr lang="en-US" sz="2000" dirty="0"/>
              <a:t> </a:t>
            </a:r>
            <a:r>
              <a:rPr lang="en-US" sz="2000" err="1"/>
              <a:t>ngày</a:t>
            </a:r>
            <a:endParaRPr lang="en-US" sz="200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US" sz="200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C9FAB1-89CC-E01D-760E-F13955929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723524"/>
            <a:ext cx="4985785" cy="56411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100" dirty="0"/>
              <a:t>Các </a:t>
            </a:r>
            <a:r>
              <a:rPr lang="en-US" sz="2100" dirty="0" err="1"/>
              <a:t>lĩnh</a:t>
            </a:r>
            <a:r>
              <a:rPr lang="en-US" sz="2100" dirty="0"/>
              <a:t> </a:t>
            </a:r>
            <a:r>
              <a:rPr lang="en-US" sz="2100" dirty="0" err="1"/>
              <a:t>vực</a:t>
            </a:r>
            <a:r>
              <a:rPr lang="en-US" sz="2100" dirty="0"/>
              <a:t> </a:t>
            </a:r>
            <a:r>
              <a:rPr lang="en-US" sz="2100" dirty="0" err="1"/>
              <a:t>trong</a:t>
            </a:r>
            <a:r>
              <a:rPr lang="en-US" sz="2100" dirty="0"/>
              <a:t> AI: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Machine Learning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Deep Learning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Natural Language Processing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Computer Vision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Robotics</a:t>
            </a: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endParaRPr lang="en-US" sz="21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100" err="1"/>
              <a:t>Ứng</a:t>
            </a:r>
            <a:r>
              <a:rPr lang="en-US" sz="2100"/>
              <a:t> </a:t>
            </a:r>
            <a:r>
              <a:rPr lang="en-US" sz="2100" err="1"/>
              <a:t>dụng</a:t>
            </a:r>
            <a:r>
              <a:rPr lang="en-US" sz="2100"/>
              <a:t> AI </a:t>
            </a:r>
            <a:r>
              <a:rPr lang="en-US" sz="2100" err="1"/>
              <a:t>trong</a:t>
            </a:r>
            <a:r>
              <a:rPr lang="en-US" sz="2100"/>
              <a:t> </a:t>
            </a:r>
            <a:r>
              <a:rPr lang="en-US" sz="2100" err="1"/>
              <a:t>thực</a:t>
            </a:r>
            <a:r>
              <a:rPr lang="en-US" sz="2100"/>
              <a:t> </a:t>
            </a:r>
            <a:r>
              <a:rPr lang="en-US" sz="2100" err="1"/>
              <a:t>tế</a:t>
            </a:r>
            <a:r>
              <a:rPr lang="en-US" sz="2100"/>
              <a:t>:</a:t>
            </a:r>
            <a:endParaRPr lang="en-US" sz="210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Y </a:t>
            </a:r>
            <a:r>
              <a:rPr lang="en-US" sz="2100" dirty="0" err="1"/>
              <a:t>tế</a:t>
            </a:r>
            <a:r>
              <a:rPr lang="en-US" sz="2100" dirty="0"/>
              <a:t>: </a:t>
            </a:r>
            <a:r>
              <a:rPr lang="en-US" sz="2100" dirty="0" err="1"/>
              <a:t>Chuẩn</a:t>
            </a:r>
            <a:r>
              <a:rPr lang="en-US" sz="2100" dirty="0"/>
              <a:t> </a:t>
            </a:r>
            <a:r>
              <a:rPr lang="en-US" sz="2100" dirty="0" err="1"/>
              <a:t>đoán</a:t>
            </a:r>
            <a:r>
              <a:rPr lang="en-US" sz="2100" dirty="0"/>
              <a:t> </a:t>
            </a:r>
            <a:r>
              <a:rPr lang="en-US" sz="2100" dirty="0" err="1"/>
              <a:t>bệnh</a:t>
            </a:r>
            <a:r>
              <a:rPr lang="en-US" sz="2100" dirty="0"/>
              <a:t>,…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 err="1"/>
              <a:t>Giáo</a:t>
            </a:r>
            <a:r>
              <a:rPr lang="en-US" sz="2100" dirty="0"/>
              <a:t> </a:t>
            </a:r>
            <a:r>
              <a:rPr lang="en-US" sz="2100" dirty="0" err="1"/>
              <a:t>dục</a:t>
            </a:r>
            <a:r>
              <a:rPr lang="en-US" sz="2100" dirty="0"/>
              <a:t>: </a:t>
            </a:r>
            <a:r>
              <a:rPr lang="en-US" sz="2100" dirty="0" err="1"/>
              <a:t>Tự</a:t>
            </a:r>
            <a:r>
              <a:rPr lang="en-US" sz="2100" dirty="0"/>
              <a:t> </a:t>
            </a:r>
            <a:r>
              <a:rPr lang="en-US" sz="2100" dirty="0" err="1"/>
              <a:t>động</a:t>
            </a:r>
            <a:r>
              <a:rPr lang="en-US" sz="2100" dirty="0"/>
              <a:t> </a:t>
            </a:r>
            <a:r>
              <a:rPr lang="en-US" sz="2100" dirty="0" err="1"/>
              <a:t>đánh</a:t>
            </a:r>
            <a:r>
              <a:rPr lang="en-US" sz="2100" dirty="0"/>
              <a:t> </a:t>
            </a:r>
            <a:r>
              <a:rPr lang="en-US" sz="2100" dirty="0" err="1"/>
              <a:t>giá</a:t>
            </a:r>
            <a:r>
              <a:rPr lang="en-US" sz="2100" dirty="0"/>
              <a:t> </a:t>
            </a:r>
            <a:r>
              <a:rPr lang="en-US" sz="2100" dirty="0" err="1"/>
              <a:t>năng</a:t>
            </a:r>
            <a:r>
              <a:rPr lang="en-US" sz="2100" dirty="0"/>
              <a:t> </a:t>
            </a:r>
            <a:r>
              <a:rPr lang="en-US" sz="2100" dirty="0" err="1"/>
              <a:t>lực</a:t>
            </a:r>
            <a:r>
              <a:rPr lang="en-US" sz="2100" dirty="0"/>
              <a:t>,..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Giao </a:t>
            </a:r>
            <a:r>
              <a:rPr lang="en-US" sz="2100" dirty="0" err="1"/>
              <a:t>thông</a:t>
            </a:r>
            <a:r>
              <a:rPr lang="en-US" sz="2100" dirty="0"/>
              <a:t>: Xe tự lái,…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5281-4E8E-3D85-9313-F10131D2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E619-62BF-4CD8-9633-3D2A74EEA389}" type="datetime1"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BD06A-EA45-21A2-C65B-726CA995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3C6E8-0F03-9BA1-F083-AE5FA151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2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BF9E-B426-86E6-68A6-62B9DD67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4C47-C713-20EE-7097-212DDAD4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636450"/>
          </a:xfrm>
        </p:spPr>
        <p:txBody>
          <a:bodyPr/>
          <a:lstStyle/>
          <a:p>
            <a:r>
              <a:rPr lang="en-US" b="1" dirty="0">
                <a:latin typeface="Aptos"/>
              </a:rPr>
              <a:t>1, </a:t>
            </a:r>
            <a:r>
              <a:rPr lang="en-US" b="1" err="1">
                <a:latin typeface="Aptos"/>
              </a:rPr>
              <a:t>Nội</a:t>
            </a:r>
            <a:r>
              <a:rPr lang="en-US" b="1" dirty="0">
                <a:latin typeface="Aptos"/>
              </a:rPr>
              <a:t> dung </a:t>
            </a:r>
            <a:r>
              <a:rPr lang="en-US" b="1" err="1">
                <a:latin typeface="Aptos"/>
              </a:rPr>
              <a:t>về</a:t>
            </a:r>
            <a:r>
              <a:rPr lang="en-US" b="1" dirty="0">
                <a:latin typeface="Aptos"/>
              </a:rPr>
              <a:t> AI: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59EB-5296-1E92-1B4E-6D4D857F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1375089"/>
            <a:ext cx="4977453" cy="28803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60000"/>
              </a:lnSpc>
              <a:buFont typeface="Calibri" panose="020B0604020202020204" pitchFamily="34" charset="0"/>
              <a:buChar char="-"/>
            </a:pPr>
            <a:r>
              <a:rPr lang="en-US" sz="2000" err="1"/>
              <a:t>Khái</a:t>
            </a:r>
            <a:r>
              <a:rPr lang="en-US" sz="2000" dirty="0"/>
              <a:t> </a:t>
            </a:r>
            <a:r>
              <a:rPr lang="en-US" sz="2000" err="1"/>
              <a:t>niệm</a:t>
            </a:r>
            <a:r>
              <a:rPr lang="en-US" sz="2000" dirty="0"/>
              <a:t> </a:t>
            </a:r>
            <a:r>
              <a:rPr lang="en-US" sz="2000" err="1"/>
              <a:t>về</a:t>
            </a:r>
            <a:r>
              <a:rPr lang="en-US" sz="2000" dirty="0"/>
              <a:t> Data:</a:t>
            </a:r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dirty="0"/>
              <a:t>Data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thô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lấy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giới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endParaRPr lang="en-US" sz="2000" dirty="0"/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dirty="0"/>
              <a:t>Trong AI, Data </a:t>
            </a:r>
            <a:r>
              <a:rPr lang="en-US" sz="2000" err="1"/>
              <a:t>được</a:t>
            </a:r>
            <a:r>
              <a:rPr lang="en-US" sz="2000" dirty="0"/>
              <a:t> </a:t>
            </a:r>
            <a:r>
              <a:rPr lang="en-US" sz="2000" err="1"/>
              <a:t>kĩ</a:t>
            </a:r>
            <a:r>
              <a:rPr lang="en-US" sz="2000" dirty="0"/>
              <a:t> </a:t>
            </a:r>
            <a:r>
              <a:rPr lang="en-US" sz="2000" err="1"/>
              <a:t>thuật</a:t>
            </a:r>
            <a:r>
              <a:rPr lang="en-US" sz="2000" dirty="0"/>
              <a:t> </a:t>
            </a:r>
            <a:r>
              <a:rPr lang="en-US" sz="2000" err="1"/>
              <a:t>số</a:t>
            </a:r>
            <a:r>
              <a:rPr lang="en-US" sz="2000" dirty="0"/>
              <a:t> </a:t>
            </a:r>
            <a:r>
              <a:rPr lang="en-US" sz="2000" err="1"/>
              <a:t>hoá</a:t>
            </a:r>
            <a:r>
              <a:rPr lang="en-US" sz="2000" dirty="0"/>
              <a:t> </a:t>
            </a:r>
            <a:r>
              <a:rPr lang="en-US" sz="2000" err="1"/>
              <a:t>để</a:t>
            </a:r>
            <a:r>
              <a:rPr lang="en-US" sz="2000" dirty="0"/>
              <a:t> </a:t>
            </a:r>
            <a:r>
              <a:rPr lang="en-US" sz="2000" err="1"/>
              <a:t>máy</a:t>
            </a:r>
            <a:r>
              <a:rPr lang="en-US" sz="2000" dirty="0"/>
              <a:t> </a:t>
            </a:r>
            <a:r>
              <a:rPr lang="en-US" sz="2000" err="1"/>
              <a:t>tính</a:t>
            </a:r>
            <a:r>
              <a:rPr lang="en-US" sz="2000" dirty="0"/>
              <a:t> </a:t>
            </a:r>
            <a:r>
              <a:rPr lang="en-US" sz="2000" err="1"/>
              <a:t>có</a:t>
            </a:r>
            <a:r>
              <a:rPr lang="en-US" sz="2000" dirty="0"/>
              <a:t> </a:t>
            </a:r>
            <a:r>
              <a:rPr lang="en-US" sz="2000" err="1"/>
              <a:t>thể</a:t>
            </a:r>
            <a:r>
              <a:rPr lang="en-US" sz="2000" dirty="0"/>
              <a:t> </a:t>
            </a:r>
            <a:r>
              <a:rPr lang="en-US" sz="2000" err="1"/>
              <a:t>đọc</a:t>
            </a:r>
            <a:r>
              <a:rPr lang="en-US" sz="2000" dirty="0"/>
              <a:t> </a:t>
            </a:r>
            <a:r>
              <a:rPr lang="en-US" sz="2000" err="1"/>
              <a:t>được</a:t>
            </a:r>
            <a:r>
              <a:rPr lang="en-US" sz="2000" dirty="0"/>
              <a:t>.</a:t>
            </a:r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endParaRPr lang="en-US" sz="200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US" sz="200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3CAEB7-A986-841A-820A-08CFC74E8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1375089"/>
            <a:ext cx="4985785" cy="33110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100" dirty="0" err="1"/>
              <a:t>Tại</a:t>
            </a:r>
            <a:r>
              <a:rPr lang="en-US" sz="2100" dirty="0"/>
              <a:t> </a:t>
            </a:r>
            <a:r>
              <a:rPr lang="en-US" sz="2100" dirty="0" err="1"/>
              <a:t>sao</a:t>
            </a:r>
            <a:r>
              <a:rPr lang="en-US" sz="2100" dirty="0"/>
              <a:t> </a:t>
            </a:r>
            <a:r>
              <a:rPr lang="en-US" sz="2100" dirty="0" err="1"/>
              <a:t>Dữ</a:t>
            </a:r>
            <a:r>
              <a:rPr lang="en-US" sz="2100" dirty="0"/>
              <a:t> </a:t>
            </a:r>
            <a:r>
              <a:rPr lang="en-US" sz="2100" dirty="0" err="1"/>
              <a:t>liệu</a:t>
            </a:r>
            <a:r>
              <a:rPr lang="en-US" sz="2100" dirty="0"/>
              <a:t> </a:t>
            </a:r>
            <a:r>
              <a:rPr lang="en-US" sz="2100" dirty="0" err="1"/>
              <a:t>lại</a:t>
            </a:r>
            <a:r>
              <a:rPr lang="en-US" sz="2100" dirty="0"/>
              <a:t> </a:t>
            </a:r>
            <a:r>
              <a:rPr lang="en-US" sz="2100" dirty="0" err="1"/>
              <a:t>quan</a:t>
            </a:r>
            <a:r>
              <a:rPr lang="en-US" sz="2100" dirty="0"/>
              <a:t> </a:t>
            </a:r>
            <a:r>
              <a:rPr lang="en-US" sz="2100" dirty="0" err="1"/>
              <a:t>trọng</a:t>
            </a:r>
            <a:r>
              <a:rPr lang="en-US" sz="2100" dirty="0"/>
              <a:t> </a:t>
            </a:r>
            <a:r>
              <a:rPr lang="en-US" sz="2100" dirty="0" err="1"/>
              <a:t>trong</a:t>
            </a:r>
            <a:r>
              <a:rPr lang="en-US" sz="2100" dirty="0"/>
              <a:t> AI:</a:t>
            </a:r>
            <a:endParaRPr lang="en-US" sz="2100" dirty="0">
              <a:solidFill>
                <a:srgbClr val="35403A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Data </a:t>
            </a:r>
            <a:r>
              <a:rPr lang="en-US" sz="2100" err="1"/>
              <a:t>được</a:t>
            </a:r>
            <a:r>
              <a:rPr lang="en-US" sz="2100" dirty="0"/>
              <a:t> </a:t>
            </a:r>
            <a:r>
              <a:rPr lang="en-US" sz="2100" err="1"/>
              <a:t>ví</a:t>
            </a:r>
            <a:r>
              <a:rPr lang="en-US" sz="2100" dirty="0"/>
              <a:t> </a:t>
            </a:r>
            <a:r>
              <a:rPr lang="en-US" sz="2100" err="1"/>
              <a:t>như</a:t>
            </a:r>
            <a:r>
              <a:rPr lang="en-US" sz="2100" dirty="0"/>
              <a:t>  "</a:t>
            </a:r>
            <a:r>
              <a:rPr lang="en-US" sz="2100" err="1"/>
              <a:t>nhiên</a:t>
            </a:r>
            <a:r>
              <a:rPr lang="en-US" sz="2100" dirty="0"/>
              <a:t> </a:t>
            </a:r>
            <a:r>
              <a:rPr lang="en-US" sz="2100" err="1"/>
              <a:t>liệu</a:t>
            </a:r>
            <a:r>
              <a:rPr lang="en-US" sz="2100" dirty="0"/>
              <a:t>" </a:t>
            </a:r>
            <a:r>
              <a:rPr lang="en-US" sz="2100" err="1"/>
              <a:t>cho</a:t>
            </a:r>
            <a:r>
              <a:rPr lang="en-US" sz="2100" dirty="0"/>
              <a:t> "</a:t>
            </a:r>
            <a:r>
              <a:rPr lang="en-US" sz="2100" err="1"/>
              <a:t>động</a:t>
            </a:r>
            <a:r>
              <a:rPr lang="en-US" sz="2100" dirty="0"/>
              <a:t> </a:t>
            </a:r>
            <a:r>
              <a:rPr lang="en-US" sz="2100" err="1"/>
              <a:t>cơ</a:t>
            </a:r>
            <a:r>
              <a:rPr lang="en-US" sz="2100" dirty="0"/>
              <a:t>" AI, </a:t>
            </a:r>
            <a:r>
              <a:rPr lang="en-US" sz="2100" err="1"/>
              <a:t>vì</a:t>
            </a:r>
            <a:r>
              <a:rPr lang="en-US" sz="2100" dirty="0"/>
              <a:t> </a:t>
            </a:r>
            <a:r>
              <a:rPr lang="en-US" sz="2100" err="1"/>
              <a:t>nó</a:t>
            </a:r>
            <a:r>
              <a:rPr lang="en-US" sz="2100" dirty="0"/>
              <a:t> </a:t>
            </a:r>
            <a:r>
              <a:rPr lang="en-US" sz="2100" err="1"/>
              <a:t>đóng</a:t>
            </a:r>
            <a:r>
              <a:rPr lang="en-US" sz="2100" dirty="0"/>
              <a:t> </a:t>
            </a:r>
            <a:r>
              <a:rPr lang="en-US" sz="2100" err="1"/>
              <a:t>vai</a:t>
            </a:r>
            <a:r>
              <a:rPr lang="en-US" sz="2100" dirty="0"/>
              <a:t> </a:t>
            </a:r>
            <a:r>
              <a:rPr lang="en-US" sz="2100" err="1"/>
              <a:t>trò</a:t>
            </a:r>
            <a:r>
              <a:rPr lang="en-US" sz="2100" dirty="0"/>
              <a:t> </a:t>
            </a:r>
            <a:r>
              <a:rPr lang="en-US" sz="2100" err="1"/>
              <a:t>quan</a:t>
            </a:r>
            <a:r>
              <a:rPr lang="en-US" sz="2100" dirty="0"/>
              <a:t> </a:t>
            </a:r>
            <a:r>
              <a:rPr lang="en-US" sz="2100" err="1"/>
              <a:t>trọng</a:t>
            </a:r>
            <a:r>
              <a:rPr lang="en-US" sz="2100" dirty="0"/>
              <a:t> </a:t>
            </a:r>
            <a:r>
              <a:rPr lang="en-US" sz="2100" err="1"/>
              <a:t>để</a:t>
            </a:r>
            <a:r>
              <a:rPr lang="en-US" sz="2100" dirty="0"/>
              <a:t> </a:t>
            </a:r>
            <a:r>
              <a:rPr lang="en-US" sz="2100" err="1"/>
              <a:t>tạo</a:t>
            </a:r>
            <a:r>
              <a:rPr lang="en-US" sz="2100" dirty="0"/>
              <a:t> </a:t>
            </a:r>
            <a:r>
              <a:rPr lang="en-US" sz="2100" err="1"/>
              <a:t>ra</a:t>
            </a:r>
            <a:r>
              <a:rPr lang="en-US" sz="2100"/>
              <a:t> AI.</a:t>
            </a:r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en-US" sz="1900" dirty="0"/>
              <a:t>Data </a:t>
            </a:r>
            <a:r>
              <a:rPr lang="en-US" sz="1900" err="1"/>
              <a:t>được</a:t>
            </a:r>
            <a:r>
              <a:rPr lang="en-US" sz="1900" dirty="0"/>
              <a:t> </a:t>
            </a:r>
            <a:r>
              <a:rPr lang="en-US" sz="1900" err="1"/>
              <a:t>dùng</a:t>
            </a:r>
            <a:r>
              <a:rPr lang="en-US" sz="1900" dirty="0"/>
              <a:t> </a:t>
            </a:r>
            <a:r>
              <a:rPr lang="en-US" sz="1900" err="1"/>
              <a:t>để</a:t>
            </a:r>
            <a:r>
              <a:rPr lang="en-US" sz="1900" dirty="0"/>
              <a:t> </a:t>
            </a:r>
            <a:r>
              <a:rPr lang="en-US" sz="1900" err="1"/>
              <a:t>Huấn</a:t>
            </a:r>
            <a:r>
              <a:rPr lang="en-US" sz="1900" dirty="0"/>
              <a:t> </a:t>
            </a:r>
            <a:r>
              <a:rPr lang="en-US" sz="1900" err="1"/>
              <a:t>luyện</a:t>
            </a:r>
            <a:r>
              <a:rPr lang="en-US" sz="1900" dirty="0"/>
              <a:t> </a:t>
            </a:r>
            <a:r>
              <a:rPr lang="en-US" sz="1900" err="1"/>
              <a:t>mô</a:t>
            </a:r>
            <a:r>
              <a:rPr lang="en-US" sz="1900" dirty="0"/>
              <a:t> </a:t>
            </a:r>
            <a:r>
              <a:rPr lang="en-US" sz="1900" err="1"/>
              <a:t>hình</a:t>
            </a:r>
            <a:r>
              <a:rPr lang="en-US" sz="1900" dirty="0"/>
              <a:t> AI</a:t>
            </a:r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en-US" sz="1900" dirty="0"/>
              <a:t>Data </a:t>
            </a:r>
            <a:r>
              <a:rPr lang="en-US" sz="1900" dirty="0" err="1"/>
              <a:t>cũng</a:t>
            </a:r>
            <a:r>
              <a:rPr lang="en-US" sz="1900" dirty="0"/>
              <a:t> </a:t>
            </a:r>
            <a:r>
              <a:rPr lang="en-US" sz="1900" dirty="0" err="1"/>
              <a:t>có</a:t>
            </a:r>
            <a:r>
              <a:rPr lang="en-US" sz="1900" dirty="0"/>
              <a:t> </a:t>
            </a:r>
            <a:r>
              <a:rPr lang="en-US" sz="1900" dirty="0" err="1"/>
              <a:t>thể</a:t>
            </a:r>
            <a:r>
              <a:rPr lang="en-US" sz="1900" dirty="0"/>
              <a:t> </a:t>
            </a:r>
            <a:r>
              <a:rPr lang="en-US" sz="1900" dirty="0" err="1"/>
              <a:t>tăng</a:t>
            </a:r>
            <a:r>
              <a:rPr lang="en-US" sz="1900" dirty="0"/>
              <a:t> </a:t>
            </a:r>
            <a:r>
              <a:rPr lang="en-US" sz="1900" dirty="0" err="1"/>
              <a:t>độ</a:t>
            </a:r>
            <a:r>
              <a:rPr lang="en-US" sz="1900" dirty="0"/>
              <a:t> </a:t>
            </a:r>
            <a:r>
              <a:rPr lang="en-US" sz="1900" dirty="0" err="1"/>
              <a:t>chính</a:t>
            </a:r>
            <a:r>
              <a:rPr lang="en-US" sz="1900" dirty="0"/>
              <a:t> </a:t>
            </a:r>
            <a:r>
              <a:rPr lang="en-US" sz="1900" dirty="0" err="1"/>
              <a:t>xác</a:t>
            </a:r>
            <a:r>
              <a:rPr lang="en-US" sz="1900" dirty="0"/>
              <a:t> </a:t>
            </a:r>
            <a:r>
              <a:rPr lang="en-US" sz="1900" dirty="0" err="1"/>
              <a:t>của</a:t>
            </a:r>
            <a:r>
              <a:rPr lang="en-US" sz="1900" dirty="0"/>
              <a:t> </a:t>
            </a:r>
            <a:r>
              <a:rPr lang="en-US" sz="1900" dirty="0" err="1"/>
              <a:t>mô</a:t>
            </a:r>
            <a:r>
              <a:rPr lang="en-US" sz="1900" dirty="0"/>
              <a:t> </a:t>
            </a:r>
            <a:r>
              <a:rPr lang="en-US" sz="1900" dirty="0" err="1"/>
              <a:t>hình</a:t>
            </a:r>
            <a:r>
              <a:rPr lang="en-US" sz="1900" dirty="0"/>
              <a:t> AI.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89C19-2223-70D7-F9BC-AA44DC1F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E619-62BF-4CD8-9633-3D2A74EEA389}" type="datetime1"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91382-21B1-618B-CEF9-41A72EBF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7D92D-21D4-24A0-0418-6E1B739C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7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51A7-BABE-6B07-85DE-DFA69AE6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916799" cy="6158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"/>
              </a:rPr>
              <a:t>3 </a:t>
            </a:r>
            <a:r>
              <a:rPr lang="en-US" b="1" dirty="0" err="1">
                <a:latin typeface="Aptos"/>
              </a:rPr>
              <a:t>loại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bài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toán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chính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trong</a:t>
            </a:r>
            <a:r>
              <a:rPr lang="en-US" b="1" dirty="0">
                <a:latin typeface="Aptos"/>
              </a:rPr>
              <a:t> Machine Learning</a:t>
            </a:r>
            <a:br>
              <a:rPr lang="en-US" b="1" dirty="0">
                <a:latin typeface="Aptos"/>
              </a:rPr>
            </a:br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6EBA857-6BA2-8EF2-A70F-893D4D0A8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05486"/>
              </p:ext>
            </p:extLst>
          </p:nvPr>
        </p:nvGraphicFramePr>
        <p:xfrm>
          <a:off x="5156338" y="300038"/>
          <a:ext cx="6793878" cy="64392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0145">
                  <a:extLst>
                    <a:ext uri="{9D8B030D-6E8A-4147-A177-3AD203B41FA5}">
                      <a16:colId xmlns:a16="http://schemas.microsoft.com/office/drawing/2014/main" val="2105669466"/>
                    </a:ext>
                  </a:extLst>
                </a:gridCol>
                <a:gridCol w="1959030">
                  <a:extLst>
                    <a:ext uri="{9D8B030D-6E8A-4147-A177-3AD203B41FA5}">
                      <a16:colId xmlns:a16="http://schemas.microsoft.com/office/drawing/2014/main" val="2510110220"/>
                    </a:ext>
                  </a:extLst>
                </a:gridCol>
                <a:gridCol w="1833575">
                  <a:extLst>
                    <a:ext uri="{9D8B030D-6E8A-4147-A177-3AD203B41FA5}">
                      <a16:colId xmlns:a16="http://schemas.microsoft.com/office/drawing/2014/main" val="869405043"/>
                    </a:ext>
                  </a:extLst>
                </a:gridCol>
                <a:gridCol w="1901128">
                  <a:extLst>
                    <a:ext uri="{9D8B030D-6E8A-4147-A177-3AD203B41FA5}">
                      <a16:colId xmlns:a16="http://schemas.microsoft.com/office/drawing/2014/main" val="1200418485"/>
                    </a:ext>
                  </a:extLst>
                </a:gridCol>
              </a:tblGrid>
              <a:tr h="60950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Tiêu chí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Học có giám sát (Supervised Learning)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Học không giám sát (Unsupervised Learning)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Học tăng cường (Reinforcement Learning)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737558"/>
                  </a:ext>
                </a:extLst>
              </a:tr>
              <a:tr h="51750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Định nghĩa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Máy học từ những dữ liệu đã được gán nhãn (có đáp án trước)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Máy học từ dữ liệu chưa được gán nhãn (không có đáp án mẫu)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Máy học từ tương tác với môi trường theo cơ chế “Đúng và sai"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150616"/>
                  </a:ext>
                </a:extLst>
              </a:tr>
              <a:tr h="51750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Dữ liệu đầu vào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Dữ liệu có cấu trúc kèm theo Kết quả.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Chỉ có dữ liệu đầu vào (input), không có nhãn (kết quả)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Trạng thái và Hoạt động trong môi trường cụ thể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382134"/>
                  </a:ext>
                </a:extLst>
              </a:tr>
              <a:tr h="51750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Mục tiêu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Dự đoán kết quả đầu ra cho dữ liệu mới hoặc phân loại dữ liệu.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Tìm ra cấu trúc ẩn, mô hình hoặc mối liên hệ bên trong dữ liệu.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Tìm ra chuỗi hành động tối ưu để có để đạt Phần thưởng tích luỹ tốt nhất.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0491"/>
                  </a:ext>
                </a:extLst>
              </a:tr>
              <a:tr h="65550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Phản hồi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Trực tiếp và cụ thể (Máy biết kết quả dự đoán đúng hay sai ngay lập tức)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Không có phản hồi cụ thể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Phản hồi dưới dạng Phần thưởng (Reward) và Hình phạt (Penalty) sau một loạt hành động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845106"/>
                  </a:ext>
                </a:extLst>
              </a:tr>
              <a:tr h="138000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Kỹ thuật học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Logistic Regression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Linear Regression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Decision Tree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Neural Network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Clustering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Association Rule Learning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Probability Density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Dimensionality Reduction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Value-Based Algorithms </a:t>
                      </a:r>
                      <a:endParaRPr lang="vi-VN">
                        <a:solidFill>
                          <a:srgbClr val="0F476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Policy-Based Algorithms </a:t>
                      </a:r>
                      <a:endParaRPr lang="vi-VN">
                        <a:solidFill>
                          <a:srgbClr val="0F476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216972"/>
                  </a:ext>
                </a:extLst>
              </a:tr>
              <a:tr h="109250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Ví dụ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Lọc thư rác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Nhận diện khuôn mặt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Chuẩn đoán y tế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Gợi ý sản phẩm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Tự động hoá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Robot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378154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62524-9273-0505-116B-B2ED9097C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9609"/>
            <a:ext cx="3938885" cy="44475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85750">
              <a:buFont typeface="Calibri" panose="020B0604020202020204" pitchFamily="34" charset="0"/>
              <a:buChar char="-"/>
            </a:pPr>
            <a:endParaRPr lang="vi-VN" sz="1400" dirty="0">
              <a:latin typeface="Aptos"/>
            </a:endParaRPr>
          </a:p>
          <a:p>
            <a:r>
              <a:rPr lang="en-US" sz="2000" dirty="0"/>
              <a:t>3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Machine Learning bao </a:t>
            </a:r>
            <a:r>
              <a:rPr lang="en-US" sz="2000" dirty="0" err="1"/>
              <a:t>gồm</a:t>
            </a:r>
            <a:r>
              <a:rPr lang="en-US" sz="2000" dirty="0"/>
              <a:t>: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1800" dirty="0"/>
              <a:t>Học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giám</a:t>
            </a:r>
            <a:r>
              <a:rPr lang="en-US" sz="1800" dirty="0"/>
              <a:t> </a:t>
            </a:r>
            <a:r>
              <a:rPr lang="en-US" sz="1800" dirty="0" err="1"/>
              <a:t>sát</a:t>
            </a:r>
            <a:r>
              <a:rPr lang="en-US" sz="1800" dirty="0"/>
              <a:t> (Supervised Learning)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1800" dirty="0"/>
              <a:t>Học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giám</a:t>
            </a:r>
            <a:r>
              <a:rPr lang="en-US" sz="1800" dirty="0"/>
              <a:t> </a:t>
            </a:r>
            <a:r>
              <a:rPr lang="en-US" sz="1800" dirty="0" err="1"/>
              <a:t>sát</a:t>
            </a:r>
            <a:r>
              <a:rPr lang="en-US" sz="1800" dirty="0"/>
              <a:t> (Unsupervised Learning)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1800" dirty="0"/>
              <a:t>Học </a:t>
            </a:r>
            <a:r>
              <a:rPr lang="en-US" sz="1800" dirty="0" err="1"/>
              <a:t>tăng</a:t>
            </a:r>
            <a:r>
              <a:rPr lang="en-US" sz="1800" dirty="0"/>
              <a:t> </a:t>
            </a:r>
            <a:r>
              <a:rPr lang="en-US" sz="1800" dirty="0" err="1"/>
              <a:t>cường</a:t>
            </a:r>
            <a:r>
              <a:rPr lang="en-US" sz="1800" dirty="0"/>
              <a:t> (Reinforcement Learning)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808FF-2102-D601-889E-259FE49C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5A5E-596E-4D39-93E0-463A1EECD54D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6658-43E8-7B94-FAD7-550537CF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2AD08-CA64-DDB0-0249-03A0DFBA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2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B9C2-F120-1032-715A-F6ABD368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F809-D5F3-7662-24A4-8E059A6C7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807867"/>
            <a:ext cx="6772835" cy="57268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NumPy:</a:t>
            </a:r>
          </a:p>
          <a:p>
            <a:r>
              <a:rPr lang="en-US" err="1"/>
              <a:t>Khái</a:t>
            </a:r>
            <a:r>
              <a:rPr lang="en-US" dirty="0"/>
              <a:t> </a:t>
            </a:r>
            <a:r>
              <a:rPr lang="en-US" err="1"/>
              <a:t>niệm</a:t>
            </a:r>
            <a:r>
              <a:rPr lang="en-US" dirty="0"/>
              <a:t> : </a:t>
            </a:r>
            <a:r>
              <a:rPr lang="en-US" dirty="0">
                <a:ea typeface="+mn-lt"/>
                <a:cs typeface="+mn-lt"/>
              </a:rPr>
              <a:t>Thư </a:t>
            </a:r>
            <a:r>
              <a:rPr lang="en-US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học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mạnh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 Python, </a:t>
            </a:r>
            <a:r>
              <a:rPr lang="en-US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phép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làm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việc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ma </a:t>
            </a:r>
            <a:r>
              <a:rPr lang="en-US" b="1" err="1">
                <a:ea typeface="+mn-lt"/>
                <a:cs typeface="+mn-lt"/>
              </a:rPr>
              <a:t>trận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mảng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đặc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biệt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lớn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 err="1">
                <a:ea typeface="+mn-lt"/>
                <a:cs typeface="+mn-lt"/>
              </a:rPr>
              <a:t>Khoảng</a:t>
            </a:r>
            <a:r>
              <a:rPr lang="en-US" dirty="0">
                <a:ea typeface="+mn-lt"/>
                <a:cs typeface="+mn-lt"/>
              </a:rPr>
              <a:t> 2005 (</a:t>
            </a:r>
            <a:r>
              <a:rPr lang="en-US" dirty="0" err="1">
                <a:ea typeface="+mn-lt"/>
                <a:cs typeface="+mn-lt"/>
              </a:rPr>
              <a:t>kế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thừa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từ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Numeric).</a:t>
            </a:r>
          </a:p>
          <a:p>
            <a:r>
              <a:rPr lang="en-US" err="1"/>
              <a:t>Người</a:t>
            </a:r>
            <a:r>
              <a:rPr lang="en-US" dirty="0"/>
              <a:t> </a:t>
            </a:r>
            <a:r>
              <a:rPr lang="en-US" err="1"/>
              <a:t>sáng</a:t>
            </a:r>
            <a:r>
              <a:rPr lang="en-US" dirty="0"/>
              <a:t> </a:t>
            </a:r>
            <a:r>
              <a:rPr lang="en-US" err="1"/>
              <a:t>lập</a:t>
            </a:r>
            <a:r>
              <a:rPr lang="en-US" dirty="0"/>
              <a:t> : Travis </a:t>
            </a:r>
            <a:r>
              <a:rPr lang="en-US" err="1"/>
              <a:t>Oliplant</a:t>
            </a:r>
            <a:endParaRPr lang="en-US"/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Tiết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kiệm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bộ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nhớ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tiện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lợi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mạnh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dạng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err="1"/>
              <a:t>Nhược</a:t>
            </a:r>
            <a:r>
              <a:rPr lang="en-US" dirty="0"/>
              <a:t> </a:t>
            </a:r>
            <a:r>
              <a:rPr lang="en-US" err="1"/>
              <a:t>điểm</a:t>
            </a:r>
            <a:r>
              <a:rPr lang="en-US"/>
              <a:t>: </a:t>
            </a:r>
            <a:r>
              <a:rPr lang="en-US" err="1">
                <a:ea typeface="+mn-lt"/>
                <a:cs typeface="+mn-lt"/>
              </a:rPr>
              <a:t>Không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hỗ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trợ</a:t>
            </a:r>
            <a:r>
              <a:rPr lang="en-US">
                <a:ea typeface="+mn-lt"/>
                <a:cs typeface="+mn-lt"/>
              </a:rPr>
              <a:t> GPU, </a:t>
            </a:r>
            <a:r>
              <a:rPr lang="en-US" err="1">
                <a:ea typeface="+mn-lt"/>
                <a:cs typeface="+mn-lt"/>
              </a:rPr>
              <a:t>khó</a:t>
            </a:r>
            <a:r>
              <a:rPr lang="en-US">
                <a:ea typeface="+mn-lt"/>
                <a:cs typeface="+mn-lt"/>
              </a:rPr>
              <a:t> cho người mới bắt đầu, không tối ưu cho </a:t>
            </a:r>
            <a:r>
              <a:rPr lang="en-US" err="1">
                <a:ea typeface="+mn-lt"/>
                <a:cs typeface="+mn-lt"/>
              </a:rPr>
              <a:t>mọi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ứng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dụng</a:t>
            </a:r>
            <a:r>
              <a:rPr lang="en-US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947CE-66C3-70EC-AB98-F288C3864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Matloblib</a:t>
            </a:r>
            <a:endParaRPr lang="en-US" sz="24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Pytorch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8807D-DA73-F1BD-436D-6C0EC4C0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B876F-FF5A-E98E-7137-EF9B19E9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554BA-E06D-D7BA-3035-63A67AD3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BAA8-50FF-4077-27B9-6F7BA291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0BB9-F0FD-7551-5A7B-644B27F9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7D937-8A84-D85B-8175-E9C937463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443433"/>
            <a:ext cx="6772835" cy="626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Pandas: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:</a:t>
            </a:r>
            <a:r>
              <a:rPr lang="en-US" dirty="0">
                <a:ea typeface="+mn-lt"/>
                <a:cs typeface="+mn-lt"/>
              </a:rPr>
              <a:t> Thư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nguồn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mở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xây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dựa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trên</a:t>
            </a:r>
            <a:r>
              <a:rPr lang="en-US" dirty="0">
                <a:ea typeface="+mn-lt"/>
                <a:cs typeface="+mn-lt"/>
              </a:rPr>
              <a:t> NumPy,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thao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tác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phân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tích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dữ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gắn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nhãn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).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2008 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: Wes McKinney</a:t>
            </a:r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Tốc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độ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xử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lý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hiệu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suất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cao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tốt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thái</a:t>
            </a:r>
            <a:r>
              <a:rPr lang="en-US" dirty="0">
                <a:ea typeface="+mn-lt"/>
                <a:cs typeface="+mn-lt"/>
              </a:rPr>
              <a:t> Python.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Hiệu </a:t>
            </a:r>
            <a:r>
              <a:rPr lang="en-US" dirty="0" err="1">
                <a:ea typeface="+mn-lt"/>
                <a:cs typeface="+mn-lt"/>
              </a:rPr>
              <a:t>suất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kém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tập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lớn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ngốn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bộ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nhớ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 song </a:t>
            </a:r>
            <a:r>
              <a:rPr lang="en-US" dirty="0" err="1">
                <a:ea typeface="+mn-lt"/>
                <a:cs typeface="+mn-lt"/>
              </a:rPr>
              <a:t>song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70B12-B3B1-AFCD-D5E1-FBCCAB255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Matloblib</a:t>
            </a:r>
            <a:endParaRPr lang="en-US" sz="24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Pytorch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A90BE-240E-DA6A-28EB-DE77CEFC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E8DF3-6474-64FA-DB32-3FFB895D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A9EAE-2086-E83B-900C-71D29A97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4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CF9D-3444-5489-D512-BF9866B2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3F73-5EBF-4B9A-72D9-1DD9A03F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189C-F9BC-0006-88B0-31CB1C027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443433"/>
            <a:ext cx="6772835" cy="626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Matloblib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:</a:t>
            </a:r>
            <a:r>
              <a:rPr lang="en-US" dirty="0">
                <a:ea typeface="+mn-lt"/>
                <a:cs typeface="+mn-lt"/>
              </a:rPr>
              <a:t> Thư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đồ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mạnh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thực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luận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thống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kê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cần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thiết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trực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quan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hoá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dữ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2002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: </a:t>
            </a:r>
            <a:r>
              <a:rPr lang="en-US" dirty="0">
                <a:ea typeface="+mn-lt"/>
                <a:cs typeface="+mn-lt"/>
              </a:rPr>
              <a:t>John D. Hunter (</a:t>
            </a:r>
            <a:r>
              <a:rPr lang="en-US" dirty="0" err="1">
                <a:ea typeface="+mn-lt"/>
                <a:cs typeface="+mn-lt"/>
              </a:rPr>
              <a:t>người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khởi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xướng</a:t>
            </a:r>
            <a:r>
              <a:rPr lang="en-US" dirty="0">
                <a:ea typeface="+mn-lt"/>
                <a:cs typeface="+mn-lt"/>
              </a:rPr>
              <a:t> ban </a:t>
            </a:r>
            <a:r>
              <a:rPr lang="en-US" dirty="0" err="1">
                <a:ea typeface="+mn-lt"/>
                <a:cs typeface="+mn-lt"/>
              </a:rPr>
              <a:t>đầu</a:t>
            </a:r>
            <a:r>
              <a:rPr lang="en-US" dirty="0">
                <a:ea typeface="+mn-lt"/>
                <a:cs typeface="+mn-lt"/>
              </a:rPr>
              <a:t>).</a:t>
            </a:r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Dễ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dụng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dễ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học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khả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năng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biến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tốt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dạng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  <a:r>
              <a:rPr lang="en-US" dirty="0">
                <a:ea typeface="+mn-lt"/>
                <a:cs typeface="+mn-lt"/>
              </a:rPr>
              <a:t> Cú </a:t>
            </a:r>
            <a:r>
              <a:rPr lang="en-US" dirty="0" err="1">
                <a:ea typeface="+mn-lt"/>
                <a:cs typeface="+mn-lt"/>
              </a:rPr>
              <a:t>pháp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phức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tạp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tốn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chỉnh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giao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diện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khô</a:t>
            </a:r>
            <a:r>
              <a:rPr lang="en-US" dirty="0">
                <a:ea typeface="+mn-lt"/>
                <a:cs typeface="+mn-lt"/>
              </a:rPr>
              <a:t>".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E0453-2AEC-EA2E-6C01-73CCF4C29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 err="1"/>
              <a:t>Matloblib</a:t>
            </a:r>
            <a:endParaRPr lang="en-US" sz="2400" b="1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Pytorch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0E07D-BDD9-8E7B-ECB2-57972008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0730C-D137-E89D-6B9F-53A0FC94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B35EB-9E07-2AF0-D989-04FA39D0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91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77B3-2858-6B7A-F1AB-02B722EA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5D9F-B536-4D24-F128-435742C1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91E8B-A425-D391-7B71-5630AED2E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443433"/>
            <a:ext cx="6772835" cy="626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Pytorch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:</a:t>
            </a:r>
            <a:r>
              <a:rPr lang="en-US" dirty="0">
                <a:ea typeface="+mn-lt"/>
                <a:cs typeface="+mn-lt"/>
              </a:rPr>
              <a:t> Thư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nguồn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mở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Machine Learning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Deep Learning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rộng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rãi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Thị </a:t>
            </a:r>
            <a:r>
              <a:rPr lang="en-US" b="1" dirty="0" err="1">
                <a:ea typeface="+mn-lt"/>
                <a:cs typeface="+mn-lt"/>
              </a:rPr>
              <a:t>giác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máy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Xử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lý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ngôn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ngữ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tự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nhiên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2016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: </a:t>
            </a:r>
            <a:r>
              <a:rPr lang="en-US" dirty="0">
                <a:ea typeface="+mn-lt"/>
                <a:cs typeface="+mn-lt"/>
              </a:rPr>
              <a:t>Meta AI </a:t>
            </a:r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Kiến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trúc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đồ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thị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tính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toán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động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linh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hoạt</a:t>
            </a:r>
            <a:r>
              <a:rPr lang="en-US" dirty="0">
                <a:ea typeface="+mn-lt"/>
                <a:cs typeface="+mn-lt"/>
              </a:rPr>
              <a:t>), </a:t>
            </a:r>
            <a:r>
              <a:rPr lang="en-US" dirty="0" err="1">
                <a:ea typeface="+mn-lt"/>
                <a:cs typeface="+mn-lt"/>
              </a:rPr>
              <a:t>tài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phú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gỡ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lỗi</a:t>
            </a:r>
            <a:r>
              <a:rPr lang="en-US" dirty="0">
                <a:ea typeface="+mn-lt"/>
                <a:cs typeface="+mn-lt"/>
              </a:rPr>
              <a:t> (Debugging) </a:t>
            </a:r>
            <a:r>
              <a:rPr lang="en-US" dirty="0" err="1">
                <a:ea typeface="+mn-lt"/>
                <a:cs typeface="+mn-lt"/>
              </a:rPr>
              <a:t>dễ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dàng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Thiếu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trực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cộng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đồng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triển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còn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chế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khá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mẻ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135CB-870A-5BCC-D19B-E63584623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Matloblib</a:t>
            </a:r>
            <a:endParaRPr lang="en-US" sz="24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 err="1"/>
              <a:t>Pytorch</a:t>
            </a:r>
            <a:endParaRPr lang="en-US" sz="2400" b="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EC829-5AC7-3651-108A-0C9481B6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C6D24-F36A-E779-B85A-A7F761E9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A61EC-84F9-F9FE-41D5-4D1B1092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0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CC7-88CE-24A6-6CDC-006C3EE24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656328"/>
          </a:xfrm>
        </p:spPr>
        <p:txBody>
          <a:bodyPr/>
          <a:lstStyle/>
          <a:p>
            <a:r>
              <a:rPr lang="en-US" b="1" err="1">
                <a:latin typeface="Aptos"/>
              </a:rPr>
              <a:t>Nguồn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dữ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liệu</a:t>
            </a:r>
            <a:r>
              <a:rPr lang="en-US" b="1" dirty="0">
                <a:latin typeface="Aptos"/>
              </a:rPr>
              <a:t> (Data 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8F96F-3F90-1F0F-24F0-EE25CA0B9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493956"/>
            <a:ext cx="10442448" cy="3751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Kaggle</a:t>
            </a:r>
          </a:p>
          <a:p>
            <a:r>
              <a:rPr lang="en-US" sz="2000" b="1" dirty="0" err="1">
                <a:ea typeface="+mn-lt"/>
                <a:cs typeface="+mn-lt"/>
              </a:rPr>
              <a:t>Khái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niệm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Một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nền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tảng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trực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tuyến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lớn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dành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cho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cộng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đồng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Khoa </a:t>
            </a:r>
            <a:r>
              <a:rPr lang="en-US" sz="2000" b="1" dirty="0" err="1">
                <a:ea typeface="+mn-lt"/>
                <a:cs typeface="+mn-lt"/>
              </a:rPr>
              <a:t>học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Dữ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liệu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và</a:t>
            </a:r>
            <a:r>
              <a:rPr lang="en-US" sz="2000" b="1" dirty="0">
                <a:ea typeface="+mn-lt"/>
                <a:cs typeface="+mn-lt"/>
              </a:rPr>
              <a:t> Học </a:t>
            </a:r>
            <a:r>
              <a:rPr lang="en-US" sz="2000" b="1" dirty="0" err="1">
                <a:ea typeface="+mn-lt"/>
                <a:cs typeface="+mn-lt"/>
              </a:rPr>
              <a:t>máy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b="1" err="1">
                <a:ea typeface="+mn-lt"/>
                <a:cs typeface="+mn-lt"/>
              </a:rPr>
              <a:t>Mục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đích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Cung </a:t>
            </a:r>
            <a:r>
              <a:rPr lang="en-US" sz="2000" err="1">
                <a:ea typeface="+mn-lt"/>
                <a:cs typeface="+mn-lt"/>
              </a:rPr>
              <a:t>cấp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nơi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để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mọi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người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cộng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tác</a:t>
            </a:r>
            <a:r>
              <a:rPr lang="en-US" sz="2000" b="1" dirty="0">
                <a:ea typeface="+mn-lt"/>
                <a:cs typeface="+mn-lt"/>
              </a:rPr>
              <a:t>, </a:t>
            </a:r>
            <a:r>
              <a:rPr lang="en-US" sz="2000" b="1" err="1">
                <a:ea typeface="+mn-lt"/>
                <a:cs typeface="+mn-lt"/>
              </a:rPr>
              <a:t>học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tập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và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cạnh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tranh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trong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các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cuộc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thi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giải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quyết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vấn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đề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thực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tế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b="1" dirty="0" err="1">
                <a:ea typeface="+mn-lt"/>
                <a:cs typeface="+mn-lt"/>
              </a:rPr>
              <a:t>Giá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trị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cốt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lõi</a:t>
            </a:r>
            <a:r>
              <a:rPr lang="en-US" sz="2000" b="1" dirty="0">
                <a:ea typeface="+mn-lt"/>
                <a:cs typeface="+mn-lt"/>
              </a:rPr>
              <a:t>:</a:t>
            </a:r>
            <a:endParaRPr lang="en-US" sz="2000" dirty="0" err="1">
              <a:ea typeface="+mn-lt"/>
              <a:cs typeface="+mn-lt"/>
            </a:endParaRPr>
          </a:p>
          <a:p>
            <a:pPr lvl="1"/>
            <a:r>
              <a:rPr lang="en-US" sz="2000" dirty="0" err="1">
                <a:ea typeface="+mn-lt"/>
                <a:cs typeface="+mn-lt"/>
              </a:rPr>
              <a:t>Truy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cập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vào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bộ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dữ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liệu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khổng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lồ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  <a:p>
            <a:pPr lvl="1"/>
            <a:r>
              <a:rPr lang="en-US" sz="2000" err="1">
                <a:ea typeface="+mn-lt"/>
                <a:cs typeface="+mn-lt"/>
              </a:rPr>
              <a:t>Xây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dựng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mô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hình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trên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các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sổ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tay</a:t>
            </a:r>
            <a:r>
              <a:rPr lang="en-US" sz="2000" b="1" dirty="0">
                <a:ea typeface="+mn-lt"/>
                <a:cs typeface="+mn-lt"/>
              </a:rPr>
              <a:t> (notebooks)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có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sẵn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lvl="1"/>
            <a:r>
              <a:rPr lang="en-US" sz="2000" err="1">
                <a:ea typeface="+mn-lt"/>
                <a:cs typeface="+mn-lt"/>
              </a:rPr>
              <a:t>Có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cộng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đồng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tích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cực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B9F2C-0183-C6E0-72E2-A9F40B3C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07DD-E7D5-4200-88A6-589608E22EDB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0E0C4-80FE-A93A-1CC3-B10291AC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EBAF0-0CDD-812B-F66F-5B1544D0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54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B206-8239-5309-1260-0671D70A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F72C-6ABB-1D94-C324-5086E7B4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>
                <a:latin typeface="Aptos"/>
              </a:rPr>
              <a:t>Nguồn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dữ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liệu</a:t>
            </a:r>
            <a:r>
              <a:rPr lang="en-US" b="1" dirty="0">
                <a:latin typeface="Aptos"/>
              </a:rPr>
              <a:t> (Data 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E84A3-627D-498B-3C65-008C8B8E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/>
              <a:t>Các Dataset </a:t>
            </a:r>
            <a:r>
              <a:rPr lang="en-US" sz="2400" dirty="0" err="1"/>
              <a:t>Phổ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:</a:t>
            </a:r>
          </a:p>
          <a:p>
            <a:pPr>
              <a:buFont typeface="Arial"/>
            </a:pPr>
            <a:r>
              <a:rPr lang="en-US" sz="2400" b="1" dirty="0">
                <a:ea typeface="+mn-lt"/>
                <a:cs typeface="+mn-lt"/>
              </a:rPr>
              <a:t>Google Dataset:</a:t>
            </a:r>
            <a:r>
              <a:rPr lang="en-US" sz="2400" dirty="0">
                <a:ea typeface="+mn-lt"/>
                <a:cs typeface="+mn-lt"/>
              </a:rPr>
              <a:t> Phạm vi </a:t>
            </a:r>
            <a:r>
              <a:rPr lang="en-US" sz="2400" err="1">
                <a:ea typeface="+mn-lt"/>
                <a:cs typeface="+mn-lt"/>
              </a:rPr>
              <a:t>tìm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kiếm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rộng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lớn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bộ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lọc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hữu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ích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r>
              <a:rPr lang="en-US" sz="2400" b="1" dirty="0">
                <a:ea typeface="+mn-lt"/>
                <a:cs typeface="+mn-lt"/>
              </a:rPr>
              <a:t>UCI Machine Learning Repository: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Dễ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tải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về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ổn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định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tài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liệu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đi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kèm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tốt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r>
              <a:rPr lang="en-US" sz="2400" b="1" err="1">
                <a:ea typeface="+mn-lt"/>
                <a:cs typeface="+mn-lt"/>
              </a:rPr>
              <a:t>Dữ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liệu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từ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chính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phủ</a:t>
            </a:r>
            <a:r>
              <a:rPr lang="en-US" sz="2400" b="1" dirty="0">
                <a:ea typeface="+mn-lt"/>
                <a:cs typeface="+mn-lt"/>
              </a:rPr>
              <a:t> (Data.gov):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Nguồn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dữ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liệu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chính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thống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minh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bạch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phạm</a:t>
            </a:r>
            <a:r>
              <a:rPr lang="en-US" sz="2400" dirty="0">
                <a:ea typeface="+mn-lt"/>
                <a:cs typeface="+mn-lt"/>
              </a:rPr>
              <a:t> vi </a:t>
            </a:r>
            <a:r>
              <a:rPr lang="en-US" sz="2400" err="1">
                <a:ea typeface="+mn-lt"/>
                <a:cs typeface="+mn-lt"/>
              </a:rPr>
              <a:t>rộng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D16A9-ABFA-B03C-B612-C5E84097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07DD-E7D5-4200-88A6-589608E22EDB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0BDF4-7FF4-FCC7-2824-C9F82DD6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5AD24-C726-050F-ACDE-F42136BB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87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1172F-C252-A1DC-9F7B-645AAFD1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AAD6-0A65-ED64-01D4-C4F9F83C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24959"/>
            <a:ext cx="10449784" cy="601900"/>
          </a:xfrm>
        </p:spPr>
        <p:txBody>
          <a:bodyPr/>
          <a:lstStyle/>
          <a:p>
            <a:r>
              <a:rPr lang="en-US" b="1" err="1">
                <a:latin typeface="Aptos"/>
              </a:rPr>
              <a:t>Nguồn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dữ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liệu</a:t>
            </a:r>
            <a:r>
              <a:rPr lang="en-US" b="1" dirty="0">
                <a:latin typeface="Aptos"/>
              </a:rPr>
              <a:t> (Data 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5DA6-1FD7-9586-2E75-A224F90B4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81" y="1025872"/>
            <a:ext cx="10453333" cy="551490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dirty="0"/>
              <a:t>Hugging Face (GitHub </a:t>
            </a:r>
            <a:r>
              <a:rPr lang="en-US" sz="1800" dirty="0" err="1"/>
              <a:t>của</a:t>
            </a:r>
            <a:r>
              <a:rPr lang="en-US" sz="1800" dirty="0"/>
              <a:t> Machine Learning):</a:t>
            </a:r>
          </a:p>
          <a:p>
            <a:pPr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Khái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niệm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Một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cộng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đồng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nền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tảng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mã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nguồn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mở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tập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trung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mạnh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>
                <a:ea typeface="+mn-lt"/>
                <a:cs typeface="+mn-lt"/>
              </a:rPr>
              <a:t>Deep Learning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đặc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biệt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Xử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lý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ngôn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ngữ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tự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nhiên</a:t>
            </a:r>
            <a:r>
              <a:rPr lang="en-US" sz="1800" b="1" dirty="0">
                <a:ea typeface="+mn-lt"/>
                <a:cs typeface="+mn-lt"/>
              </a:rPr>
              <a:t> (NLP)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Âm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thanh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và</a:t>
            </a:r>
            <a:r>
              <a:rPr lang="en-US" sz="1800" dirty="0">
                <a:ea typeface="+mn-lt"/>
                <a:cs typeface="+mn-lt"/>
              </a:rPr>
              <a:t> Thị </a:t>
            </a:r>
            <a:r>
              <a:rPr lang="en-US" sz="1800" err="1">
                <a:ea typeface="+mn-lt"/>
                <a:cs typeface="+mn-lt"/>
              </a:rPr>
              <a:t>giác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máy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tính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>
              <a:buFont typeface="Arial"/>
            </a:pPr>
            <a:r>
              <a:rPr lang="en-US" sz="1800" b="1" dirty="0" err="1">
                <a:ea typeface="+mn-lt"/>
                <a:cs typeface="+mn-lt"/>
              </a:rPr>
              <a:t>Hệ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sinh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thái</a:t>
            </a:r>
            <a:r>
              <a:rPr lang="en-US" sz="1800" b="1" dirty="0">
                <a:ea typeface="+mn-lt"/>
                <a:cs typeface="+mn-lt"/>
              </a:rPr>
              <a:t> (Hugging Face Hub) </a:t>
            </a:r>
            <a:r>
              <a:rPr lang="en-US" sz="1800" b="1" dirty="0" err="1">
                <a:ea typeface="+mn-lt"/>
                <a:cs typeface="+mn-lt"/>
              </a:rPr>
              <a:t>gồm</a:t>
            </a:r>
            <a:r>
              <a:rPr lang="en-US" sz="1800" b="1" dirty="0">
                <a:ea typeface="+mn-lt"/>
                <a:cs typeface="+mn-lt"/>
              </a:rPr>
              <a:t> 3 </a:t>
            </a:r>
            <a:r>
              <a:rPr lang="en-US" sz="1800" b="1" dirty="0" err="1">
                <a:ea typeface="+mn-lt"/>
                <a:cs typeface="+mn-lt"/>
              </a:rPr>
              <a:t>Trụ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cột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chính</a:t>
            </a:r>
            <a:r>
              <a:rPr lang="en-US" sz="1800" b="1" dirty="0">
                <a:ea typeface="+mn-lt"/>
                <a:cs typeface="+mn-lt"/>
              </a:rPr>
              <a:t>:</a:t>
            </a:r>
            <a:endParaRPr lang="en-US" sz="1800" dirty="0">
              <a:ea typeface="+mn-lt"/>
              <a:cs typeface="+mn-lt"/>
            </a:endParaRPr>
          </a:p>
          <a:p>
            <a:pPr marL="742950" lvl="1" indent="-285750">
              <a:buFont typeface="Arial"/>
            </a:pPr>
            <a:r>
              <a:rPr lang="en-US" sz="1800" b="1" dirty="0">
                <a:ea typeface="+mn-lt"/>
                <a:cs typeface="+mn-lt"/>
              </a:rPr>
              <a:t>Models (</a:t>
            </a:r>
            <a:r>
              <a:rPr lang="en-US" sz="1800" b="1" dirty="0" err="1">
                <a:ea typeface="+mn-lt"/>
                <a:cs typeface="+mn-lt"/>
              </a:rPr>
              <a:t>Mô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hình</a:t>
            </a:r>
            <a:r>
              <a:rPr lang="en-US" sz="1800" b="1" dirty="0">
                <a:ea typeface="+mn-lt"/>
                <a:cs typeface="+mn-lt"/>
              </a:rPr>
              <a:t>):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err="1">
                <a:ea typeface="+mn-lt"/>
                <a:cs typeface="+mn-lt"/>
              </a:rPr>
              <a:t>Chứa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hàng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trăm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nghìn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mô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hình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đã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được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huấn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luyện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trước</a:t>
            </a:r>
            <a:r>
              <a:rPr lang="en-US" sz="1800" b="1" dirty="0">
                <a:ea typeface="+mn-lt"/>
                <a:cs typeface="+mn-lt"/>
              </a:rPr>
              <a:t> (Pre-trained models)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như</a:t>
            </a:r>
            <a:r>
              <a:rPr lang="en-US" sz="1800" dirty="0">
                <a:ea typeface="+mn-lt"/>
                <a:cs typeface="+mn-lt"/>
              </a:rPr>
              <a:t> BERT, GPT-2.</a:t>
            </a:r>
          </a:p>
          <a:p>
            <a:pPr marL="971550" lvl="2" indent="-285750">
              <a:buFont typeface="Arial"/>
            </a:pPr>
            <a:r>
              <a:rPr lang="en-US" sz="1800" err="1">
                <a:ea typeface="+mn-lt"/>
                <a:cs typeface="+mn-lt"/>
              </a:rPr>
              <a:t>Người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dùng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có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thể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tải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về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hoặc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tinh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chỉnh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lại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pPr marL="742950" lvl="1" indent="-285750">
              <a:buFont typeface="Arial"/>
            </a:pPr>
            <a:r>
              <a:rPr lang="en-US" sz="1800" b="1" dirty="0">
                <a:ea typeface="+mn-lt"/>
                <a:cs typeface="+mn-lt"/>
              </a:rPr>
              <a:t>Datasets (</a:t>
            </a:r>
            <a:r>
              <a:rPr lang="en-US" sz="1800" b="1" dirty="0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):</a:t>
            </a:r>
            <a:endParaRPr lang="en-US" sz="1800" dirty="0">
              <a:ea typeface="+mn-lt"/>
              <a:cs typeface="+mn-lt"/>
            </a:endParaRPr>
          </a:p>
          <a:p>
            <a:pPr marL="971550" lvl="2" indent="-285750">
              <a:buFont typeface="Arial"/>
            </a:pPr>
            <a:r>
              <a:rPr lang="en-US" sz="1800" dirty="0" err="1">
                <a:ea typeface="+mn-lt"/>
                <a:cs typeface="+mn-lt"/>
              </a:rPr>
              <a:t>Tập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trung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phức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tạp</a:t>
            </a:r>
            <a:r>
              <a:rPr lang="en-US" sz="1800" b="1" dirty="0">
                <a:ea typeface="+mn-lt"/>
                <a:cs typeface="+mn-lt"/>
              </a:rPr>
              <a:t>, phi </a:t>
            </a:r>
            <a:r>
              <a:rPr lang="en-US" sz="1800" b="1" dirty="0" err="1">
                <a:ea typeface="+mn-lt"/>
                <a:cs typeface="+mn-lt"/>
              </a:rPr>
              <a:t>cấu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trúc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như</a:t>
            </a:r>
            <a:r>
              <a:rPr lang="en-US" sz="1800" dirty="0">
                <a:ea typeface="+mn-lt"/>
                <a:cs typeface="+mn-lt"/>
              </a:rPr>
              <a:t> Văn </a:t>
            </a:r>
            <a:r>
              <a:rPr lang="en-US" sz="1800" dirty="0" err="1">
                <a:ea typeface="+mn-lt"/>
                <a:cs typeface="+mn-lt"/>
              </a:rPr>
              <a:t>bản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Hình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ảnh</a:t>
            </a:r>
            <a:r>
              <a:rPr lang="en-US" sz="1800" dirty="0">
                <a:ea typeface="+mn-lt"/>
                <a:cs typeface="+mn-lt"/>
              </a:rPr>
              <a:t>, Audio.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được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tổ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chức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dễ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dàng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tải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về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742950" lvl="1" indent="-285750">
              <a:buFont typeface="Arial"/>
            </a:pPr>
            <a:r>
              <a:rPr lang="en-US" sz="1800" b="1" dirty="0">
                <a:ea typeface="+mn-lt"/>
                <a:cs typeface="+mn-lt"/>
              </a:rPr>
              <a:t>Spaces (</a:t>
            </a:r>
            <a:r>
              <a:rPr lang="en-US" sz="1800" b="1" dirty="0" err="1">
                <a:ea typeface="+mn-lt"/>
                <a:cs typeface="+mn-lt"/>
              </a:rPr>
              <a:t>Không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gian</a:t>
            </a:r>
            <a:r>
              <a:rPr lang="en-US" sz="1800" b="1" dirty="0">
                <a:ea typeface="+mn-lt"/>
                <a:cs typeface="+mn-lt"/>
              </a:rPr>
              <a:t> Demo):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 err="1">
                <a:ea typeface="+mn-lt"/>
                <a:cs typeface="+mn-lt"/>
              </a:rPr>
              <a:t>Nơi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người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dùng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triển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khai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ứng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dụng</a:t>
            </a:r>
            <a:r>
              <a:rPr lang="en-US" sz="1800" b="1" dirty="0">
                <a:ea typeface="+mn-lt"/>
                <a:cs typeface="+mn-lt"/>
              </a:rPr>
              <a:t> Demo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sử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dụng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Streamlit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hoặc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Gradio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>
                <a:ea typeface="+mn-lt"/>
                <a:cs typeface="+mn-lt"/>
              </a:rPr>
              <a:t>Cho </a:t>
            </a:r>
            <a:r>
              <a:rPr lang="en-US" sz="1800" err="1">
                <a:ea typeface="+mn-lt"/>
                <a:cs typeface="+mn-lt"/>
              </a:rPr>
              <a:t>phép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người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khác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tương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tác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trực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tiếp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với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mô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hình</a:t>
            </a:r>
            <a:r>
              <a:rPr lang="en-US" sz="1800" dirty="0">
                <a:ea typeface="+mn-lt"/>
                <a:cs typeface="+mn-lt"/>
              </a:rPr>
              <a:t> AI </a:t>
            </a:r>
            <a:r>
              <a:rPr lang="en-US" sz="1800" err="1">
                <a:ea typeface="+mn-lt"/>
                <a:cs typeface="+mn-lt"/>
              </a:rPr>
              <a:t>ngay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trên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trình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duyệt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không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cần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biết</a:t>
            </a:r>
            <a:r>
              <a:rPr lang="en-US" sz="1800" dirty="0">
                <a:ea typeface="+mn-lt"/>
                <a:cs typeface="+mn-lt"/>
              </a:rPr>
              <a:t> code.</a:t>
            </a:r>
          </a:p>
          <a:p>
            <a:pPr>
              <a:buNone/>
            </a:pPr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E54EB-E000-9F00-1968-8CBCD6FD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07DD-E7D5-4200-88A6-589608E22EDB}" type="datetime1"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A820A-F0B7-3378-3FCF-23F26FAE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AEECC-0724-0D2D-821F-CE1B19DB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25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7A7C-681D-D0D8-4618-AA46476B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475061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Exploratory Data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latin typeface="Aptos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023B-C30E-55B0-1381-F79F60ED4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898" y="299867"/>
            <a:ext cx="6518836" cy="57268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 err="1">
                <a:ea typeface="+mn-lt"/>
                <a:cs typeface="+mn-lt"/>
              </a:rPr>
              <a:t>Hiểu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Liệu (Data Understanding) :</a:t>
            </a:r>
            <a:endParaRPr lang="en-US" sz="1800" dirty="0"/>
          </a:p>
          <a:p>
            <a:r>
              <a:rPr lang="en-US" sz="1800" err="1">
                <a:ea typeface="+mn-lt"/>
                <a:cs typeface="+mn-lt"/>
              </a:rPr>
              <a:t>Đây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bước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đầu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tiên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làm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quen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phân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loại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với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mục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tiêu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nắm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bắt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cấu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trúc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cơ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bản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và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chất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lượng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của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r>
              <a:rPr lang="en-US" sz="1800" b="1" dirty="0" err="1">
                <a:ea typeface="+mn-lt"/>
                <a:cs typeface="+mn-lt"/>
              </a:rPr>
              <a:t>Kiểm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tra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Kích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thước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 (Shape):</a:t>
            </a:r>
            <a:endParaRPr lang="en-US" sz="1800" dirty="0"/>
          </a:p>
          <a:p>
            <a:pPr lvl="1"/>
            <a:r>
              <a:rPr lang="en-US" sz="1800" dirty="0" err="1">
                <a:ea typeface="+mn-lt"/>
                <a:cs typeface="+mn-lt"/>
              </a:rPr>
              <a:t>Xác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định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số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lượng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dòng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bản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ghi</a:t>
            </a:r>
            <a:r>
              <a:rPr lang="en-US" sz="1800" dirty="0">
                <a:ea typeface="+mn-lt"/>
                <a:cs typeface="+mn-lt"/>
              </a:rPr>
              <a:t>) </a:t>
            </a:r>
            <a:r>
              <a:rPr lang="en-US" sz="1800" dirty="0" err="1">
                <a:ea typeface="+mn-lt"/>
                <a:cs typeface="+mn-lt"/>
              </a:rPr>
              <a:t>và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cột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đặc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trưng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 dirty="0"/>
          </a:p>
          <a:p>
            <a:pPr lvl="1"/>
            <a:r>
              <a:rPr lang="en-US" sz="1800" dirty="0" err="1">
                <a:ea typeface="+mn-lt"/>
                <a:cs typeface="+mn-lt"/>
              </a:rPr>
              <a:t>Kiểm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xem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có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đủ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lớn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huấn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luyện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mô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hình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không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r>
              <a:rPr lang="en-US" sz="1800" b="1" dirty="0" err="1">
                <a:ea typeface="+mn-lt"/>
                <a:cs typeface="+mn-lt"/>
              </a:rPr>
              <a:t>Kiểm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tra</a:t>
            </a:r>
            <a:r>
              <a:rPr lang="en-US" sz="1800" b="1" dirty="0">
                <a:ea typeface="+mn-lt"/>
                <a:cs typeface="+mn-lt"/>
              </a:rPr>
              <a:t> Định </a:t>
            </a:r>
            <a:r>
              <a:rPr lang="en-US" sz="1800" b="1" dirty="0" err="1">
                <a:ea typeface="+mn-lt"/>
                <a:cs typeface="+mn-lt"/>
              </a:rPr>
              <a:t>dạng</a:t>
            </a:r>
            <a:r>
              <a:rPr lang="en-US" sz="1800" b="1" dirty="0">
                <a:ea typeface="+mn-lt"/>
                <a:cs typeface="+mn-lt"/>
              </a:rPr>
              <a:t> (Data Types):</a:t>
            </a:r>
            <a:endParaRPr lang="en-US" sz="1800" dirty="0"/>
          </a:p>
          <a:p>
            <a:pPr lvl="1"/>
            <a:r>
              <a:rPr lang="en-US" sz="1800" dirty="0" err="1">
                <a:ea typeface="+mn-lt"/>
                <a:cs typeface="+mn-lt"/>
              </a:rPr>
              <a:t>Xác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định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cột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số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cột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phân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loại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lvl="1"/>
            <a:r>
              <a:rPr lang="en-US" sz="1800" dirty="0" err="1">
                <a:ea typeface="+mn-lt"/>
                <a:cs typeface="+mn-lt"/>
              </a:rPr>
              <a:t>Kiểm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định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dạng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có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bị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sai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không</a:t>
            </a:r>
            <a:r>
              <a:rPr lang="en-US" sz="1800" dirty="0">
                <a:ea typeface="+mn-lt"/>
                <a:cs typeface="+mn-lt"/>
              </a:rPr>
              <a:t>?</a:t>
            </a:r>
            <a:endParaRPr lang="en-US" sz="1800" dirty="0"/>
          </a:p>
          <a:p>
            <a:r>
              <a:rPr lang="en-US" sz="1800" b="1" dirty="0" err="1">
                <a:ea typeface="+mn-lt"/>
                <a:cs typeface="+mn-lt"/>
              </a:rPr>
              <a:t>Kiểm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tra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Chất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lượng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 (Data Quality):</a:t>
            </a:r>
            <a:endParaRPr lang="en-US" sz="1800" dirty="0"/>
          </a:p>
          <a:p>
            <a:pPr lvl="1"/>
            <a:r>
              <a:rPr lang="en-US" sz="1800" b="1" err="1">
                <a:ea typeface="+mn-lt"/>
                <a:cs typeface="+mn-lt"/>
              </a:rPr>
              <a:t>Giá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trị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bị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thiếu</a:t>
            </a:r>
            <a:r>
              <a:rPr lang="en-US" sz="1800" b="1" dirty="0">
                <a:ea typeface="+mn-lt"/>
                <a:cs typeface="+mn-lt"/>
              </a:rPr>
              <a:t> (Missing Values):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Kiểm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có</a:t>
            </a:r>
            <a:r>
              <a:rPr lang="en-US" sz="1800" dirty="0">
                <a:ea typeface="+mn-lt"/>
                <a:cs typeface="+mn-lt"/>
              </a:rPr>
              <a:t> bao </a:t>
            </a:r>
            <a:r>
              <a:rPr lang="en-US" sz="1800" err="1">
                <a:ea typeface="+mn-lt"/>
                <a:cs typeface="+mn-lt"/>
              </a:rPr>
              <a:t>nhiêu</a:t>
            </a:r>
            <a:r>
              <a:rPr lang="en-US" sz="1800" dirty="0">
                <a:ea typeface="+mn-lt"/>
                <a:cs typeface="+mn-lt"/>
              </a:rPr>
              <a:t> ô </a:t>
            </a:r>
            <a:r>
              <a:rPr lang="en-US" sz="1800" err="1">
                <a:ea typeface="+mn-lt"/>
                <a:cs typeface="+mn-lt"/>
              </a:rPr>
              <a:t>trống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chúng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nằm</a:t>
            </a:r>
            <a:r>
              <a:rPr lang="en-US" sz="1800" dirty="0">
                <a:ea typeface="+mn-lt"/>
                <a:cs typeface="+mn-lt"/>
              </a:rPr>
              <a:t> ở </a:t>
            </a:r>
            <a:r>
              <a:rPr lang="en-US" sz="1800" err="1">
                <a:ea typeface="+mn-lt"/>
                <a:cs typeface="+mn-lt"/>
              </a:rPr>
              <a:t>cột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nào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lvl="1"/>
            <a:r>
              <a:rPr lang="en-US" sz="1800" b="1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trùng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lặp</a:t>
            </a:r>
            <a:r>
              <a:rPr lang="en-US" sz="1800" b="1" dirty="0">
                <a:ea typeface="+mn-lt"/>
                <a:cs typeface="+mn-lt"/>
              </a:rPr>
              <a:t> (Duplicates):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Kiểm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có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dòng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bị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lặp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lại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hoàn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toàn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không</a:t>
            </a:r>
            <a:r>
              <a:rPr lang="en-US" sz="1800" dirty="0">
                <a:ea typeface="+mn-lt"/>
                <a:cs typeface="+mn-lt"/>
              </a:rPr>
              <a:t>?</a:t>
            </a:r>
            <a:endParaRPr lang="en-US" sz="1800" dirty="0"/>
          </a:p>
          <a:p>
            <a:r>
              <a:rPr lang="en-US" sz="1800" b="1" err="1">
                <a:ea typeface="+mn-lt"/>
                <a:cs typeface="+mn-lt"/>
              </a:rPr>
              <a:t>Mục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tiêu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của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bước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này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Đảm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bảo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 "</a:t>
            </a:r>
            <a:r>
              <a:rPr lang="en-US" sz="1800" b="1" err="1">
                <a:ea typeface="+mn-lt"/>
                <a:cs typeface="+mn-lt"/>
              </a:rPr>
              <a:t>sạch</a:t>
            </a:r>
            <a:r>
              <a:rPr lang="en-US" sz="1800" dirty="0">
                <a:ea typeface="+mn-lt"/>
                <a:cs typeface="+mn-lt"/>
              </a:rPr>
              <a:t>" </a:t>
            </a:r>
            <a:r>
              <a:rPr lang="en-US" sz="1800" err="1">
                <a:ea typeface="+mn-lt"/>
                <a:cs typeface="+mn-lt"/>
              </a:rPr>
              <a:t>và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đúng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định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dạng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trước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khi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sâu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phân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tích</a:t>
            </a:r>
            <a:r>
              <a:rPr lang="en-US" sz="1800" dirty="0">
                <a:ea typeface="+mn-lt"/>
                <a:cs typeface="+mn-lt"/>
              </a:rPr>
              <a:t>.</a:t>
            </a:r>
            <a:br>
              <a:rPr lang="en-US" sz="1800" dirty="0"/>
            </a:br>
            <a:endParaRPr lang="en-US" sz="1800" dirty="0"/>
          </a:p>
          <a:p>
            <a:endParaRPr lang="en-US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3975AC-515C-6FBC-0AF8-62553A013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31261"/>
            <a:ext cx="4005147" cy="3409466"/>
          </a:xfrm>
        </p:spPr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Khái</a:t>
            </a:r>
            <a:r>
              <a:rPr lang="en-US" sz="2000" b="1" dirty="0"/>
              <a:t> </a:t>
            </a:r>
            <a:r>
              <a:rPr lang="en-US" sz="2000" b="1" dirty="0" err="1"/>
              <a:t>niệm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bước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b="1" dirty="0" err="1"/>
              <a:t>trước</a:t>
            </a:r>
            <a:r>
              <a:rPr lang="en-US" sz="2000" b="1" dirty="0"/>
              <a:t> </a:t>
            </a:r>
            <a:r>
              <a:rPr lang="en-US" sz="2000" b="1" dirty="0" err="1"/>
              <a:t>khi</a:t>
            </a:r>
            <a:r>
              <a:rPr lang="en-US" sz="2000" b="1" dirty="0"/>
              <a:t> </a:t>
            </a:r>
            <a:r>
              <a:rPr lang="en-US" sz="2000" b="1" dirty="0" err="1"/>
              <a:t>xây</a:t>
            </a:r>
            <a:r>
              <a:rPr lang="en-US" sz="2000" b="1" dirty="0"/>
              <a:t> </a:t>
            </a:r>
            <a:r>
              <a:rPr lang="en-US" sz="2000" b="1" dirty="0" err="1"/>
              <a:t>dựng</a:t>
            </a:r>
            <a:r>
              <a:rPr lang="en-US" sz="2000" b="1" dirty="0"/>
              <a:t> </a:t>
            </a: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dirty="0"/>
              <a:t> Machine Learning.</a:t>
            </a: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Mục</a:t>
            </a:r>
            <a:r>
              <a:rPr lang="en-US" sz="2000" b="1" dirty="0"/>
              <a:t> </a:t>
            </a:r>
            <a:r>
              <a:rPr lang="en-US" sz="2000" b="1" dirty="0" err="1"/>
              <a:t>tiêu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Giống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"</a:t>
            </a:r>
            <a:r>
              <a:rPr lang="en-US" sz="2000" dirty="0" err="1"/>
              <a:t>khám</a:t>
            </a:r>
            <a:r>
              <a:rPr lang="en-US" sz="2000" dirty="0"/>
              <a:t> </a:t>
            </a:r>
            <a:r>
              <a:rPr lang="en-US" sz="2000" dirty="0" err="1"/>
              <a:t>sức</a:t>
            </a:r>
            <a:r>
              <a:rPr lang="en-US" sz="2000" dirty="0"/>
              <a:t> </a:t>
            </a:r>
            <a:r>
              <a:rPr lang="en-US" sz="2000" dirty="0" err="1"/>
              <a:t>khỏe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"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"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bệnh</a:t>
            </a:r>
            <a:r>
              <a:rPr lang="en-US" sz="2000" dirty="0"/>
              <a:t>"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 </a:t>
            </a:r>
            <a:r>
              <a:rPr lang="en-US" sz="2000" dirty="0" err="1"/>
              <a:t>rõ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nó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C9CDF-9EFA-78FD-74D3-81DA929C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B69-2343-4D94-A9F0-F45FEF74DFF3}" type="datetime1"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224A-3A32-1CEB-9915-74F2662C4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3083-C393-2D15-31E0-42F29142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62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CF90-6495-F48E-1637-66F3533A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D02B-7F6E-151C-9D83-7A4B39B5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475061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Exploratory Data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latin typeface="Aptos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7889-53D3-035A-A841-890421511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898" y="299867"/>
            <a:ext cx="6507951" cy="606429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dirty="0" err="1">
                <a:ea typeface="+mn-lt"/>
                <a:cs typeface="+mn-lt"/>
              </a:rPr>
              <a:t>Phân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Tích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Liệu (Data Analysis):</a:t>
            </a:r>
            <a:endParaRPr lang="en-US" sz="18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800" dirty="0">
                <a:ea typeface="+mn-lt"/>
                <a:cs typeface="+mn-lt"/>
              </a:rPr>
              <a:t>Sau </a:t>
            </a:r>
            <a:r>
              <a:rPr lang="en-US" sz="1800" err="1">
                <a:ea typeface="+mn-lt"/>
                <a:cs typeface="+mn-lt"/>
              </a:rPr>
              <a:t>khi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đã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làm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sạch</a:t>
            </a:r>
            <a:r>
              <a:rPr lang="en-US" sz="1800" dirty="0">
                <a:ea typeface="+mn-lt"/>
                <a:cs typeface="+mn-lt"/>
              </a:rPr>
              <a:t> và hiểu cấu trúc, bước này </a:t>
            </a:r>
            <a:r>
              <a:rPr lang="en-US" sz="1800" err="1">
                <a:ea typeface="+mn-lt"/>
                <a:cs typeface="+mn-lt"/>
              </a:rPr>
              <a:t>đi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sâu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con </a:t>
            </a:r>
            <a:r>
              <a:rPr lang="en-US" sz="1800" err="1">
                <a:ea typeface="+mn-lt"/>
                <a:cs typeface="+mn-lt"/>
              </a:rPr>
              <a:t>số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thống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kê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tìm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quy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luật</a:t>
            </a:r>
            <a:r>
              <a:rPr lang="en-US" sz="1800" dirty="0">
                <a:ea typeface="+mn-lt"/>
                <a:cs typeface="+mn-lt"/>
              </a:rPr>
              <a:t>. Thường </a:t>
            </a:r>
            <a:r>
              <a:rPr lang="en-US" sz="1800" err="1">
                <a:ea typeface="+mn-lt"/>
                <a:cs typeface="+mn-lt"/>
              </a:rPr>
              <a:t>sử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dụng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Thống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kê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mô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tả</a:t>
            </a:r>
            <a:r>
              <a:rPr lang="en-US" sz="1800" b="1" dirty="0">
                <a:ea typeface="+mn-lt"/>
                <a:cs typeface="+mn-lt"/>
              </a:rPr>
              <a:t> (Descriptive Statistics)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>
              <a:buFont typeface="Calibri"/>
              <a:buChar char="-"/>
            </a:pPr>
            <a:r>
              <a:rPr lang="en-US" sz="1800" b="1" err="1">
                <a:ea typeface="+mn-lt"/>
                <a:cs typeface="+mn-lt"/>
              </a:rPr>
              <a:t>Phân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tích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đơn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biến</a:t>
            </a:r>
            <a:r>
              <a:rPr lang="en-US" sz="1800" b="1" dirty="0">
                <a:ea typeface="+mn-lt"/>
                <a:cs typeface="+mn-lt"/>
              </a:rPr>
              <a:t> (Univariate Analysis):</a:t>
            </a:r>
            <a:r>
              <a:rPr lang="en-US" sz="1800" dirty="0">
                <a:ea typeface="+mn-lt"/>
                <a:cs typeface="+mn-lt"/>
              </a:rPr>
              <a:t> Xem </a:t>
            </a:r>
            <a:r>
              <a:rPr lang="en-US" sz="1800" err="1">
                <a:ea typeface="+mn-lt"/>
                <a:cs typeface="+mn-lt"/>
              </a:rPr>
              <a:t>xét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từng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biến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một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cách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độc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lập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 marL="742950" lvl="1" indent="-285750"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Với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biến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số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Tính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toán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>
                <a:ea typeface="+mn-lt"/>
                <a:cs typeface="+mn-lt"/>
              </a:rPr>
              <a:t>Trung </a:t>
            </a:r>
            <a:r>
              <a:rPr lang="en-US" sz="1800" b="1" err="1">
                <a:ea typeface="+mn-lt"/>
                <a:cs typeface="+mn-lt"/>
              </a:rPr>
              <a:t>bình</a:t>
            </a:r>
            <a:r>
              <a:rPr lang="en-US" sz="1800" b="1" dirty="0">
                <a:ea typeface="+mn-lt"/>
                <a:cs typeface="+mn-lt"/>
              </a:rPr>
              <a:t> (Mean), Trung </a:t>
            </a:r>
            <a:r>
              <a:rPr lang="en-US" sz="1800" b="1" err="1">
                <a:ea typeface="+mn-lt"/>
                <a:cs typeface="+mn-lt"/>
              </a:rPr>
              <a:t>vị</a:t>
            </a:r>
            <a:r>
              <a:rPr lang="en-US" sz="1800" b="1" dirty="0">
                <a:ea typeface="+mn-lt"/>
                <a:cs typeface="+mn-lt"/>
              </a:rPr>
              <a:t> (Median), </a:t>
            </a:r>
            <a:r>
              <a:rPr lang="en-US" sz="1800" b="1" err="1">
                <a:ea typeface="+mn-lt"/>
                <a:cs typeface="+mn-lt"/>
              </a:rPr>
              <a:t>Độ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lệch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chuẩn</a:t>
            </a:r>
            <a:r>
              <a:rPr lang="en-US" sz="1800" b="1" dirty="0">
                <a:ea typeface="+mn-lt"/>
                <a:cs typeface="+mn-lt"/>
              </a:rPr>
              <a:t> (Standard Deviation), Min, Max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 marL="742950" lvl="1" indent="-285750"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Với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biến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phân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loại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Đếm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tần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suất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xuất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hiện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của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từng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nhóm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>
              <a:buFont typeface="Calibri"/>
              <a:buChar char="-"/>
            </a:pPr>
            <a:r>
              <a:rPr lang="en-US" sz="1800" b="1" dirty="0" err="1">
                <a:ea typeface="+mn-lt"/>
                <a:cs typeface="+mn-lt"/>
              </a:rPr>
              <a:t>Phân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tích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đa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biến</a:t>
            </a:r>
            <a:r>
              <a:rPr lang="en-US" sz="1800" b="1" dirty="0">
                <a:ea typeface="+mn-lt"/>
                <a:cs typeface="+mn-lt"/>
              </a:rPr>
              <a:t> (Bivariate/Multivariate Analysis):</a:t>
            </a:r>
            <a:endParaRPr lang="en-US" sz="1800"/>
          </a:p>
          <a:p>
            <a:pPr marL="742950" lvl="1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Xem </a:t>
            </a:r>
            <a:r>
              <a:rPr lang="en-US" sz="1800" err="1">
                <a:ea typeface="+mn-lt"/>
                <a:cs typeface="+mn-lt"/>
              </a:rPr>
              <a:t>xét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mối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quan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hệ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giữa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hai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hoặc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nhiều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biến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với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nhau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>
              <a:buFont typeface="Calibri"/>
              <a:buChar char="-"/>
            </a:pPr>
            <a:r>
              <a:rPr lang="en-US" sz="1800" b="1" dirty="0" err="1">
                <a:ea typeface="+mn-lt"/>
                <a:cs typeface="+mn-lt"/>
              </a:rPr>
              <a:t>Phát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hiện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ngoại</a:t>
            </a:r>
            <a:r>
              <a:rPr lang="en-US" sz="1800" b="1" dirty="0">
                <a:ea typeface="+mn-lt"/>
                <a:cs typeface="+mn-lt"/>
              </a:rPr>
              <a:t> lai (Outlier Detection):</a:t>
            </a:r>
            <a:endParaRPr lang="en-US" sz="1800"/>
          </a:p>
          <a:p>
            <a:pPr marL="742950" lvl="1" indent="-285750">
              <a:buFont typeface="Arial"/>
              <a:buChar char="•"/>
            </a:pPr>
            <a:r>
              <a:rPr lang="en-US" sz="1800" err="1">
                <a:ea typeface="+mn-lt"/>
                <a:cs typeface="+mn-lt"/>
              </a:rPr>
              <a:t>Tìm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kiếm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điểm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bất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thường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khác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biệt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quá</a:t>
            </a:r>
            <a:r>
              <a:rPr lang="en-US" sz="1800" dirty="0">
                <a:ea typeface="+mn-lt"/>
                <a:cs typeface="+mn-lt"/>
              </a:rPr>
              <a:t> xa so </a:t>
            </a:r>
            <a:r>
              <a:rPr lang="en-US" sz="1800" err="1">
                <a:ea typeface="+mn-lt"/>
                <a:cs typeface="+mn-lt"/>
              </a:rPr>
              <a:t>với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phần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còn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lại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 marL="742950" lvl="1" indent="-285750"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Lưu ý: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Ngoại</a:t>
            </a:r>
            <a:r>
              <a:rPr lang="en-US" sz="1800" dirty="0">
                <a:ea typeface="+mn-lt"/>
                <a:cs typeface="+mn-lt"/>
              </a:rPr>
              <a:t> lai </a:t>
            </a:r>
            <a:r>
              <a:rPr lang="en-US" sz="1800" err="1">
                <a:ea typeface="+mn-lt"/>
                <a:cs typeface="+mn-lt"/>
              </a:rPr>
              <a:t>có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thể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làm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sai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lệch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mô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hình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dự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đoán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Calibri" panose="020B0604020202020204" pitchFamily="34" charset="0"/>
              <a:buChar char="-"/>
            </a:pPr>
            <a:endParaRPr lang="en-US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7E846D-9B95-D047-EF5B-4BF4DA0A1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31261"/>
            <a:ext cx="4005147" cy="3409466"/>
          </a:xfrm>
        </p:spPr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Khái</a:t>
            </a:r>
            <a:r>
              <a:rPr lang="en-US" sz="2000" b="1" dirty="0"/>
              <a:t> </a:t>
            </a:r>
            <a:r>
              <a:rPr lang="en-US" sz="2000" b="1" dirty="0" err="1"/>
              <a:t>niệm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bước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b="1" dirty="0" err="1"/>
              <a:t>trước</a:t>
            </a:r>
            <a:r>
              <a:rPr lang="en-US" sz="2000" b="1" dirty="0"/>
              <a:t> </a:t>
            </a:r>
            <a:r>
              <a:rPr lang="en-US" sz="2000" b="1" dirty="0" err="1"/>
              <a:t>khi</a:t>
            </a:r>
            <a:r>
              <a:rPr lang="en-US" sz="2000" b="1" dirty="0"/>
              <a:t> </a:t>
            </a:r>
            <a:r>
              <a:rPr lang="en-US" sz="2000" b="1" dirty="0" err="1"/>
              <a:t>xây</a:t>
            </a:r>
            <a:r>
              <a:rPr lang="en-US" sz="2000" b="1" dirty="0"/>
              <a:t> </a:t>
            </a:r>
            <a:r>
              <a:rPr lang="en-US" sz="2000" b="1" dirty="0" err="1"/>
              <a:t>dựng</a:t>
            </a:r>
            <a:r>
              <a:rPr lang="en-US" sz="2000" b="1" dirty="0"/>
              <a:t> </a:t>
            </a: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dirty="0"/>
              <a:t> Machine Learning.</a:t>
            </a: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Mục</a:t>
            </a:r>
            <a:r>
              <a:rPr lang="en-US" sz="2000" b="1" dirty="0"/>
              <a:t> </a:t>
            </a:r>
            <a:r>
              <a:rPr lang="en-US" sz="2000" b="1" dirty="0" err="1"/>
              <a:t>tiêu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Giống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"</a:t>
            </a:r>
            <a:r>
              <a:rPr lang="en-US" sz="2000" dirty="0" err="1"/>
              <a:t>khám</a:t>
            </a:r>
            <a:r>
              <a:rPr lang="en-US" sz="2000" dirty="0"/>
              <a:t> </a:t>
            </a:r>
            <a:r>
              <a:rPr lang="en-US" sz="2000" dirty="0" err="1"/>
              <a:t>sức</a:t>
            </a:r>
            <a:r>
              <a:rPr lang="en-US" sz="2000" dirty="0"/>
              <a:t> </a:t>
            </a:r>
            <a:r>
              <a:rPr lang="en-US" sz="2000" dirty="0" err="1"/>
              <a:t>khỏe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"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"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bệnh</a:t>
            </a:r>
            <a:r>
              <a:rPr lang="en-US" sz="2000" dirty="0"/>
              <a:t>"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 </a:t>
            </a:r>
            <a:r>
              <a:rPr lang="en-US" sz="2000" dirty="0" err="1"/>
              <a:t>rõ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nó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169A-7A34-326A-2D55-983C2C94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B69-2343-4D94-A9F0-F45FEF74DFF3}" type="datetime1"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F42C-97E5-4970-E73F-E989D677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38411-3131-F470-2592-3F925FC4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4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7A91-6149-675F-A884-8238477E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069C-EE52-4962-64B6-30F70561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475061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Exploratory Data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latin typeface="Aptos"/>
              </a:rPr>
              <a:t>Analysis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FA6D25B-69CB-4E38-E612-985286E12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430875"/>
              </p:ext>
            </p:extLst>
          </p:nvPr>
        </p:nvGraphicFramePr>
        <p:xfrm>
          <a:off x="5387601" y="68450"/>
          <a:ext cx="6562521" cy="6675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7507">
                  <a:extLst>
                    <a:ext uri="{9D8B030D-6E8A-4147-A177-3AD203B41FA5}">
                      <a16:colId xmlns:a16="http://schemas.microsoft.com/office/drawing/2014/main" val="3775591402"/>
                    </a:ext>
                  </a:extLst>
                </a:gridCol>
                <a:gridCol w="2187507">
                  <a:extLst>
                    <a:ext uri="{9D8B030D-6E8A-4147-A177-3AD203B41FA5}">
                      <a16:colId xmlns:a16="http://schemas.microsoft.com/office/drawing/2014/main" val="331055106"/>
                    </a:ext>
                  </a:extLst>
                </a:gridCol>
                <a:gridCol w="2187507">
                  <a:extLst>
                    <a:ext uri="{9D8B030D-6E8A-4147-A177-3AD203B41FA5}">
                      <a16:colId xmlns:a16="http://schemas.microsoft.com/office/drawing/2014/main" val="2535928216"/>
                    </a:ext>
                  </a:extLst>
                </a:gridCol>
              </a:tblGrid>
              <a:tr h="338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Loại biểu đồ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Mục đích sử dụng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Ví dụ áp dụng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87753"/>
                  </a:ext>
                </a:extLst>
              </a:tr>
              <a:tr h="10160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Histogram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tần suất)</a:t>
                      </a:r>
                      <a:endParaRPr lang="en-US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phân phối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của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một biến số.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điểm thi tập trung chủ yếu ở mức nào (phân phối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chuẩn hay lệch).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896856"/>
                  </a:ext>
                </a:extLst>
              </a:tr>
              <a:tr h="12345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Box Plot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hộp)</a:t>
                      </a:r>
                      <a:endParaRPr lang="en-US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Phát hiện ngoại lai (Outliers)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và xem độ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phân tán.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 sánh mức lương giữa các phòng ban và tìm người có lương cao bất 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thường.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96354"/>
                  </a:ext>
                </a:extLst>
              </a:tr>
              <a:tr h="7975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Scatter Plot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tản).</a:t>
                      </a:r>
                      <a:endParaRPr lang="en-US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</a:t>
                      </a:r>
                      <a:r>
                        <a:rPr lang="vi-V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mối tương quan</a:t>
                      </a: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giữa 2 biến số 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liên tục.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mối liên hệ giữa diện tích nhà và giá nhà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12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875703"/>
                  </a:ext>
                </a:extLst>
              </a:tr>
              <a:tr h="12345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Heatmap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nhiệt)</a:t>
                      </a:r>
                      <a:endParaRPr lang="en-US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mức độ </a:t>
                      </a:r>
                      <a:r>
                        <a:rPr lang="vi-V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tương quan (Correlation </a:t>
                      </a:r>
                      <a:r>
                        <a:rPr lang="vi-V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Matrix)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Biến nào ảnh hưởng mạnh nhất đến kết quả dự báo (màu càng đậm tương 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 càng cao).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410283"/>
                  </a:ext>
                </a:extLst>
              </a:tr>
              <a:tr h="7975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Bar Chart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cột).</a:t>
                      </a:r>
                      <a:endParaRPr lang="en-US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 sánh số lượng</a:t>
                      </a: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giữa các nhóm phân 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loại.</a:t>
                      </a:r>
                      <a:endParaRPr lang="en-US"/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Số lượng sinh viên 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của từng khoa.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232082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249D98-9AD5-B2AE-8E2A-195AAAA48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6376" y="1844174"/>
            <a:ext cx="4744735" cy="4104230"/>
          </a:xfrm>
        </p:spPr>
        <p:txBody>
          <a:bodyPr/>
          <a:lstStyle/>
          <a:p>
            <a:r>
              <a:rPr lang="en-US" sz="2000"/>
              <a:t>Trực Quan Hoá Dữ Liệu (Data Visualization):</a:t>
            </a:r>
            <a:endParaRPr lang="en-US" sz="2000">
              <a:solidFill>
                <a:srgbClr val="000000"/>
              </a:solidFill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000" b="1">
                <a:ea typeface="+mn-lt"/>
                <a:cs typeface="+mn-lt"/>
              </a:rPr>
              <a:t>Tầm quan trọng: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Con người xử lý </a:t>
            </a:r>
            <a:r>
              <a:rPr lang="en-US" sz="2000" b="1">
                <a:ea typeface="+mn-lt"/>
                <a:cs typeface="+mn-lt"/>
              </a:rPr>
              <a:t>hình ảnh tốt hơn con số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Trực quan hóa giúp bạn "</a:t>
            </a:r>
            <a:r>
              <a:rPr lang="en-US" sz="2000" b="1">
                <a:ea typeface="+mn-lt"/>
                <a:cs typeface="+mn-lt"/>
              </a:rPr>
              <a:t>nhìn thấy</a:t>
            </a:r>
            <a:r>
              <a:rPr lang="en-US" sz="2000">
                <a:ea typeface="+mn-lt"/>
                <a:cs typeface="+mn-lt"/>
              </a:rPr>
              <a:t>" những xu hướng mà các bảng số liệu thống kê có thể bỏ sót.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2500F-E015-81F2-0482-3E4F13C7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B69-2343-4D94-A9F0-F45FEF74DFF3}" type="datetime1"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5104-CF76-0F7A-EE68-525BE664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73A8C-D319-CAE2-C396-2976D0B1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1164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BohoVogueVTI</vt:lpstr>
      <vt:lpstr>Kiến thức về AI, Data</vt:lpstr>
      <vt:lpstr>Danh Mục</vt:lpstr>
      <vt:lpstr>1, Nội dung về AI:</vt:lpstr>
      <vt:lpstr>1, Nội dung về AI:</vt:lpstr>
      <vt:lpstr>3 loại bài toán chính trong Machine Learning </vt:lpstr>
      <vt:lpstr>Các thư viện phổ biến</vt:lpstr>
      <vt:lpstr>Các thư viện phổ biến</vt:lpstr>
      <vt:lpstr>Các thư viện phổ biến</vt:lpstr>
      <vt:lpstr>Các thư viện phổ biến</vt:lpstr>
      <vt:lpstr>Nguồn dữ liệu (Data Sources)</vt:lpstr>
      <vt:lpstr>Nguồn dữ liệu (Data Sources)</vt:lpstr>
      <vt:lpstr>Nguồn dữ liệu (Data Sources)</vt:lpstr>
      <vt:lpstr>Exploratory Data Analysis</vt:lpstr>
      <vt:lpstr>Exploratory Data Analysis</vt:lpstr>
      <vt:lpstr>Exploratory Data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389</cp:revision>
  <dcterms:created xsi:type="dcterms:W3CDTF">2025-11-27T07:07:24Z</dcterms:created>
  <dcterms:modified xsi:type="dcterms:W3CDTF">2025-11-28T02:43:22Z</dcterms:modified>
</cp:coreProperties>
</file>